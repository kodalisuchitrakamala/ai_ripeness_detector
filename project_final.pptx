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17.xml" ContentType="application/vnd.openxmlformats-officedocument.presentationml.notesSlide+xml"/>
  <Override PartName="/ppt/tags/tag14.xml" ContentType="application/vnd.openxmlformats-officedocument.presentationml.tags+xml"/>
  <Override PartName="/ppt/notesSlides/notesSlide18.xml" ContentType="application/vnd.openxmlformats-officedocument.presentationml.notesSlide+xml"/>
  <Override PartName="/ppt/tags/tag15.xml" ContentType="application/vnd.openxmlformats-officedocument.presentationml.tags+xml"/>
  <Override PartName="/ppt/notesSlides/notesSlide19.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notesSlides/notesSlide20.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21.xml" ContentType="application/vnd.openxmlformats-officedocument.presentationml.notesSlide+xml"/>
  <Override PartName="/ppt/tags/tag22.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69" r:id="rId4"/>
    <p:sldId id="258" r:id="rId5"/>
    <p:sldId id="259" r:id="rId6"/>
    <p:sldId id="260" r:id="rId7"/>
    <p:sldId id="261" r:id="rId8"/>
    <p:sldId id="281" r:id="rId9"/>
    <p:sldId id="262" r:id="rId10"/>
    <p:sldId id="270" r:id="rId11"/>
    <p:sldId id="271" r:id="rId12"/>
    <p:sldId id="263" r:id="rId13"/>
    <p:sldId id="264" r:id="rId14"/>
    <p:sldId id="284" r:id="rId15"/>
    <p:sldId id="283" r:id="rId16"/>
    <p:sldId id="265" r:id="rId17"/>
    <p:sldId id="272" r:id="rId18"/>
    <p:sldId id="273" r:id="rId19"/>
    <p:sldId id="274" r:id="rId20"/>
    <p:sldId id="275" r:id="rId21"/>
    <p:sldId id="276" r:id="rId22"/>
    <p:sldId id="277" r:id="rId23"/>
    <p:sldId id="266" r:id="rId24"/>
    <p:sldId id="278" r:id="rId25"/>
    <p:sldId id="279" r:id="rId26"/>
    <p:sldId id="267" r:id="rId27"/>
  </p:sldIdLst>
  <p:sldSz cx="12192000" cy="6858000"/>
  <p:notesSz cx="6858000" cy="9144000"/>
  <p:embeddedFontLst>
    <p:embeddedFont>
      <p:font typeface="Cambria Math" panose="02040503050406030204" pitchFamily="18" charset="0"/>
      <p:regular r:id="rId29"/>
    </p:embeddedFont>
    <p:embeddedFont>
      <p:font typeface="Montserrat" panose="00000500000000000000" pitchFamily="2" charset="0"/>
      <p:regular r:id="rId30"/>
      <p:bold r:id="rId31"/>
      <p:italic r:id="rId32"/>
      <p:boldItalic r:id="rId33"/>
    </p:embeddedFont>
    <p:embeddedFont>
      <p:font typeface="Open Sans" panose="020B0606030504020204" pitchFamily="34"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000000"/>
          </p15:clr>
        </p15:guide>
        <p15:guide id="2" pos="2908"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D5BB41-4953-4B61-B561-D64B53129A84}" v="621" dt="2026-02-21T14:56:06.408"/>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03447BB-5D67-496B-8E87-E561075AD55C}" styleName="深色样式 1 - 强调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8" d="100"/>
          <a:sy n="78" d="100"/>
        </p:scale>
        <p:origin x="850" y="62"/>
      </p:cViewPr>
      <p:guideLst>
        <p:guide orient="horz" pos="2160"/>
        <p:guide pos="290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6.fntdata"/><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chitra Kamala Kodali" userId="a1e6d4506f5bf9a3" providerId="LiveId" clId="{5C2E6727-2466-41FE-911E-39D52C900904}"/>
    <pc:docChg chg="undo custSel addSld modSld">
      <pc:chgData name="Suchitra Kamala Kodali" userId="a1e6d4506f5bf9a3" providerId="LiveId" clId="{5C2E6727-2466-41FE-911E-39D52C900904}" dt="2026-02-21T14:56:13.247" v="1510" actId="14100"/>
      <pc:docMkLst>
        <pc:docMk/>
      </pc:docMkLst>
      <pc:sldChg chg="addSp delSp modSp mod">
        <pc:chgData name="Suchitra Kamala Kodali" userId="a1e6d4506f5bf9a3" providerId="LiveId" clId="{5C2E6727-2466-41FE-911E-39D52C900904}" dt="2026-02-21T14:53:01.221" v="1475" actId="14100"/>
        <pc:sldMkLst>
          <pc:docMk/>
          <pc:sldMk cId="0" sldId="264"/>
        </pc:sldMkLst>
        <pc:spChg chg="add mod">
          <ac:chgData name="Suchitra Kamala Kodali" userId="a1e6d4506f5bf9a3" providerId="LiveId" clId="{5C2E6727-2466-41FE-911E-39D52C900904}" dt="2026-02-21T14:48:28.372" v="1435" actId="20577"/>
          <ac:spMkLst>
            <pc:docMk/>
            <pc:sldMk cId="0" sldId="264"/>
            <ac:spMk id="2" creationId="{141950D9-FAE2-947C-F0DA-63C610E71532}"/>
          </ac:spMkLst>
        </pc:spChg>
        <pc:spChg chg="add mod">
          <ac:chgData name="Suchitra Kamala Kodali" userId="a1e6d4506f5bf9a3" providerId="LiveId" clId="{5C2E6727-2466-41FE-911E-39D52C900904}" dt="2026-02-21T14:18:17.562" v="290" actId="14100"/>
          <ac:spMkLst>
            <pc:docMk/>
            <pc:sldMk cId="0" sldId="264"/>
            <ac:spMk id="3" creationId="{925A7152-B922-E317-75F0-9D1751FB0D76}"/>
          </ac:spMkLst>
        </pc:spChg>
        <pc:spChg chg="add del mod">
          <ac:chgData name="Suchitra Kamala Kodali" userId="a1e6d4506f5bf9a3" providerId="LiveId" clId="{5C2E6727-2466-41FE-911E-39D52C900904}" dt="2026-02-21T14:18:27.985" v="292" actId="478"/>
          <ac:spMkLst>
            <pc:docMk/>
            <pc:sldMk cId="0" sldId="264"/>
            <ac:spMk id="5" creationId="{0436F45A-35E6-96C2-87E0-632DD57F7137}"/>
          </ac:spMkLst>
        </pc:spChg>
        <pc:spChg chg="add del mod">
          <ac:chgData name="Suchitra Kamala Kodali" userId="a1e6d4506f5bf9a3" providerId="LiveId" clId="{5C2E6727-2466-41FE-911E-39D52C900904}" dt="2026-02-21T14:18:27.985" v="292" actId="478"/>
          <ac:spMkLst>
            <pc:docMk/>
            <pc:sldMk cId="0" sldId="264"/>
            <ac:spMk id="6" creationId="{75CCC395-6C7C-0BAA-2B3C-7489225F75DE}"/>
          </ac:spMkLst>
        </pc:spChg>
        <pc:spChg chg="add del mod">
          <ac:chgData name="Suchitra Kamala Kodali" userId="a1e6d4506f5bf9a3" providerId="LiveId" clId="{5C2E6727-2466-41FE-911E-39D52C900904}" dt="2026-02-21T14:18:27.985" v="292" actId="478"/>
          <ac:spMkLst>
            <pc:docMk/>
            <pc:sldMk cId="0" sldId="264"/>
            <ac:spMk id="7" creationId="{23942C75-A993-8867-C186-955005EDC048}"/>
          </ac:spMkLst>
        </pc:spChg>
        <pc:spChg chg="add mod">
          <ac:chgData name="Suchitra Kamala Kodali" userId="a1e6d4506f5bf9a3" providerId="LiveId" clId="{5C2E6727-2466-41FE-911E-39D52C900904}" dt="2026-02-21T14:19:41.168" v="361" actId="20577"/>
          <ac:spMkLst>
            <pc:docMk/>
            <pc:sldMk cId="0" sldId="264"/>
            <ac:spMk id="9" creationId="{41CA8405-FEDC-D54F-4034-24B7CA9D9A72}"/>
          </ac:spMkLst>
        </pc:spChg>
        <pc:spChg chg="add mod">
          <ac:chgData name="Suchitra Kamala Kodali" userId="a1e6d4506f5bf9a3" providerId="LiveId" clId="{5C2E6727-2466-41FE-911E-39D52C900904}" dt="2026-02-21T14:51:53.716" v="1466" actId="20577"/>
          <ac:spMkLst>
            <pc:docMk/>
            <pc:sldMk cId="0" sldId="264"/>
            <ac:spMk id="10" creationId="{3202E705-EE17-71AA-C866-BC857201A1BC}"/>
          </ac:spMkLst>
        </pc:spChg>
        <pc:spChg chg="add mod">
          <ac:chgData name="Suchitra Kamala Kodali" userId="a1e6d4506f5bf9a3" providerId="LiveId" clId="{5C2E6727-2466-41FE-911E-39D52C900904}" dt="2026-02-21T14:24:55.314" v="626" actId="20577"/>
          <ac:spMkLst>
            <pc:docMk/>
            <pc:sldMk cId="0" sldId="264"/>
            <ac:spMk id="11" creationId="{BAAA0385-E6BB-ECD2-9E07-B8EB071E970D}"/>
          </ac:spMkLst>
        </pc:spChg>
        <pc:spChg chg="add mod">
          <ac:chgData name="Suchitra Kamala Kodali" userId="a1e6d4506f5bf9a3" providerId="LiveId" clId="{5C2E6727-2466-41FE-911E-39D52C900904}" dt="2026-02-21T14:25:46.737" v="686" actId="20577"/>
          <ac:spMkLst>
            <pc:docMk/>
            <pc:sldMk cId="0" sldId="264"/>
            <ac:spMk id="13" creationId="{9A5CD309-03BB-0E84-33F1-5C72FE852F29}"/>
          </ac:spMkLst>
        </pc:spChg>
        <pc:spChg chg="add mod">
          <ac:chgData name="Suchitra Kamala Kodali" userId="a1e6d4506f5bf9a3" providerId="LiveId" clId="{5C2E6727-2466-41FE-911E-39D52C900904}" dt="2026-02-21T14:53:01.221" v="1475" actId="14100"/>
          <ac:spMkLst>
            <pc:docMk/>
            <pc:sldMk cId="0" sldId="264"/>
            <ac:spMk id="14" creationId="{DD07876C-5A5B-7092-BEAF-FC137D24FE61}"/>
          </ac:spMkLst>
        </pc:spChg>
        <pc:spChg chg="add mod">
          <ac:chgData name="Suchitra Kamala Kodali" userId="a1e6d4506f5bf9a3" providerId="LiveId" clId="{5C2E6727-2466-41FE-911E-39D52C900904}" dt="2026-02-21T14:34:39.312" v="990" actId="20577"/>
          <ac:spMkLst>
            <pc:docMk/>
            <pc:sldMk cId="0" sldId="264"/>
            <ac:spMk id="15" creationId="{997EF4C3-D82E-50A5-D761-3322FE42BF50}"/>
          </ac:spMkLst>
        </pc:spChg>
        <pc:spChg chg="mod">
          <ac:chgData name="Suchitra Kamala Kodali" userId="a1e6d4506f5bf9a3" providerId="LiveId" clId="{5C2E6727-2466-41FE-911E-39D52C900904}" dt="2026-02-21T14:18:01.214" v="288" actId="122"/>
          <ac:spMkLst>
            <pc:docMk/>
            <pc:sldMk cId="0" sldId="264"/>
            <ac:spMk id="216" creationId="{00000000-0000-0000-0000-000000000000}"/>
          </ac:spMkLst>
        </pc:spChg>
        <pc:spChg chg="del">
          <ac:chgData name="Suchitra Kamala Kodali" userId="a1e6d4506f5bf9a3" providerId="LiveId" clId="{5C2E6727-2466-41FE-911E-39D52C900904}" dt="2026-02-21T14:12:44.996" v="142" actId="478"/>
          <ac:spMkLst>
            <pc:docMk/>
            <pc:sldMk cId="0" sldId="264"/>
            <ac:spMk id="218" creationId="{00000000-0000-0000-0000-000000000000}"/>
          </ac:spMkLst>
        </pc:spChg>
        <pc:picChg chg="add del mod">
          <ac:chgData name="Suchitra Kamala Kodali" userId="a1e6d4506f5bf9a3" providerId="LiveId" clId="{5C2E6727-2466-41FE-911E-39D52C900904}" dt="2026-02-21T14:18:27.985" v="292" actId="478"/>
          <ac:picMkLst>
            <pc:docMk/>
            <pc:sldMk cId="0" sldId="264"/>
            <ac:picMk id="4" creationId="{067BFF2B-31DA-8AA9-EAC5-A4AA296C90E6}"/>
          </ac:picMkLst>
        </pc:picChg>
        <pc:picChg chg="add mod">
          <ac:chgData name="Suchitra Kamala Kodali" userId="a1e6d4506f5bf9a3" providerId="LiveId" clId="{5C2E6727-2466-41FE-911E-39D52C900904}" dt="2026-02-21T14:22:29.156" v="436" actId="1076"/>
          <ac:picMkLst>
            <pc:docMk/>
            <pc:sldMk cId="0" sldId="264"/>
            <ac:picMk id="8" creationId="{5ECBF1C1-9BAE-CC7C-9B4F-A36800A810CE}"/>
          </ac:picMkLst>
        </pc:picChg>
        <pc:picChg chg="add mod">
          <ac:chgData name="Suchitra Kamala Kodali" userId="a1e6d4506f5bf9a3" providerId="LiveId" clId="{5C2E6727-2466-41FE-911E-39D52C900904}" dt="2026-02-21T14:18:57.756" v="297" actId="1076"/>
          <ac:picMkLst>
            <pc:docMk/>
            <pc:sldMk cId="0" sldId="264"/>
            <ac:picMk id="12" creationId="{6CA02D89-9906-F884-D72D-1E1376C85A3D}"/>
          </ac:picMkLst>
        </pc:picChg>
        <pc:picChg chg="del mod">
          <ac:chgData name="Suchitra Kamala Kodali" userId="a1e6d4506f5bf9a3" providerId="LiveId" clId="{5C2E6727-2466-41FE-911E-39D52C900904}" dt="2026-02-21T14:12:47.337" v="143" actId="478"/>
          <ac:picMkLst>
            <pc:docMk/>
            <pc:sldMk cId="0" sldId="264"/>
            <ac:picMk id="214" creationId="{00000000-0000-0000-0000-000000000000}"/>
          </ac:picMkLst>
        </pc:picChg>
        <pc:picChg chg="mod">
          <ac:chgData name="Suchitra Kamala Kodali" userId="a1e6d4506f5bf9a3" providerId="LiveId" clId="{5C2E6727-2466-41FE-911E-39D52C900904}" dt="2026-02-21T14:18:21.264" v="291" actId="14100"/>
          <ac:picMkLst>
            <pc:docMk/>
            <pc:sldMk cId="0" sldId="264"/>
            <ac:picMk id="215" creationId="{00000000-0000-0000-0000-000000000000}"/>
          </ac:picMkLst>
        </pc:picChg>
        <pc:picChg chg="del">
          <ac:chgData name="Suchitra Kamala Kodali" userId="a1e6d4506f5bf9a3" providerId="LiveId" clId="{5C2E6727-2466-41FE-911E-39D52C900904}" dt="2026-02-21T14:09:51.918" v="83" actId="478"/>
          <ac:picMkLst>
            <pc:docMk/>
            <pc:sldMk cId="0" sldId="264"/>
            <ac:picMk id="217" creationId="{00000000-0000-0000-0000-000000000000}"/>
          </ac:picMkLst>
        </pc:picChg>
        <pc:picChg chg="del">
          <ac:chgData name="Suchitra Kamala Kodali" userId="a1e6d4506f5bf9a3" providerId="LiveId" clId="{5C2E6727-2466-41FE-911E-39D52C900904}" dt="2026-02-21T14:12:48.997" v="144" actId="478"/>
          <ac:picMkLst>
            <pc:docMk/>
            <pc:sldMk cId="0" sldId="264"/>
            <ac:picMk id="221" creationId="{00000000-0000-0000-0000-000000000000}"/>
          </ac:picMkLst>
        </pc:picChg>
        <pc:picChg chg="del">
          <ac:chgData name="Suchitra Kamala Kodali" userId="a1e6d4506f5bf9a3" providerId="LiveId" clId="{5C2E6727-2466-41FE-911E-39D52C900904}" dt="2026-02-21T14:12:50.859" v="145" actId="478"/>
          <ac:picMkLst>
            <pc:docMk/>
            <pc:sldMk cId="0" sldId="264"/>
            <ac:picMk id="222" creationId="{00000000-0000-0000-0000-000000000000}"/>
          </ac:picMkLst>
        </pc:picChg>
        <pc:picChg chg="del">
          <ac:chgData name="Suchitra Kamala Kodali" userId="a1e6d4506f5bf9a3" providerId="LiveId" clId="{5C2E6727-2466-41FE-911E-39D52C900904}" dt="2026-02-21T14:12:52.455" v="146" actId="478"/>
          <ac:picMkLst>
            <pc:docMk/>
            <pc:sldMk cId="0" sldId="264"/>
            <ac:picMk id="223" creationId="{00000000-0000-0000-0000-000000000000}"/>
          </ac:picMkLst>
        </pc:picChg>
      </pc:sldChg>
      <pc:sldChg chg="addSp delSp modSp add mod">
        <pc:chgData name="Suchitra Kamala Kodali" userId="a1e6d4506f5bf9a3" providerId="LiveId" clId="{5C2E6727-2466-41FE-911E-39D52C900904}" dt="2026-02-21T14:56:13.247" v="1510" actId="14100"/>
        <pc:sldMkLst>
          <pc:docMk/>
          <pc:sldMk cId="3311772669" sldId="284"/>
        </pc:sldMkLst>
        <pc:spChg chg="del">
          <ac:chgData name="Suchitra Kamala Kodali" userId="a1e6d4506f5bf9a3" providerId="LiveId" clId="{5C2E6727-2466-41FE-911E-39D52C900904}" dt="2026-02-21T14:31:47.635" v="832" actId="478"/>
          <ac:spMkLst>
            <pc:docMk/>
            <pc:sldMk cId="3311772669" sldId="284"/>
            <ac:spMk id="2" creationId="{09F428FF-C26A-3D7A-F7F8-4DDF8601817C}"/>
          </ac:spMkLst>
        </pc:spChg>
        <pc:spChg chg="del">
          <ac:chgData name="Suchitra Kamala Kodali" userId="a1e6d4506f5bf9a3" providerId="LiveId" clId="{5C2E6727-2466-41FE-911E-39D52C900904}" dt="2026-02-21T14:31:47.635" v="832" actId="478"/>
          <ac:spMkLst>
            <pc:docMk/>
            <pc:sldMk cId="3311772669" sldId="284"/>
            <ac:spMk id="3" creationId="{9DFB0746-496A-2265-7DF0-9B26A34674EE}"/>
          </ac:spMkLst>
        </pc:spChg>
        <pc:spChg chg="add mod">
          <ac:chgData name="Suchitra Kamala Kodali" userId="a1e6d4506f5bf9a3" providerId="LiveId" clId="{5C2E6727-2466-41FE-911E-39D52C900904}" dt="2026-02-21T14:45:27.298" v="1350"/>
          <ac:spMkLst>
            <pc:docMk/>
            <pc:sldMk cId="3311772669" sldId="284"/>
            <ac:spMk id="4" creationId="{35B3A7D6-73F2-F8A5-4430-90053FB9A4E5}"/>
          </ac:spMkLst>
        </pc:spChg>
        <pc:spChg chg="mod">
          <ac:chgData name="Suchitra Kamala Kodali" userId="a1e6d4506f5bf9a3" providerId="LiveId" clId="{5C2E6727-2466-41FE-911E-39D52C900904}" dt="2026-02-21T14:35:23.045" v="1032" actId="20577"/>
          <ac:spMkLst>
            <pc:docMk/>
            <pc:sldMk cId="3311772669" sldId="284"/>
            <ac:spMk id="9" creationId="{15672496-3265-7522-CFBE-3F7FF0E90BAA}"/>
          </ac:spMkLst>
        </pc:spChg>
        <pc:spChg chg="del mod">
          <ac:chgData name="Suchitra Kamala Kodali" userId="a1e6d4506f5bf9a3" providerId="LiveId" clId="{5C2E6727-2466-41FE-911E-39D52C900904}" dt="2026-02-21T14:42:33.218" v="1274" actId="478"/>
          <ac:spMkLst>
            <pc:docMk/>
            <pc:sldMk cId="3311772669" sldId="284"/>
            <ac:spMk id="10" creationId="{77844ECF-194B-AFE0-03DB-A9E944EF8908}"/>
          </ac:spMkLst>
        </pc:spChg>
        <pc:spChg chg="mod">
          <ac:chgData name="Suchitra Kamala Kodali" userId="a1e6d4506f5bf9a3" providerId="LiveId" clId="{5C2E6727-2466-41FE-911E-39D52C900904}" dt="2026-02-21T14:41:19.595" v="1239" actId="20577"/>
          <ac:spMkLst>
            <pc:docMk/>
            <pc:sldMk cId="3311772669" sldId="284"/>
            <ac:spMk id="11" creationId="{93881FE1-C304-AAFE-51C6-D7A098F0489F}"/>
          </ac:spMkLst>
        </pc:spChg>
        <pc:spChg chg="mod">
          <ac:chgData name="Suchitra Kamala Kodali" userId="a1e6d4506f5bf9a3" providerId="LiveId" clId="{5C2E6727-2466-41FE-911E-39D52C900904}" dt="2026-02-21T14:42:19.251" v="1272" actId="1076"/>
          <ac:spMkLst>
            <pc:docMk/>
            <pc:sldMk cId="3311772669" sldId="284"/>
            <ac:spMk id="13" creationId="{A893071C-87E5-C80D-951B-77E85A10DE5A}"/>
          </ac:spMkLst>
        </pc:spChg>
        <pc:spChg chg="mod">
          <ac:chgData name="Suchitra Kamala Kodali" userId="a1e6d4506f5bf9a3" providerId="LiveId" clId="{5C2E6727-2466-41FE-911E-39D52C900904}" dt="2026-02-21T14:56:13.247" v="1510" actId="14100"/>
          <ac:spMkLst>
            <pc:docMk/>
            <pc:sldMk cId="3311772669" sldId="284"/>
            <ac:spMk id="14" creationId="{098E42CA-6BE1-5EB3-92E1-98254C9EFDCB}"/>
          </ac:spMkLst>
        </pc:spChg>
        <pc:spChg chg="mod">
          <ac:chgData name="Suchitra Kamala Kodali" userId="a1e6d4506f5bf9a3" providerId="LiveId" clId="{5C2E6727-2466-41FE-911E-39D52C900904}" dt="2026-02-21T14:41:26.463" v="1240" actId="1076"/>
          <ac:spMkLst>
            <pc:docMk/>
            <pc:sldMk cId="3311772669" sldId="284"/>
            <ac:spMk id="15" creationId="{0D05C362-7E66-5DE5-6A51-62B2695F9ABB}"/>
          </ac:spMkLst>
        </pc:spChg>
        <pc:spChg chg="del">
          <ac:chgData name="Suchitra Kamala Kodali" userId="a1e6d4506f5bf9a3" providerId="LiveId" clId="{5C2E6727-2466-41FE-911E-39D52C900904}" dt="2026-02-21T14:31:47.635" v="832" actId="478"/>
          <ac:spMkLst>
            <pc:docMk/>
            <pc:sldMk cId="3311772669" sldId="284"/>
            <ac:spMk id="216" creationId="{9A40EC7D-5B1A-6EC5-7FF4-2EB8A44B9FFE}"/>
          </ac:spMkLst>
        </pc:spChg>
        <pc:picChg chg="mod">
          <ac:chgData name="Suchitra Kamala Kodali" userId="a1e6d4506f5bf9a3" providerId="LiveId" clId="{5C2E6727-2466-41FE-911E-39D52C900904}" dt="2026-02-21T14:37:36.757" v="1102" actId="1076"/>
          <ac:picMkLst>
            <pc:docMk/>
            <pc:sldMk cId="3311772669" sldId="284"/>
            <ac:picMk id="8" creationId="{FB79D32D-496C-F28C-7A8C-485E99DC19AC}"/>
          </ac:picMkLst>
        </pc:picChg>
        <pc:picChg chg="mod">
          <ac:chgData name="Suchitra Kamala Kodali" userId="a1e6d4506f5bf9a3" providerId="LiveId" clId="{5C2E6727-2466-41FE-911E-39D52C900904}" dt="2026-02-21T14:32:46.013" v="843" actId="14100"/>
          <ac:picMkLst>
            <pc:docMk/>
            <pc:sldMk cId="3311772669" sldId="284"/>
            <ac:picMk id="12" creationId="{20113D49-3163-1C61-9AC4-7ECC389A07AA}"/>
          </ac:picMkLst>
        </pc:picChg>
        <pc:picChg chg="del">
          <ac:chgData name="Suchitra Kamala Kodali" userId="a1e6d4506f5bf9a3" providerId="LiveId" clId="{5C2E6727-2466-41FE-911E-39D52C900904}" dt="2026-02-21T14:31:47.635" v="832" actId="478"/>
          <ac:picMkLst>
            <pc:docMk/>
            <pc:sldMk cId="3311772669" sldId="284"/>
            <ac:picMk id="215" creationId="{F2E50A7C-2685-1A59-F57E-8F2C2BCE447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 name="Google Shape;19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BE6BB20E-1136-F192-D866-650CA4347D8A}"/>
            </a:ext>
          </a:extLst>
        </p:cNvPr>
        <p:cNvGrpSpPr/>
        <p:nvPr/>
      </p:nvGrpSpPr>
      <p:grpSpPr>
        <a:xfrm>
          <a:off x="0" y="0"/>
          <a:ext cx="0" cy="0"/>
          <a:chOff x="0" y="0"/>
          <a:chExt cx="0" cy="0"/>
        </a:xfrm>
      </p:grpSpPr>
      <p:sp>
        <p:nvSpPr>
          <p:cNvPr id="211" name="Google Shape;211;p9:notes">
            <a:extLst>
              <a:ext uri="{FF2B5EF4-FFF2-40B4-BE49-F238E27FC236}">
                <a16:creationId xmlns:a16="http://schemas.microsoft.com/office/drawing/2014/main" id="{AEBBD73D-CF46-D98F-E406-D1416172E8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p9:notes">
            <a:extLst>
              <a:ext uri="{FF2B5EF4-FFF2-40B4-BE49-F238E27FC236}">
                <a16:creationId xmlns:a16="http://schemas.microsoft.com/office/drawing/2014/main" id="{D95AF5EF-F53A-297C-1AE4-DC5BAF4105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05342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8DD54123-462E-E486-4DDD-7F303C04C4CA}"/>
            </a:ext>
          </a:extLst>
        </p:cNvPr>
        <p:cNvGrpSpPr/>
        <p:nvPr/>
      </p:nvGrpSpPr>
      <p:grpSpPr>
        <a:xfrm>
          <a:off x="0" y="0"/>
          <a:ext cx="0" cy="0"/>
          <a:chOff x="0" y="0"/>
          <a:chExt cx="0" cy="0"/>
        </a:xfrm>
      </p:grpSpPr>
      <p:sp>
        <p:nvSpPr>
          <p:cNvPr id="211" name="Google Shape;211;p9:notes">
            <a:extLst>
              <a:ext uri="{FF2B5EF4-FFF2-40B4-BE49-F238E27FC236}">
                <a16:creationId xmlns:a16="http://schemas.microsoft.com/office/drawing/2014/main" id="{7EBB040F-6CCD-B03E-D089-168681487D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p9:notes">
            <a:extLst>
              <a:ext uri="{FF2B5EF4-FFF2-40B4-BE49-F238E27FC236}">
                <a16:creationId xmlns:a16="http://schemas.microsoft.com/office/drawing/2014/main" id="{82DEDAAE-F0B8-B215-3011-0EA5D3157C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61739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8" name="Google Shape;22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8" name="Google Shape;22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8" name="Google Shape;22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8" name="Google Shape;22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8" name="Google Shape;22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8" name="Google Shape;22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8" name="Google Shape;22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2" name="Google Shape;25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panose="020F0502020204030204"/>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panose="020F050202020403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tags" Target="../tags/tag5.xml"/><Relationship Id="rId7" Type="http://schemas.openxmlformats.org/officeDocument/2006/relationships/tags" Target="../tags/tag9.xml"/><Relationship Id="rId12" Type="http://schemas.openxmlformats.org/officeDocument/2006/relationships/image" Target="../media/image1.png"/><Relationship Id="rId17" Type="http://schemas.openxmlformats.org/officeDocument/2006/relationships/image" Target="../media/image23.png"/><Relationship Id="rId2" Type="http://schemas.openxmlformats.org/officeDocument/2006/relationships/tags" Target="../tags/tag4.xml"/><Relationship Id="rId16" Type="http://schemas.openxmlformats.org/officeDocument/2006/relationships/image" Target="../media/image22.png"/><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notesSlide" Target="../notesSlides/notesSlide12.xml"/><Relationship Id="rId5" Type="http://schemas.openxmlformats.org/officeDocument/2006/relationships/tags" Target="../tags/tag7.xml"/><Relationship Id="rId15" Type="http://schemas.openxmlformats.org/officeDocument/2006/relationships/image" Target="../media/image21.png"/><Relationship Id="rId10" Type="http://schemas.openxmlformats.org/officeDocument/2006/relationships/slideLayout" Target="../slideLayouts/slideLayout1.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32.pn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31.png"/><Relationship Id="rId5" Type="http://schemas.openxmlformats.org/officeDocument/2006/relationships/image" Target="../media/image1.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tags" Target="../tags/tag14.xml"/><Relationship Id="rId5" Type="http://schemas.openxmlformats.org/officeDocument/2006/relationships/image" Target="../media/image33.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tags" Target="../tags/tag15.xml"/><Relationship Id="rId5" Type="http://schemas.openxmlformats.org/officeDocument/2006/relationships/image" Target="../media/image34.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36.pn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35.png"/><Relationship Id="rId5" Type="http://schemas.openxmlformats.org/officeDocument/2006/relationships/image" Target="../media/image1.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tags" Target="../tags/tag20.xml"/><Relationship Id="rId7" Type="http://schemas.openxmlformats.org/officeDocument/2006/relationships/image" Target="../media/image1.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notesSlide" Target="../notesSlides/notesSlide21.xml"/><Relationship Id="rId5" Type="http://schemas.openxmlformats.org/officeDocument/2006/relationships/slideLayout" Target="../slideLayouts/slideLayout1.xml"/><Relationship Id="rId4" Type="http://schemas.openxmlformats.org/officeDocument/2006/relationships/tags" Target="../tags/tag21.xml"/><Relationship Id="rId9"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tags" Target="../tags/tag22.xml"/><Relationship Id="rId5" Type="http://schemas.openxmlformats.org/officeDocument/2006/relationships/image" Target="../media/image39.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srcRect/>
          <a:stretch>
            <a:fillRect/>
          </a:stretch>
        </p:blipFill>
        <p:spPr>
          <a:xfrm>
            <a:off x="571500" y="4023270"/>
            <a:ext cx="11049000" cy="1390650"/>
          </a:xfrm>
          <a:prstGeom prst="rect">
            <a:avLst/>
          </a:prstGeom>
          <a:noFill/>
          <a:ln>
            <a:noFill/>
          </a:ln>
        </p:spPr>
      </p:pic>
      <p:sp>
        <p:nvSpPr>
          <p:cNvPr id="87" name="Google Shape;87;p13"/>
          <p:cNvSpPr txBox="1"/>
          <p:nvPr/>
        </p:nvSpPr>
        <p:spPr>
          <a:xfrm>
            <a:off x="571500" y="2206079"/>
            <a:ext cx="11601450" cy="1340941"/>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4800" b="1" i="0" u="none" strike="noStrike" cap="none">
                <a:solidFill>
                  <a:srgbClr val="FFFFFF"/>
                </a:solidFill>
                <a:latin typeface="Montserrat" panose="00000500000000000000"/>
                <a:ea typeface="Montserrat" panose="00000500000000000000"/>
                <a:cs typeface="Montserrat" panose="00000500000000000000"/>
                <a:sym typeface="Montserrat" panose="00000500000000000000"/>
              </a:rPr>
              <a:t>AI-POWERED SYSTEM FOR </a:t>
            </a:r>
            <a:r>
              <a:rPr lang="en-US" sz="4800" b="1" i="0" u="none" strike="noStrike" cap="none">
                <a:solidFill>
                  <a:srgbClr val="DEFF9A"/>
                </a:solidFill>
                <a:latin typeface="Montserrat" panose="00000500000000000000"/>
                <a:ea typeface="Montserrat" panose="00000500000000000000"/>
                <a:cs typeface="Montserrat" panose="00000500000000000000"/>
                <a:sym typeface="Montserrat" panose="00000500000000000000"/>
              </a:rPr>
              <a:t>RIPENESS DETECTION</a:t>
            </a:r>
            <a:r>
              <a:rPr lang="en-US" sz="4800" b="1" i="0" u="none" strike="noStrike" cap="none">
                <a:solidFill>
                  <a:srgbClr val="FFFFFF"/>
                </a:solidFill>
                <a:latin typeface="Montserrat" panose="00000500000000000000"/>
                <a:ea typeface="Montserrat" panose="00000500000000000000"/>
                <a:cs typeface="Montserrat" panose="00000500000000000000"/>
                <a:sym typeface="Montserrat" panose="00000500000000000000"/>
              </a:rPr>
              <a:t> &amp; ADVICE</a:t>
            </a:r>
          </a:p>
        </p:txBody>
      </p:sp>
      <p:sp>
        <p:nvSpPr>
          <p:cNvPr id="89" name="Google Shape;89;p13"/>
          <p:cNvSpPr txBox="1"/>
          <p:nvPr/>
        </p:nvSpPr>
        <p:spPr>
          <a:xfrm>
            <a:off x="6481445" y="5575935"/>
            <a:ext cx="6142355" cy="848995"/>
          </a:xfrm>
          <a:prstGeom prst="rect">
            <a:avLst/>
          </a:prstGeom>
          <a:noFill/>
          <a:ln>
            <a:noFill/>
          </a:ln>
        </p:spPr>
        <p:txBody>
          <a:bodyPr spcFirstLastPara="1" wrap="square" lIns="0" tIns="0" rIns="0" bIns="0" anchor="t" anchorCtr="0">
            <a:noAutofit/>
          </a:bodyPr>
          <a:lstStyle/>
          <a:p>
            <a:pPr marL="0" marR="0" lvl="0" indent="0" algn="l" rtl="0">
              <a:lnSpc>
                <a:spcPct val="150000"/>
              </a:lnSpc>
              <a:spcBef>
                <a:spcPts val="0"/>
              </a:spcBef>
              <a:spcAft>
                <a:spcPts val="0"/>
              </a:spcAft>
              <a:buNone/>
            </a:pPr>
            <a:r>
              <a:rPr lang="en-US" sz="1800" b="1" i="0" u="none" strike="noStrike" cap="none">
                <a:solidFill>
                  <a:schemeClr val="bg1"/>
                </a:solidFill>
                <a:latin typeface="Times New Roman" panose="02020603050405020304" charset="0"/>
                <a:ea typeface="Open Sans"/>
                <a:cs typeface="Times New Roman" panose="02020603050405020304" charset="0"/>
                <a:sym typeface="Open Sans"/>
              </a:rPr>
              <a:t>Guided By:</a:t>
            </a:r>
            <a:r>
              <a:rPr lang="en-US" sz="1800" b="0" i="0" u="none" strike="noStrike" cap="none">
                <a:solidFill>
                  <a:schemeClr val="bg1"/>
                </a:solidFill>
                <a:latin typeface="Times New Roman" panose="02020603050405020304" charset="0"/>
                <a:ea typeface="Open Sans"/>
                <a:cs typeface="Times New Roman" panose="02020603050405020304" charset="0"/>
                <a:sym typeface="Open Sans"/>
              </a:rPr>
              <a:t> Dr. T. Manasa Veena</a:t>
            </a:r>
          </a:p>
        </p:txBody>
      </p:sp>
      <p:pic>
        <p:nvPicPr>
          <p:cNvPr id="3" name="Google Shape;89;p13"/>
          <p:cNvPicPr preferRelativeResize="0"/>
          <p:nvPr/>
        </p:nvPicPr>
        <p:blipFill>
          <a:blip r:embed="rId5"/>
          <a:stretch>
            <a:fillRect/>
          </a:stretch>
        </p:blipFill>
        <p:spPr>
          <a:xfrm>
            <a:off x="0" y="0"/>
            <a:ext cx="12192000" cy="2033905"/>
          </a:xfrm>
          <a:prstGeom prst="rect">
            <a:avLst/>
          </a:prstGeom>
          <a:noFill/>
          <a:ln>
            <a:noFill/>
          </a:ln>
        </p:spPr>
      </p:pic>
      <p:sp>
        <p:nvSpPr>
          <p:cNvPr id="2" name="Google Shape;87;p13"/>
          <p:cNvSpPr txBox="1"/>
          <p:nvPr/>
        </p:nvSpPr>
        <p:spPr>
          <a:xfrm>
            <a:off x="794385" y="4245610"/>
            <a:ext cx="6107430" cy="189992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None/>
            </a:pPr>
            <a:r>
              <a:rPr lang="en-IN" altLang="en-US" sz="1800" b="0" i="0" u="none" strike="noStrike" cap="none" dirty="0">
                <a:solidFill>
                  <a:schemeClr val="bg1"/>
                </a:solidFill>
                <a:latin typeface="Times New Roman" panose="02020603050405020304" charset="0"/>
                <a:ea typeface="Arimo" panose="020B0604020202020204"/>
                <a:cs typeface="Times New Roman" panose="02020603050405020304" charset="0"/>
                <a:sym typeface="Arimo" panose="020B0604020202020204"/>
              </a:rPr>
              <a:t> </a:t>
            </a:r>
            <a:r>
              <a:rPr lang="en-US" sz="1800" b="0" i="0" u="none" strike="noStrike" cap="none">
                <a:solidFill>
                  <a:schemeClr val="bg1"/>
                </a:solidFill>
                <a:latin typeface="Times New Roman" panose="02020603050405020304" charset="0"/>
                <a:ea typeface="Arimo" panose="020B0604020202020204"/>
                <a:cs typeface="Times New Roman" panose="02020603050405020304" charset="0"/>
                <a:sym typeface="Arimo" panose="020B0604020202020204"/>
              </a:rPr>
              <a:t>Sk</a:t>
            </a:r>
            <a:r>
              <a:rPr lang="en-US" sz="1800">
                <a:solidFill>
                  <a:schemeClr val="bg1"/>
                </a:solidFill>
                <a:latin typeface="Times New Roman" panose="02020603050405020304" charset="0"/>
                <a:ea typeface="Arimo" panose="020B0604020202020204"/>
                <a:cs typeface="Times New Roman" panose="02020603050405020304" charset="0"/>
                <a:sym typeface="Arimo" panose="020B0604020202020204"/>
              </a:rPr>
              <a:t>.</a:t>
            </a:r>
            <a:r>
              <a:rPr lang="en-US" sz="1800" b="0" i="0" u="none" strike="noStrike" cap="none">
                <a:solidFill>
                  <a:schemeClr val="bg1"/>
                </a:solidFill>
                <a:latin typeface="Times New Roman" panose="02020603050405020304" charset="0"/>
                <a:ea typeface="Arimo" panose="020B0604020202020204"/>
                <a:cs typeface="Times New Roman" panose="02020603050405020304" charset="0"/>
                <a:sym typeface="Arimo" panose="020B0604020202020204"/>
              </a:rPr>
              <a:t> </a:t>
            </a:r>
            <a:r>
              <a:rPr lang="en-US" sz="1800" b="0" i="0" u="none" strike="noStrike" cap="none" dirty="0" err="1">
                <a:solidFill>
                  <a:schemeClr val="bg1"/>
                </a:solidFill>
                <a:latin typeface="Times New Roman" panose="02020603050405020304" charset="0"/>
                <a:ea typeface="Arimo" panose="020B0604020202020204"/>
                <a:cs typeface="Times New Roman" panose="02020603050405020304" charset="0"/>
                <a:sym typeface="Arimo" panose="020B0604020202020204"/>
              </a:rPr>
              <a:t>Mahimud</a:t>
            </a:r>
            <a:r>
              <a:rPr lang="en-US" sz="1800" b="0" i="0" u="none" strike="noStrike" cap="none" dirty="0">
                <a:solidFill>
                  <a:schemeClr val="bg1"/>
                </a:solidFill>
                <a:latin typeface="Times New Roman" panose="02020603050405020304" charset="0"/>
                <a:ea typeface="Arimo" panose="020B0604020202020204"/>
                <a:cs typeface="Times New Roman" panose="02020603050405020304" charset="0"/>
                <a:sym typeface="Arimo" panose="020B0604020202020204"/>
              </a:rPr>
              <a:t>                      22KN</a:t>
            </a:r>
            <a:r>
              <a:rPr lang="en-US" sz="1800" dirty="0">
                <a:solidFill>
                  <a:schemeClr val="bg1"/>
                </a:solidFill>
                <a:latin typeface="Times New Roman" panose="02020603050405020304" charset="0"/>
                <a:ea typeface="Arimo" panose="020B0604020202020204"/>
                <a:cs typeface="Times New Roman" panose="02020603050405020304" charset="0"/>
                <a:sym typeface="Arimo" panose="020B0604020202020204"/>
              </a:rPr>
              <a:t>1A6134</a:t>
            </a:r>
            <a:endParaRPr sz="1800" dirty="0">
              <a:solidFill>
                <a:schemeClr val="bg1"/>
              </a:solidFill>
              <a:latin typeface="Times New Roman" panose="02020603050405020304" charset="0"/>
              <a:ea typeface="Arimo" panose="020B0604020202020204"/>
              <a:cs typeface="Times New Roman" panose="02020603050405020304" charset="0"/>
              <a:sym typeface="Arimo" panose="020B0604020202020204"/>
            </a:endParaRPr>
          </a:p>
          <a:p>
            <a:pPr marL="0" marR="0" lvl="0" indent="0" algn="l" rtl="0">
              <a:lnSpc>
                <a:spcPct val="133000"/>
              </a:lnSpc>
              <a:spcBef>
                <a:spcPts val="0"/>
              </a:spcBef>
              <a:spcAft>
                <a:spcPts val="0"/>
              </a:spcAft>
              <a:buNone/>
            </a:pPr>
            <a:r>
              <a:rPr lang="en-US" sz="1800" b="0" i="0" u="none" strike="noStrike" cap="none" dirty="0">
                <a:solidFill>
                  <a:schemeClr val="bg1"/>
                </a:solidFill>
                <a:latin typeface="Times New Roman" panose="02020603050405020304" charset="0"/>
                <a:ea typeface="Arimo" panose="020B0604020202020204"/>
                <a:cs typeface="Times New Roman" panose="02020603050405020304" charset="0"/>
                <a:sym typeface="Arimo" panose="020B0604020202020204"/>
              </a:rPr>
              <a:t> A. Sulochana Kumari         22KN</a:t>
            </a:r>
            <a:r>
              <a:rPr lang="en-US" sz="1800" dirty="0">
                <a:solidFill>
                  <a:schemeClr val="bg1"/>
                </a:solidFill>
                <a:latin typeface="Times New Roman" panose="02020603050405020304" charset="0"/>
                <a:ea typeface="Arimo" panose="020B0604020202020204"/>
                <a:cs typeface="Times New Roman" panose="02020603050405020304" charset="0"/>
                <a:sym typeface="Arimo" panose="020B0604020202020204"/>
              </a:rPr>
              <a:t>1A6103</a:t>
            </a:r>
            <a:br>
              <a:rPr lang="en-US" sz="1800" b="0" i="0" u="none" strike="noStrike" cap="none" dirty="0">
                <a:solidFill>
                  <a:schemeClr val="bg1"/>
                </a:solidFill>
                <a:latin typeface="Times New Roman" panose="02020603050405020304" charset="0"/>
                <a:ea typeface="Calibri" panose="020F0502020204030204"/>
                <a:cs typeface="Times New Roman" panose="02020603050405020304" charset="0"/>
                <a:sym typeface="Calibri" panose="020F0502020204030204"/>
              </a:rPr>
            </a:br>
            <a:r>
              <a:rPr lang="en-US" sz="1800" b="0" i="0" u="none" strike="noStrike" cap="none" dirty="0">
                <a:solidFill>
                  <a:schemeClr val="bg1"/>
                </a:solidFill>
                <a:latin typeface="Times New Roman" panose="02020603050405020304" charset="0"/>
                <a:ea typeface="Arimo" panose="020B0604020202020204"/>
                <a:cs typeface="Times New Roman" panose="02020603050405020304" charset="0"/>
                <a:sym typeface="Arimo" panose="020B0604020202020204"/>
              </a:rPr>
              <a:t> K. Suchitra Kamala            22KN1A6145</a:t>
            </a:r>
            <a:endParaRPr sz="1800" dirty="0">
              <a:solidFill>
                <a:schemeClr val="bg1"/>
              </a:solidFill>
              <a:latin typeface="Times New Roman" panose="02020603050405020304" charset="0"/>
              <a:ea typeface="Arimo" panose="020B0604020202020204"/>
              <a:cs typeface="Times New Roman" panose="02020603050405020304" charset="0"/>
              <a:sym typeface="Arimo" panose="020B0604020202020204"/>
            </a:endParaRPr>
          </a:p>
          <a:p>
            <a:pPr marL="0" marR="0" lvl="0" indent="0" algn="l" rtl="0">
              <a:lnSpc>
                <a:spcPct val="133000"/>
              </a:lnSpc>
              <a:spcBef>
                <a:spcPts val="0"/>
              </a:spcBef>
              <a:spcAft>
                <a:spcPts val="0"/>
              </a:spcAft>
              <a:buNone/>
            </a:pPr>
            <a:r>
              <a:rPr lang="en-US" sz="1800" b="0" i="0" u="none" strike="noStrike" cap="none" dirty="0">
                <a:solidFill>
                  <a:schemeClr val="bg1"/>
                </a:solidFill>
                <a:latin typeface="Times New Roman" panose="02020603050405020304" charset="0"/>
                <a:ea typeface="Arimo" panose="020B0604020202020204"/>
                <a:cs typeface="Times New Roman" panose="02020603050405020304" charset="0"/>
                <a:sym typeface="Arimo" panose="020B0604020202020204"/>
              </a:rPr>
              <a:t>Ch. Phanindra Babu            22KN1A6115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94"/>
        <p:cNvGrpSpPr/>
        <p:nvPr/>
      </p:nvGrpSpPr>
      <p:grpSpPr>
        <a:xfrm>
          <a:off x="0" y="0"/>
          <a:ext cx="0" cy="0"/>
          <a:chOff x="0" y="0"/>
          <a:chExt cx="0" cy="0"/>
        </a:xfrm>
      </p:grpSpPr>
      <p:pic>
        <p:nvPicPr>
          <p:cNvPr id="95" name="Google Shape;95;p14" descr="image.png"/>
          <p:cNvPicPr preferRelativeResize="0"/>
          <p:nvPr/>
        </p:nvPicPr>
        <p:blipFill rotWithShape="1">
          <a:blip r:embed="rId3"/>
          <a:srcRect/>
          <a:stretch>
            <a:fillRect/>
          </a:stretch>
        </p:blipFill>
        <p:spPr>
          <a:xfrm>
            <a:off x="0" y="0"/>
            <a:ext cx="12192000" cy="6858000"/>
          </a:xfrm>
          <a:prstGeom prst="rect">
            <a:avLst/>
          </a:prstGeom>
          <a:noFill/>
          <a:ln>
            <a:noFill/>
          </a:ln>
        </p:spPr>
      </p:pic>
      <p:sp>
        <p:nvSpPr>
          <p:cNvPr id="96" name="Google Shape;96;p14"/>
          <p:cNvSpPr/>
          <p:nvPr/>
        </p:nvSpPr>
        <p:spPr>
          <a:xfrm flipV="1">
            <a:off x="5619750" y="1739900"/>
            <a:ext cx="1003300" cy="76200"/>
          </a:xfrm>
          <a:prstGeom prst="rect">
            <a:avLst/>
          </a:prstGeom>
          <a:solidFill>
            <a:srgbClr val="00FFC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7" name="Google Shape;97;p14"/>
          <p:cNvSpPr txBox="1"/>
          <p:nvPr/>
        </p:nvSpPr>
        <p:spPr>
          <a:xfrm>
            <a:off x="3490674" y="2000250"/>
            <a:ext cx="5210651" cy="7429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a:solidFill>
                  <a:srgbClr val="FFFFFF"/>
                </a:solidFill>
                <a:latin typeface="Montserrat" panose="00000500000000000000"/>
                <a:ea typeface="Montserrat" panose="00000500000000000000"/>
                <a:cs typeface="Montserrat" panose="00000500000000000000"/>
                <a:sym typeface="Montserrat" panose="00000500000000000000"/>
              </a:rPr>
              <a:t>Project Agenda</a:t>
            </a:r>
          </a:p>
        </p:txBody>
      </p:sp>
      <p:sp>
        <p:nvSpPr>
          <p:cNvPr id="98" name="Google Shape;98;p14"/>
          <p:cNvSpPr txBox="1"/>
          <p:nvPr/>
        </p:nvSpPr>
        <p:spPr>
          <a:xfrm>
            <a:off x="1219200" y="3676650"/>
            <a:ext cx="9906000" cy="115379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500" b="0" i="0" u="none" strike="noStrike" cap="none">
                <a:solidFill>
                  <a:schemeClr val="bg1"/>
                </a:solidFill>
                <a:latin typeface="Open Sans"/>
                <a:ea typeface="Open Sans"/>
                <a:cs typeface="Open Sans"/>
                <a:sym typeface="Open Sans"/>
              </a:rPr>
              <a:t>Comprehensive overview of automated post-harvest solutions using Deep Learning architectures and Streamlit deployment.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94"/>
        <p:cNvGrpSpPr/>
        <p:nvPr/>
      </p:nvGrpSpPr>
      <p:grpSpPr>
        <a:xfrm>
          <a:off x="0" y="0"/>
          <a:ext cx="0" cy="0"/>
          <a:chOff x="0" y="0"/>
          <a:chExt cx="0" cy="0"/>
        </a:xfrm>
      </p:grpSpPr>
      <p:pic>
        <p:nvPicPr>
          <p:cNvPr id="95" name="Google Shape;95;p14" descr="image.png"/>
          <p:cNvPicPr preferRelativeResize="0"/>
          <p:nvPr/>
        </p:nvPicPr>
        <p:blipFill rotWithShape="1">
          <a:blip r:embed="rId3"/>
          <a:srcRect/>
          <a:stretch>
            <a:fillRect/>
          </a:stretch>
        </p:blipFill>
        <p:spPr>
          <a:xfrm>
            <a:off x="0" y="0"/>
            <a:ext cx="12192000" cy="6858000"/>
          </a:xfrm>
          <a:prstGeom prst="rect">
            <a:avLst/>
          </a:prstGeom>
          <a:noFill/>
          <a:ln>
            <a:noFill/>
          </a:ln>
        </p:spPr>
      </p:pic>
      <p:sp>
        <p:nvSpPr>
          <p:cNvPr id="96" name="Google Shape;96;p14"/>
          <p:cNvSpPr/>
          <p:nvPr/>
        </p:nvSpPr>
        <p:spPr>
          <a:xfrm>
            <a:off x="5619750" y="749300"/>
            <a:ext cx="1003300" cy="76200"/>
          </a:xfrm>
          <a:prstGeom prst="rect">
            <a:avLst/>
          </a:prstGeom>
          <a:solidFill>
            <a:srgbClr val="00FFC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97" name="Google Shape;97;p14"/>
          <p:cNvSpPr txBox="1"/>
          <p:nvPr/>
        </p:nvSpPr>
        <p:spPr>
          <a:xfrm>
            <a:off x="3490674" y="1044575"/>
            <a:ext cx="5210651" cy="73850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a:solidFill>
                  <a:srgbClr val="DEFF9A"/>
                </a:solidFill>
                <a:latin typeface="Montserrat" panose="00000500000000000000"/>
                <a:ea typeface="Montserrat" panose="00000500000000000000"/>
                <a:cs typeface="Montserrat" panose="00000500000000000000"/>
                <a:sym typeface="Montserrat" panose="00000500000000000000"/>
              </a:rPr>
              <a:t>Abstract</a:t>
            </a:r>
            <a:endParaRPr lang="en-US" sz="4800" b="1" i="0" u="none" strike="noStrike" cap="none">
              <a:solidFill>
                <a:srgbClr val="FFFFFF"/>
              </a:solidFill>
              <a:latin typeface="Montserrat" panose="00000500000000000000"/>
              <a:ea typeface="Montserrat" panose="00000500000000000000"/>
              <a:cs typeface="Montserrat" panose="00000500000000000000"/>
              <a:sym typeface="Montserrat" panose="00000500000000000000"/>
            </a:endParaRPr>
          </a:p>
        </p:txBody>
      </p:sp>
      <p:sp>
        <p:nvSpPr>
          <p:cNvPr id="98" name="Google Shape;98;p14"/>
          <p:cNvSpPr txBox="1"/>
          <p:nvPr/>
        </p:nvSpPr>
        <p:spPr>
          <a:xfrm>
            <a:off x="1219200" y="2002155"/>
            <a:ext cx="9906000" cy="4231640"/>
          </a:xfrm>
          <a:prstGeom prst="rect">
            <a:avLst/>
          </a:prstGeom>
          <a:noFill/>
          <a:ln>
            <a:noFill/>
          </a:ln>
        </p:spPr>
        <p:txBody>
          <a:bodyPr spcFirstLastPara="1" wrap="square" lIns="0" tIns="0" rIns="0" bIns="0" anchor="t" anchorCtr="0">
            <a:spAutoFit/>
          </a:bodyPr>
          <a:lstStyle/>
          <a:p>
            <a:pPr indent="0" algn="just">
              <a:buFont typeface="Arial" panose="020B0604020202020204" pitchFamily="34" charset="0"/>
              <a:buNone/>
            </a:pPr>
            <a:r>
              <a:rPr lang="en-US" altLang="en-US" sz="2500">
                <a:solidFill>
                  <a:schemeClr val="bg1"/>
                </a:solidFill>
                <a:sym typeface="+mn-ea"/>
              </a:rPr>
              <a:t>This project presents an AI-powered system for automated fruit and vegetable ripeness detection and post-harvest storage guidance using deep learning and computer vision techniques. The system classifies produce into Unripe, Ripe, and Overripe stages by analyzing visual features such as color, texture, and shape through a transfer learning–based CNN model using EfficientNetB0. An interactive web application built with Streamlit enables users to upload or capture images and receive real-time predictions with confidence scores. The proposed approach aims to reduce post-harvest losses by providing accurate ripeness assessment and suitable storage recommendations for farmers and vendors.</a:t>
            </a:r>
            <a:endParaRPr lang="en-US" altLang="en-US" sz="2500" b="0" i="0" u="none" strike="noStrike" cap="none">
              <a:solidFill>
                <a:schemeClr val="bg1"/>
              </a:solidFill>
              <a:latin typeface="Open Sans"/>
              <a:ea typeface="Open Sans"/>
              <a:cs typeface="Open Sans"/>
              <a:sym typeface="+mn-ea"/>
            </a:endParaRPr>
          </a:p>
        </p:txBody>
      </p:sp>
      <p:pic>
        <p:nvPicPr>
          <p:cNvPr id="107" name="Google Shape;107;p15" descr="image.png"/>
          <p:cNvPicPr preferRelativeResize="0"/>
          <p:nvPr/>
        </p:nvPicPr>
        <p:blipFill rotWithShape="1">
          <a:blip r:embed="rId4"/>
          <a:srcRect/>
          <a:stretch>
            <a:fillRect/>
          </a:stretch>
        </p:blipFill>
        <p:spPr>
          <a:xfrm>
            <a:off x="3490595" y="1044575"/>
            <a:ext cx="1005205" cy="737870"/>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102"/>
        <p:cNvGrpSpPr/>
        <p:nvPr/>
      </p:nvGrpSpPr>
      <p:grpSpPr>
        <a:xfrm>
          <a:off x="0" y="0"/>
          <a:ext cx="0" cy="0"/>
          <a:chOff x="0" y="0"/>
          <a:chExt cx="0" cy="0"/>
        </a:xfrm>
      </p:grpSpPr>
      <p:pic>
        <p:nvPicPr>
          <p:cNvPr id="103" name="Google Shape;103;p15"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105" name="Google Shape;105;p15" descr="image.png"/>
          <p:cNvPicPr preferRelativeResize="0"/>
          <p:nvPr/>
        </p:nvPicPr>
        <p:blipFill rotWithShape="1">
          <a:blip r:embed="rId4"/>
          <a:srcRect/>
          <a:stretch>
            <a:fillRect/>
          </a:stretch>
        </p:blipFill>
        <p:spPr>
          <a:xfrm>
            <a:off x="1555799" y="2181225"/>
            <a:ext cx="3492549" cy="3371850"/>
          </a:xfrm>
          <a:prstGeom prst="rect">
            <a:avLst/>
          </a:prstGeom>
          <a:noFill/>
          <a:ln>
            <a:noFill/>
          </a:ln>
        </p:spPr>
      </p:pic>
      <p:pic>
        <p:nvPicPr>
          <p:cNvPr id="106" name="Google Shape;106;p15" descr="image.png"/>
          <p:cNvPicPr preferRelativeResize="0"/>
          <p:nvPr/>
        </p:nvPicPr>
        <p:blipFill rotWithShape="1">
          <a:blip r:embed="rId5"/>
          <a:srcRect/>
          <a:stretch>
            <a:fillRect/>
          </a:stretch>
        </p:blipFill>
        <p:spPr>
          <a:xfrm>
            <a:off x="7137499" y="2181225"/>
            <a:ext cx="3492549" cy="3371850"/>
          </a:xfrm>
          <a:prstGeom prst="rect">
            <a:avLst/>
          </a:prstGeom>
          <a:noFill/>
          <a:ln>
            <a:noFill/>
          </a:ln>
        </p:spPr>
      </p:pic>
      <p:pic>
        <p:nvPicPr>
          <p:cNvPr id="110" name="Google Shape;110;p15" descr="image.png"/>
          <p:cNvPicPr preferRelativeResize="0"/>
          <p:nvPr/>
        </p:nvPicPr>
        <p:blipFill rotWithShape="1">
          <a:blip r:embed="rId6"/>
          <a:srcRect/>
          <a:stretch>
            <a:fillRect/>
          </a:stretch>
        </p:blipFill>
        <p:spPr>
          <a:xfrm>
            <a:off x="2953385" y="2476500"/>
            <a:ext cx="457200" cy="457200"/>
          </a:xfrm>
          <a:prstGeom prst="rect">
            <a:avLst/>
          </a:prstGeom>
          <a:noFill/>
          <a:ln>
            <a:noFill/>
          </a:ln>
        </p:spPr>
      </p:pic>
      <p:sp>
        <p:nvSpPr>
          <p:cNvPr id="111" name="Google Shape;111;p15"/>
          <p:cNvSpPr txBox="1"/>
          <p:nvPr/>
        </p:nvSpPr>
        <p:spPr>
          <a:xfrm>
            <a:off x="1850914" y="3314700"/>
            <a:ext cx="3047099"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DEFF9A"/>
                </a:solidFill>
                <a:latin typeface="Montserrat" panose="00000500000000000000"/>
                <a:ea typeface="Montserrat" panose="00000500000000000000"/>
                <a:cs typeface="Montserrat" panose="00000500000000000000"/>
                <a:sym typeface="Montserrat" panose="00000500000000000000"/>
              </a:rPr>
              <a:t>Core Objective</a:t>
            </a:r>
          </a:p>
        </p:txBody>
      </p:sp>
      <p:sp>
        <p:nvSpPr>
          <p:cNvPr id="112" name="Google Shape;112;p15"/>
          <p:cNvSpPr txBox="1"/>
          <p:nvPr/>
        </p:nvSpPr>
        <p:spPr>
          <a:xfrm>
            <a:off x="1851074" y="3816350"/>
            <a:ext cx="2901999" cy="11430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a:solidFill>
                  <a:schemeClr val="bg1"/>
                </a:solidFill>
                <a:latin typeface="Open Sans"/>
                <a:ea typeface="Open Sans"/>
                <a:cs typeface="Open Sans"/>
                <a:sym typeface="Open Sans"/>
              </a:rPr>
              <a:t>To develop a real-time detection tool utilizing EfficientNetB0 to minimize subjective human judgment in agriculture.</a:t>
            </a:r>
          </a:p>
        </p:txBody>
      </p:sp>
      <p:pic>
        <p:nvPicPr>
          <p:cNvPr id="113" name="Google Shape;113;p15" descr="image.png"/>
          <p:cNvPicPr preferRelativeResize="0"/>
          <p:nvPr/>
        </p:nvPicPr>
        <p:blipFill rotWithShape="1">
          <a:blip r:embed="rId7"/>
          <a:srcRect/>
          <a:stretch>
            <a:fillRect/>
          </a:stretch>
        </p:blipFill>
        <p:spPr>
          <a:xfrm>
            <a:off x="8655099" y="2476500"/>
            <a:ext cx="457200" cy="457200"/>
          </a:xfrm>
          <a:prstGeom prst="rect">
            <a:avLst/>
          </a:prstGeom>
          <a:noFill/>
          <a:ln>
            <a:noFill/>
          </a:ln>
        </p:spPr>
      </p:pic>
      <p:sp>
        <p:nvSpPr>
          <p:cNvPr id="114" name="Google Shape;114;p15"/>
          <p:cNvSpPr txBox="1"/>
          <p:nvPr/>
        </p:nvSpPr>
        <p:spPr>
          <a:xfrm>
            <a:off x="7137339" y="3314700"/>
            <a:ext cx="3047099"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DEFF9A"/>
                </a:solidFill>
                <a:latin typeface="Montserrat" panose="00000500000000000000"/>
                <a:ea typeface="Montserrat" panose="00000500000000000000"/>
                <a:cs typeface="Montserrat" panose="00000500000000000000"/>
                <a:sym typeface="Montserrat" panose="00000500000000000000"/>
              </a:rPr>
              <a:t>Loss Prevention</a:t>
            </a:r>
          </a:p>
        </p:txBody>
      </p:sp>
      <p:sp>
        <p:nvSpPr>
          <p:cNvPr id="115" name="Google Shape;115;p15"/>
          <p:cNvSpPr txBox="1"/>
          <p:nvPr/>
        </p:nvSpPr>
        <p:spPr>
          <a:xfrm>
            <a:off x="7432774" y="3892550"/>
            <a:ext cx="2901999" cy="11430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a:solidFill>
                  <a:schemeClr val="bg1"/>
                </a:solidFill>
                <a:latin typeface="Open Sans"/>
                <a:ea typeface="Open Sans"/>
                <a:cs typeface="Open Sans"/>
                <a:sym typeface="Open Sans"/>
              </a:rPr>
              <a:t>Reduce massive post-harvest losses by providing data-driven storage recommendations to farmers and vendors.</a:t>
            </a:r>
          </a:p>
        </p:txBody>
      </p:sp>
      <p:sp>
        <p:nvSpPr>
          <p:cNvPr id="116" name="Google Shape;116;p15"/>
          <p:cNvSpPr txBox="1"/>
          <p:nvPr/>
        </p:nvSpPr>
        <p:spPr>
          <a:xfrm>
            <a:off x="762000" y="571500"/>
            <a:ext cx="5970746"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FFCC"/>
                </a:solidFill>
                <a:latin typeface="Montserrat" panose="00000500000000000000"/>
                <a:ea typeface="Montserrat" panose="00000500000000000000"/>
                <a:cs typeface="Montserrat" panose="00000500000000000000"/>
                <a:sym typeface="Montserrat" panose="00000500000000000000"/>
              </a:rPr>
              <a:t>OVERVIEW &amp; OBJECTIVES</a:t>
            </a:r>
          </a:p>
        </p:txBody>
      </p:sp>
      <p:sp>
        <p:nvSpPr>
          <p:cNvPr id="117" name="Google Shape;117;p15"/>
          <p:cNvSpPr/>
          <p:nvPr/>
        </p:nvSpPr>
        <p:spPr>
          <a:xfrm>
            <a:off x="571500" y="571500"/>
            <a:ext cx="57150" cy="4953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121"/>
        <p:cNvGrpSpPr/>
        <p:nvPr/>
      </p:nvGrpSpPr>
      <p:grpSpPr>
        <a:xfrm>
          <a:off x="0" y="0"/>
          <a:ext cx="0" cy="0"/>
          <a:chOff x="0" y="0"/>
          <a:chExt cx="0" cy="0"/>
        </a:xfrm>
      </p:grpSpPr>
      <p:pic>
        <p:nvPicPr>
          <p:cNvPr id="122" name="Google Shape;122;p16" descr="image.png"/>
          <p:cNvPicPr preferRelativeResize="0"/>
          <p:nvPr/>
        </p:nvPicPr>
        <p:blipFill rotWithShape="1">
          <a:blip r:embed="rId4"/>
          <a:srcRect/>
          <a:stretch>
            <a:fillRect/>
          </a:stretch>
        </p:blipFill>
        <p:spPr>
          <a:xfrm>
            <a:off x="0" y="0"/>
            <a:ext cx="12192000" cy="6858000"/>
          </a:xfrm>
          <a:prstGeom prst="rect">
            <a:avLst/>
          </a:prstGeom>
          <a:noFill/>
          <a:ln>
            <a:noFill/>
          </a:ln>
        </p:spPr>
      </p:pic>
      <p:pic>
        <p:nvPicPr>
          <p:cNvPr id="123" name="Google Shape;123;p16" descr="image.png"/>
          <p:cNvPicPr preferRelativeResize="0"/>
          <p:nvPr/>
        </p:nvPicPr>
        <p:blipFill rotWithShape="1">
          <a:blip r:embed="rId5"/>
          <a:srcRect/>
          <a:stretch>
            <a:fillRect/>
          </a:stretch>
        </p:blipFill>
        <p:spPr>
          <a:xfrm>
            <a:off x="6334125" y="1962150"/>
            <a:ext cx="5286375" cy="3810000"/>
          </a:xfrm>
          <a:prstGeom prst="rect">
            <a:avLst/>
          </a:prstGeom>
          <a:noFill/>
          <a:ln>
            <a:noFill/>
          </a:ln>
        </p:spPr>
      </p:pic>
      <p:sp>
        <p:nvSpPr>
          <p:cNvPr id="124" name="Google Shape;124;p16"/>
          <p:cNvSpPr txBox="1"/>
          <p:nvPr/>
        </p:nvSpPr>
        <p:spPr>
          <a:xfrm>
            <a:off x="571500" y="1962150"/>
            <a:ext cx="5550693"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DEFF9A"/>
                </a:solidFill>
                <a:latin typeface="Montserrat" panose="00000500000000000000"/>
                <a:ea typeface="Montserrat" panose="00000500000000000000"/>
                <a:cs typeface="Montserrat" panose="00000500000000000000"/>
                <a:sym typeface="Montserrat" panose="00000500000000000000"/>
              </a:rPr>
              <a:t>Post-Harvest Challenges</a:t>
            </a:r>
          </a:p>
        </p:txBody>
      </p:sp>
      <p:pic>
        <p:nvPicPr>
          <p:cNvPr id="125" name="Google Shape;125;p16" descr="image.png"/>
          <p:cNvPicPr preferRelativeResize="0"/>
          <p:nvPr/>
        </p:nvPicPr>
        <p:blipFill rotWithShape="1">
          <a:blip r:embed="rId6"/>
          <a:srcRect/>
          <a:stretch>
            <a:fillRect/>
          </a:stretch>
        </p:blipFill>
        <p:spPr>
          <a:xfrm>
            <a:off x="6343650" y="1971675"/>
            <a:ext cx="5267325" cy="3790950"/>
          </a:xfrm>
          <a:prstGeom prst="rect">
            <a:avLst/>
          </a:prstGeom>
          <a:noFill/>
          <a:ln>
            <a:noFill/>
          </a:ln>
        </p:spPr>
      </p:pic>
      <p:sp>
        <p:nvSpPr>
          <p:cNvPr id="127" name="Google Shape;127;p16"/>
          <p:cNvSpPr txBox="1"/>
          <p:nvPr>
            <p:custDataLst>
              <p:tags r:id="rId1"/>
            </p:custDataLst>
          </p:nvPr>
        </p:nvSpPr>
        <p:spPr>
          <a:xfrm>
            <a:off x="606091" y="2308805"/>
            <a:ext cx="5251784" cy="3323590"/>
          </a:xfrm>
          <a:prstGeom prst="rect">
            <a:avLst/>
          </a:prstGeom>
          <a:noFill/>
          <a:ln>
            <a:noFill/>
          </a:ln>
        </p:spPr>
        <p:txBody>
          <a:bodyPr spcFirstLastPara="1" wrap="square" lIns="76200" tIns="0" rIns="0" bIns="0" anchor="t" anchorCtr="0">
            <a:spAutoFit/>
          </a:bodyPr>
          <a:lstStyle/>
          <a:p>
            <a:pPr marL="285750" marR="0" lvl="0" indent="-285750" algn="l" rtl="0">
              <a:lnSpc>
                <a:spcPct val="150000"/>
              </a:lnSpc>
              <a:spcBef>
                <a:spcPts val="0"/>
              </a:spcBef>
              <a:spcAft>
                <a:spcPts val="0"/>
              </a:spcAft>
              <a:buClr>
                <a:srgbClr val="FFFFFF"/>
              </a:buClr>
              <a:buFont typeface="Arial" panose="020B0604020202020204" pitchFamily="34" charset="0"/>
              <a:buChar char="•"/>
            </a:pPr>
            <a:r>
              <a:rPr lang="en-US" sz="1800" b="1" i="0" u="none" strike="noStrike" cap="none">
                <a:solidFill>
                  <a:schemeClr val="bg1"/>
                </a:solidFill>
                <a:latin typeface="Open Sans"/>
                <a:ea typeface="Open Sans"/>
                <a:cs typeface="Open Sans"/>
                <a:sym typeface="Open Sans"/>
              </a:rPr>
              <a:t>Annual Loss:</a:t>
            </a:r>
            <a:r>
              <a:rPr lang="en-US" sz="1800" b="0" i="0" u="none" strike="noStrike" cap="none">
                <a:solidFill>
                  <a:schemeClr val="bg1"/>
                </a:solidFill>
                <a:latin typeface="Open Sans"/>
                <a:ea typeface="Open Sans"/>
                <a:cs typeface="Open Sans"/>
                <a:sym typeface="Open Sans"/>
              </a:rPr>
              <a:t> Nearly ₹29,000 crore lost annually in India alone due to spoilagae.</a:t>
            </a:r>
          </a:p>
          <a:p>
            <a:pPr marL="285750" marR="0" lvl="0" indent="-285750" algn="l" rtl="0">
              <a:lnSpc>
                <a:spcPct val="150000"/>
              </a:lnSpc>
              <a:spcBef>
                <a:spcPts val="0"/>
              </a:spcBef>
              <a:spcAft>
                <a:spcPts val="0"/>
              </a:spcAft>
              <a:buClr>
                <a:srgbClr val="FFFFFF"/>
              </a:buClr>
              <a:buFont typeface="Arial" panose="020B0604020202020204" pitchFamily="34" charset="0"/>
              <a:buChar char="•"/>
            </a:pPr>
            <a:r>
              <a:rPr lang="en-US" sz="1800" b="1">
                <a:solidFill>
                  <a:schemeClr val="bg1"/>
                </a:solidFill>
                <a:latin typeface="Open Sans"/>
                <a:ea typeface="Open Sans"/>
                <a:cs typeface="Open Sans"/>
                <a:sym typeface="Open Sans"/>
              </a:rPr>
              <a:t>Manual Methods:</a:t>
            </a:r>
            <a:r>
              <a:rPr lang="en-US" sz="1800">
                <a:solidFill>
                  <a:schemeClr val="bg1"/>
                </a:solidFill>
                <a:latin typeface="Open Sans"/>
                <a:ea typeface="Open Sans"/>
                <a:cs typeface="Open Sans"/>
                <a:sym typeface="Open Sans"/>
              </a:rPr>
              <a:t> Traditional visual inspection is time-consuming and prone to 20% inaccuracy.</a:t>
            </a:r>
          </a:p>
          <a:p>
            <a:pPr marL="285750" marR="0" lvl="0" indent="-285750" algn="l" rtl="0">
              <a:lnSpc>
                <a:spcPct val="150000"/>
              </a:lnSpc>
              <a:spcBef>
                <a:spcPts val="0"/>
              </a:spcBef>
              <a:spcAft>
                <a:spcPts val="0"/>
              </a:spcAft>
              <a:buClr>
                <a:srgbClr val="FFFFFF"/>
              </a:buClr>
              <a:buFont typeface="Arial" panose="020B0604020202020204" pitchFamily="34" charset="0"/>
              <a:buChar char="•"/>
            </a:pPr>
            <a:r>
              <a:rPr lang="en-US" sz="1800" b="1">
                <a:solidFill>
                  <a:schemeClr val="bg1"/>
                </a:solidFill>
                <a:latin typeface="Open Sans"/>
                <a:ea typeface="Open Sans"/>
                <a:cs typeface="Open Sans"/>
                <a:sym typeface="Open Sans"/>
              </a:rPr>
              <a:t>Economic Impact:</a:t>
            </a:r>
            <a:r>
              <a:rPr lang="en-US" sz="1800">
                <a:solidFill>
                  <a:schemeClr val="bg1"/>
                </a:solidFill>
                <a:latin typeface="Open Sans"/>
                <a:ea typeface="Open Sans"/>
                <a:cs typeface="Open Sans"/>
                <a:sym typeface="Open Sans"/>
              </a:rPr>
              <a:t> Significant revenue drops for small-scale farmers due to improper storage.</a:t>
            </a:r>
            <a:endParaRPr lang="en-US" sz="1800" b="0" i="0" u="none" strike="noStrike" cap="none">
              <a:solidFill>
                <a:schemeClr val="bg1"/>
              </a:solidFill>
              <a:latin typeface="Open Sans"/>
              <a:ea typeface="Open Sans"/>
              <a:cs typeface="Open Sans"/>
              <a:sym typeface="Open Sans"/>
            </a:endParaRPr>
          </a:p>
        </p:txBody>
      </p:sp>
      <p:sp>
        <p:nvSpPr>
          <p:cNvPr id="132" name="Google Shape;132;p16"/>
          <p:cNvSpPr txBox="1"/>
          <p:nvPr/>
        </p:nvSpPr>
        <p:spPr>
          <a:xfrm>
            <a:off x="762000" y="571500"/>
            <a:ext cx="7760970"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FFCC"/>
                </a:solidFill>
                <a:latin typeface="Montserrat" panose="00000500000000000000"/>
                <a:ea typeface="Montserrat" panose="00000500000000000000"/>
                <a:cs typeface="Montserrat" panose="00000500000000000000"/>
                <a:sym typeface="Montserrat" panose="00000500000000000000"/>
              </a:rPr>
              <a:t>MOTIVATION: THE GLOBAL CRISIS</a:t>
            </a:r>
          </a:p>
        </p:txBody>
      </p:sp>
      <p:sp>
        <p:nvSpPr>
          <p:cNvPr id="133" name="Google Shape;133;p16"/>
          <p:cNvSpPr/>
          <p:nvPr/>
        </p:nvSpPr>
        <p:spPr>
          <a:xfrm>
            <a:off x="571500" y="571500"/>
            <a:ext cx="57150" cy="4953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137"/>
        <p:cNvGrpSpPr/>
        <p:nvPr/>
      </p:nvGrpSpPr>
      <p:grpSpPr>
        <a:xfrm>
          <a:off x="0" y="0"/>
          <a:ext cx="0" cy="0"/>
          <a:chOff x="0" y="0"/>
          <a:chExt cx="0" cy="0"/>
        </a:xfrm>
      </p:grpSpPr>
      <p:pic>
        <p:nvPicPr>
          <p:cNvPr id="138" name="Google Shape;138;p17"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139" name="Google Shape;139;p17" descr="image.png"/>
          <p:cNvPicPr preferRelativeResize="0"/>
          <p:nvPr/>
        </p:nvPicPr>
        <p:blipFill rotWithShape="1">
          <a:blip r:embed="rId4"/>
          <a:srcRect/>
          <a:stretch>
            <a:fillRect/>
          </a:stretch>
        </p:blipFill>
        <p:spPr>
          <a:xfrm>
            <a:off x="628650" y="1585595"/>
            <a:ext cx="11049000" cy="3333750"/>
          </a:xfrm>
          <a:prstGeom prst="rect">
            <a:avLst/>
          </a:prstGeom>
          <a:noFill/>
          <a:ln>
            <a:noFill/>
          </a:ln>
        </p:spPr>
      </p:pic>
      <p:sp>
        <p:nvSpPr>
          <p:cNvPr id="140" name="Google Shape;140;p17"/>
          <p:cNvSpPr txBox="1"/>
          <p:nvPr/>
        </p:nvSpPr>
        <p:spPr>
          <a:xfrm>
            <a:off x="571500" y="5438775"/>
            <a:ext cx="11049000" cy="41529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b="0" i="1" u="none" strike="noStrike" cap="none">
                <a:solidFill>
                  <a:schemeClr val="bg1"/>
                </a:solidFill>
                <a:latin typeface="Times New Roman" panose="02020603050405020304" charset="0"/>
                <a:ea typeface="Open Sans"/>
                <a:cs typeface="Times New Roman" panose="02020603050405020304" charset="0"/>
                <a:sym typeface="Open Sans"/>
              </a:rPr>
              <a:t>Percentages normalized to 100% group share (Data Source: 2020-2024 Tropical Agriculture region stats).</a:t>
            </a:r>
          </a:p>
        </p:txBody>
      </p:sp>
      <p:sp>
        <p:nvSpPr>
          <p:cNvPr id="141" name="Google Shape;141;p17"/>
          <p:cNvSpPr txBox="1"/>
          <p:nvPr/>
        </p:nvSpPr>
        <p:spPr>
          <a:xfrm>
            <a:off x="7708900" y="2519997"/>
            <a:ext cx="1428750" cy="223837"/>
          </a:xfrm>
          <a:prstGeom prst="rect">
            <a:avLst/>
          </a:prstGeom>
          <a:noFill/>
          <a:ln>
            <a:noFill/>
          </a:ln>
        </p:spPr>
        <p:txBody>
          <a:bodyPr spcFirstLastPara="1" wrap="square" lIns="0" tIns="0" rIns="0" bIns="0" anchor="ctr" anchorCtr="0">
            <a:spAutoFit/>
          </a:bodyPr>
          <a:lstStyle/>
          <a:p>
            <a:pPr marL="0" marR="0" lvl="0" indent="0" algn="l" rtl="0">
              <a:lnSpc>
                <a:spcPct val="150000"/>
              </a:lnSpc>
              <a:spcBef>
                <a:spcPts val="0"/>
              </a:spcBef>
              <a:spcAft>
                <a:spcPts val="0"/>
              </a:spcAft>
              <a:buNone/>
            </a:pPr>
            <a:r>
              <a:rPr lang="en-US" sz="1350" b="0" i="0" u="none" strike="noStrike" cap="none">
                <a:solidFill>
                  <a:schemeClr val="bg1"/>
                </a:solidFill>
                <a:latin typeface="Open Sans"/>
                <a:ea typeface="Open Sans"/>
                <a:cs typeface="Open Sans"/>
                <a:sym typeface="Open Sans"/>
              </a:rPr>
              <a:t>Tomato (24%)</a:t>
            </a:r>
          </a:p>
        </p:txBody>
      </p:sp>
      <p:sp>
        <p:nvSpPr>
          <p:cNvPr id="142" name="Google Shape;142;p17"/>
          <p:cNvSpPr txBox="1"/>
          <p:nvPr/>
        </p:nvSpPr>
        <p:spPr>
          <a:xfrm>
            <a:off x="7708900" y="2920047"/>
            <a:ext cx="1428750" cy="223837"/>
          </a:xfrm>
          <a:prstGeom prst="rect">
            <a:avLst/>
          </a:prstGeom>
          <a:noFill/>
          <a:ln>
            <a:noFill/>
          </a:ln>
        </p:spPr>
        <p:txBody>
          <a:bodyPr spcFirstLastPara="1" wrap="square" lIns="0" tIns="0" rIns="0" bIns="0" anchor="ctr" anchorCtr="0">
            <a:spAutoFit/>
          </a:bodyPr>
          <a:lstStyle/>
          <a:p>
            <a:pPr marL="0" marR="0" lvl="0" indent="0" algn="l" rtl="0">
              <a:lnSpc>
                <a:spcPct val="150000"/>
              </a:lnSpc>
              <a:spcBef>
                <a:spcPts val="0"/>
              </a:spcBef>
              <a:spcAft>
                <a:spcPts val="0"/>
              </a:spcAft>
              <a:buNone/>
            </a:pPr>
            <a:r>
              <a:rPr lang="en-US" sz="1350" b="0" i="0" u="none" strike="noStrike" cap="none">
                <a:solidFill>
                  <a:schemeClr val="bg1"/>
                </a:solidFill>
                <a:latin typeface="Open Sans"/>
                <a:ea typeface="Open Sans"/>
                <a:cs typeface="Open Sans"/>
                <a:sym typeface="Open Sans"/>
              </a:rPr>
              <a:t>Apple (22%)</a:t>
            </a:r>
          </a:p>
        </p:txBody>
      </p:sp>
      <p:sp>
        <p:nvSpPr>
          <p:cNvPr id="143" name="Google Shape;143;p17"/>
          <p:cNvSpPr txBox="1"/>
          <p:nvPr/>
        </p:nvSpPr>
        <p:spPr>
          <a:xfrm>
            <a:off x="7708900" y="3320097"/>
            <a:ext cx="1428750" cy="223837"/>
          </a:xfrm>
          <a:prstGeom prst="rect">
            <a:avLst/>
          </a:prstGeom>
          <a:noFill/>
          <a:ln>
            <a:noFill/>
          </a:ln>
        </p:spPr>
        <p:txBody>
          <a:bodyPr spcFirstLastPara="1" wrap="square" lIns="0" tIns="0" rIns="0" bIns="0" anchor="ctr" anchorCtr="0">
            <a:spAutoFit/>
          </a:bodyPr>
          <a:lstStyle/>
          <a:p>
            <a:pPr marL="0" marR="0" lvl="0" indent="0" algn="l" rtl="0">
              <a:lnSpc>
                <a:spcPct val="150000"/>
              </a:lnSpc>
              <a:spcBef>
                <a:spcPts val="0"/>
              </a:spcBef>
              <a:spcAft>
                <a:spcPts val="0"/>
              </a:spcAft>
              <a:buNone/>
            </a:pPr>
            <a:r>
              <a:rPr lang="en-US" sz="1350" b="0" i="0" u="none" strike="noStrike" cap="none">
                <a:solidFill>
                  <a:schemeClr val="bg1"/>
                </a:solidFill>
                <a:latin typeface="Open Sans"/>
                <a:ea typeface="Open Sans"/>
                <a:cs typeface="Open Sans"/>
                <a:sym typeface="Open Sans"/>
              </a:rPr>
              <a:t>Mango (20%)</a:t>
            </a:r>
          </a:p>
        </p:txBody>
      </p:sp>
      <p:sp>
        <p:nvSpPr>
          <p:cNvPr id="144" name="Google Shape;144;p17"/>
          <p:cNvSpPr txBox="1"/>
          <p:nvPr/>
        </p:nvSpPr>
        <p:spPr>
          <a:xfrm>
            <a:off x="7708900" y="3720147"/>
            <a:ext cx="1428750" cy="223837"/>
          </a:xfrm>
          <a:prstGeom prst="rect">
            <a:avLst/>
          </a:prstGeom>
          <a:noFill/>
          <a:ln>
            <a:noFill/>
          </a:ln>
        </p:spPr>
        <p:txBody>
          <a:bodyPr spcFirstLastPara="1" wrap="square" lIns="0" tIns="0" rIns="0" bIns="0" anchor="ctr" anchorCtr="0">
            <a:spAutoFit/>
          </a:bodyPr>
          <a:lstStyle/>
          <a:p>
            <a:pPr marL="0" marR="0" lvl="0" indent="0" algn="l" rtl="0">
              <a:lnSpc>
                <a:spcPct val="150000"/>
              </a:lnSpc>
              <a:spcBef>
                <a:spcPts val="0"/>
              </a:spcBef>
              <a:spcAft>
                <a:spcPts val="0"/>
              </a:spcAft>
              <a:buNone/>
            </a:pPr>
            <a:r>
              <a:rPr lang="en-US" sz="1350" b="0" i="0" u="none" strike="noStrike" cap="none">
                <a:solidFill>
                  <a:schemeClr val="bg1"/>
                </a:solidFill>
                <a:latin typeface="Open Sans"/>
                <a:ea typeface="Open Sans"/>
                <a:cs typeface="Open Sans"/>
                <a:sym typeface="Open Sans"/>
              </a:rPr>
              <a:t>Orange (20%)</a:t>
            </a:r>
          </a:p>
        </p:txBody>
      </p:sp>
      <p:sp>
        <p:nvSpPr>
          <p:cNvPr id="145" name="Google Shape;145;p17"/>
          <p:cNvSpPr txBox="1"/>
          <p:nvPr/>
        </p:nvSpPr>
        <p:spPr>
          <a:xfrm>
            <a:off x="7708900" y="4120197"/>
            <a:ext cx="1428750" cy="223837"/>
          </a:xfrm>
          <a:prstGeom prst="rect">
            <a:avLst/>
          </a:prstGeom>
          <a:noFill/>
          <a:ln>
            <a:noFill/>
          </a:ln>
        </p:spPr>
        <p:txBody>
          <a:bodyPr spcFirstLastPara="1" wrap="square" lIns="0" tIns="0" rIns="0" bIns="0" anchor="ctr" anchorCtr="0">
            <a:spAutoFit/>
          </a:bodyPr>
          <a:lstStyle/>
          <a:p>
            <a:pPr marL="0" marR="0" lvl="0" indent="0" algn="l" rtl="0">
              <a:lnSpc>
                <a:spcPct val="150000"/>
              </a:lnSpc>
              <a:spcBef>
                <a:spcPts val="0"/>
              </a:spcBef>
              <a:spcAft>
                <a:spcPts val="0"/>
              </a:spcAft>
              <a:buNone/>
            </a:pPr>
            <a:r>
              <a:rPr lang="en-US" sz="1350" b="0" i="0" u="none" strike="noStrike" cap="none">
                <a:solidFill>
                  <a:schemeClr val="bg1"/>
                </a:solidFill>
                <a:latin typeface="Open Sans"/>
                <a:ea typeface="Open Sans"/>
                <a:cs typeface="Open Sans"/>
                <a:sym typeface="Open Sans"/>
              </a:rPr>
              <a:t>Banana (14%)</a:t>
            </a:r>
          </a:p>
        </p:txBody>
      </p:sp>
      <p:sp>
        <p:nvSpPr>
          <p:cNvPr id="146" name="Google Shape;146;p17"/>
          <p:cNvSpPr/>
          <p:nvPr/>
        </p:nvSpPr>
        <p:spPr>
          <a:xfrm>
            <a:off x="7429500" y="2519362"/>
            <a:ext cx="190500" cy="190500"/>
          </a:xfrm>
          <a:prstGeom prst="roundRect">
            <a:avLst>
              <a:gd name="adj" fmla="val 20000"/>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47" name="Google Shape;147;p17"/>
          <p:cNvSpPr/>
          <p:nvPr/>
        </p:nvSpPr>
        <p:spPr>
          <a:xfrm>
            <a:off x="7429500" y="2919412"/>
            <a:ext cx="190500" cy="190500"/>
          </a:xfrm>
          <a:prstGeom prst="roundRect">
            <a:avLst>
              <a:gd name="adj" fmla="val 20000"/>
            </a:avLst>
          </a:prstGeom>
          <a:solidFill>
            <a:srgbClr val="00FFC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48" name="Google Shape;148;p17"/>
          <p:cNvSpPr/>
          <p:nvPr/>
        </p:nvSpPr>
        <p:spPr>
          <a:xfrm>
            <a:off x="7429500" y="3319462"/>
            <a:ext cx="190500" cy="190500"/>
          </a:xfrm>
          <a:prstGeom prst="roundRect">
            <a:avLst>
              <a:gd name="adj" fmla="val 20000"/>
            </a:avLst>
          </a:prstGeom>
          <a:solidFill>
            <a:srgbClr val="FF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49" name="Google Shape;149;p17"/>
          <p:cNvSpPr/>
          <p:nvPr/>
        </p:nvSpPr>
        <p:spPr>
          <a:xfrm>
            <a:off x="7429500" y="3719512"/>
            <a:ext cx="190500" cy="190500"/>
          </a:xfrm>
          <a:prstGeom prst="roundRect">
            <a:avLst>
              <a:gd name="adj" fmla="val 20000"/>
            </a:avLst>
          </a:prstGeom>
          <a:solidFill>
            <a:srgbClr val="FFA5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50" name="Google Shape;150;p17"/>
          <p:cNvSpPr/>
          <p:nvPr/>
        </p:nvSpPr>
        <p:spPr>
          <a:xfrm>
            <a:off x="7429500" y="4119562"/>
            <a:ext cx="190500" cy="190500"/>
          </a:xfrm>
          <a:prstGeom prst="roundRect">
            <a:avLst>
              <a:gd name="adj" fmla="val 20000"/>
            </a:avLst>
          </a:prstGeom>
          <a:solidFill>
            <a:srgbClr val="80808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51" name="Google Shape;151;p17"/>
          <p:cNvSpPr txBox="1"/>
          <p:nvPr/>
        </p:nvSpPr>
        <p:spPr>
          <a:xfrm>
            <a:off x="762000" y="571500"/>
            <a:ext cx="7960995"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FFCC"/>
                </a:solidFill>
                <a:latin typeface="Montserrat" panose="00000500000000000000"/>
                <a:ea typeface="Montserrat" panose="00000500000000000000"/>
                <a:cs typeface="Montserrat" panose="00000500000000000000"/>
                <a:sym typeface="Montserrat" panose="00000500000000000000"/>
              </a:rPr>
              <a:t>FRUIT LOSS DISTRIBUTION (INDIA)</a:t>
            </a:r>
          </a:p>
        </p:txBody>
      </p:sp>
      <p:sp>
        <p:nvSpPr>
          <p:cNvPr id="152" name="Google Shape;152;p17"/>
          <p:cNvSpPr/>
          <p:nvPr/>
        </p:nvSpPr>
        <p:spPr>
          <a:xfrm>
            <a:off x="571500" y="571500"/>
            <a:ext cx="57150" cy="4953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156"/>
        <p:cNvGrpSpPr/>
        <p:nvPr/>
      </p:nvGrpSpPr>
      <p:grpSpPr>
        <a:xfrm>
          <a:off x="0" y="0"/>
          <a:ext cx="0" cy="0"/>
          <a:chOff x="0" y="0"/>
          <a:chExt cx="0" cy="0"/>
        </a:xfrm>
      </p:grpSpPr>
      <p:pic>
        <p:nvPicPr>
          <p:cNvPr id="157" name="Google Shape;157;p18" descr="image.png"/>
          <p:cNvPicPr preferRelativeResize="0"/>
          <p:nvPr/>
        </p:nvPicPr>
        <p:blipFill rotWithShape="1">
          <a:blip r:embed="rId4"/>
          <a:srcRect/>
          <a:stretch>
            <a:fillRect/>
          </a:stretch>
        </p:blipFill>
        <p:spPr>
          <a:xfrm>
            <a:off x="0" y="0"/>
            <a:ext cx="12192000" cy="6858000"/>
          </a:xfrm>
          <a:prstGeom prst="rect">
            <a:avLst/>
          </a:prstGeom>
          <a:noFill/>
          <a:ln>
            <a:noFill/>
          </a:ln>
        </p:spPr>
      </p:pic>
      <p:graphicFrame>
        <p:nvGraphicFramePr>
          <p:cNvPr id="158" name="Google Shape;158;p18"/>
          <p:cNvGraphicFramePr/>
          <p:nvPr>
            <p:custDataLst>
              <p:tags r:id="rId1"/>
            </p:custDataLst>
          </p:nvPr>
        </p:nvGraphicFramePr>
        <p:xfrm>
          <a:off x="570865" y="1682750"/>
          <a:ext cx="11050270" cy="3924300"/>
        </p:xfrm>
        <a:graphic>
          <a:graphicData uri="http://schemas.openxmlformats.org/drawingml/2006/table">
            <a:tbl>
              <a:tblPr firstRow="1" bandRow="1">
                <a:noFill/>
                <a:tableStyleId>{D03447BB-5D67-496B-8E87-E561075AD55C}</a:tableStyleId>
              </a:tblPr>
              <a:tblGrid>
                <a:gridCol w="1880870">
                  <a:extLst>
                    <a:ext uri="{9D8B030D-6E8A-4147-A177-3AD203B41FA5}">
                      <a16:colId xmlns:a16="http://schemas.microsoft.com/office/drawing/2014/main" val="20000"/>
                    </a:ext>
                  </a:extLst>
                </a:gridCol>
                <a:gridCol w="2687320">
                  <a:extLst>
                    <a:ext uri="{9D8B030D-6E8A-4147-A177-3AD203B41FA5}">
                      <a16:colId xmlns:a16="http://schemas.microsoft.com/office/drawing/2014/main" val="20001"/>
                    </a:ext>
                  </a:extLst>
                </a:gridCol>
                <a:gridCol w="3794125">
                  <a:extLst>
                    <a:ext uri="{9D8B030D-6E8A-4147-A177-3AD203B41FA5}">
                      <a16:colId xmlns:a16="http://schemas.microsoft.com/office/drawing/2014/main" val="20002"/>
                    </a:ext>
                  </a:extLst>
                </a:gridCol>
                <a:gridCol w="2687955">
                  <a:extLst>
                    <a:ext uri="{9D8B030D-6E8A-4147-A177-3AD203B41FA5}">
                      <a16:colId xmlns:a16="http://schemas.microsoft.com/office/drawing/2014/main" val="20003"/>
                    </a:ext>
                  </a:extLst>
                </a:gridCol>
              </a:tblGrid>
              <a:tr h="784860">
                <a:tc>
                  <a:txBody>
                    <a:bodyPr/>
                    <a:lstStyle/>
                    <a:p>
                      <a:pPr marL="0" marR="0" lvl="0" indent="0" algn="l" rtl="0">
                        <a:spcBef>
                          <a:spcPts val="0"/>
                        </a:spcBef>
                        <a:spcAft>
                          <a:spcPts val="0"/>
                        </a:spcAft>
                        <a:buNone/>
                      </a:pPr>
                      <a:r>
                        <a:rPr lang="en-US" sz="2000" u="none" strike="noStrike" cap="none"/>
                        <a:t>Model Family</a:t>
                      </a:r>
                    </a:p>
                  </a:txBody>
                  <a:tcPr marL="63500" marR="63500" marT="25400" marB="25400" anchor="ctr"/>
                </a:tc>
                <a:tc>
                  <a:txBody>
                    <a:bodyPr/>
                    <a:lstStyle/>
                    <a:p>
                      <a:pPr marL="0" marR="0" lvl="0" indent="0" algn="l" rtl="0">
                        <a:spcBef>
                          <a:spcPts val="0"/>
                        </a:spcBef>
                        <a:spcAft>
                          <a:spcPts val="0"/>
                        </a:spcAft>
                        <a:buNone/>
                      </a:pPr>
                      <a:r>
                        <a:rPr lang="en-US" sz="2000" u="none" strike="noStrike" cap="none"/>
                        <a:t>Implementation Type</a:t>
                      </a:r>
                    </a:p>
                  </a:txBody>
                  <a:tcPr marL="63500" marR="63500" marT="25400" marB="25400" anchor="ctr"/>
                </a:tc>
                <a:tc>
                  <a:txBody>
                    <a:bodyPr/>
                    <a:lstStyle/>
                    <a:p>
                      <a:pPr marL="0" marR="0" lvl="0" indent="0" algn="l" rtl="0">
                        <a:spcBef>
                          <a:spcPts val="0"/>
                        </a:spcBef>
                        <a:spcAft>
                          <a:spcPts val="0"/>
                        </a:spcAft>
                        <a:buNone/>
                      </a:pPr>
                      <a:r>
                        <a:rPr lang="en-US" sz="2000" u="none" strike="noStrike" cap="none"/>
                        <a:t>Advantages</a:t>
                      </a:r>
                    </a:p>
                  </a:txBody>
                  <a:tcPr marL="63500" marR="63500" marT="25400" marB="25400" anchor="ctr"/>
                </a:tc>
                <a:tc>
                  <a:txBody>
                    <a:bodyPr/>
                    <a:lstStyle/>
                    <a:p>
                      <a:pPr marL="0" marR="0" lvl="0" indent="0" algn="l" rtl="0">
                        <a:spcBef>
                          <a:spcPts val="0"/>
                        </a:spcBef>
                        <a:spcAft>
                          <a:spcPts val="0"/>
                        </a:spcAft>
                        <a:buNone/>
                      </a:pPr>
                      <a:r>
                        <a:rPr lang="en-US" sz="2000" u="none" strike="noStrike" cap="none"/>
                        <a:t>Trade-offs</a:t>
                      </a:r>
                    </a:p>
                  </a:txBody>
                  <a:tcPr marL="63500" marR="63500" marT="25400" marB="25400" anchor="ctr"/>
                </a:tc>
                <a:extLst>
                  <a:ext uri="{0D108BD9-81ED-4DB2-BD59-A6C34878D82A}">
                    <a16:rowId xmlns:a16="http://schemas.microsoft.com/office/drawing/2014/main" val="10000"/>
                  </a:ext>
                </a:extLst>
              </a:tr>
              <a:tr h="784860">
                <a:tc>
                  <a:txBody>
                    <a:bodyPr/>
                    <a:lstStyle/>
                    <a:p>
                      <a:pPr marL="0" marR="0" lvl="0" indent="0" algn="l" rtl="0">
                        <a:spcBef>
                          <a:spcPts val="0"/>
                        </a:spcBef>
                        <a:spcAft>
                          <a:spcPts val="0"/>
                        </a:spcAft>
                        <a:buNone/>
                      </a:pPr>
                      <a:r>
                        <a:rPr lang="en-US" sz="1600" u="none" strike="noStrike" cap="none"/>
                        <a:t>YOLO Series (v5,v8)</a:t>
                      </a:r>
                    </a:p>
                  </a:txBody>
                  <a:tcPr marL="63500" marR="63500" marT="25400" marB="25400" anchor="ctr"/>
                </a:tc>
                <a:tc>
                  <a:txBody>
                    <a:bodyPr/>
                    <a:lstStyle/>
                    <a:p>
                      <a:pPr marL="0" marR="0" lvl="0" indent="0" algn="l" rtl="0">
                        <a:spcBef>
                          <a:spcPts val="0"/>
                        </a:spcBef>
                        <a:spcAft>
                          <a:spcPts val="0"/>
                        </a:spcAft>
                        <a:buNone/>
                      </a:pPr>
                      <a:r>
                        <a:rPr lang="en-US" sz="1600" u="none" strike="noStrike" cap="none"/>
                        <a:t>Single-Stage Object Detection</a:t>
                      </a:r>
                    </a:p>
                  </a:txBody>
                  <a:tcPr marL="63500" marR="63500" marT="25400" marB="25400" anchor="ctr"/>
                </a:tc>
                <a:tc>
                  <a:txBody>
                    <a:bodyPr/>
                    <a:lstStyle/>
                    <a:p>
                      <a:pPr marL="0" marR="0" lvl="0" indent="0" algn="l" rtl="0">
                        <a:spcBef>
                          <a:spcPts val="0"/>
                        </a:spcBef>
                        <a:spcAft>
                          <a:spcPts val="0"/>
                        </a:spcAft>
                        <a:buNone/>
                      </a:pPr>
                      <a:r>
                        <a:rPr lang="en-US" sz="1600" u="none" strike="noStrike" cap="none"/>
                        <a:t>High speed, real-time bounding boxes</a:t>
                      </a:r>
                    </a:p>
                  </a:txBody>
                  <a:tcPr marL="63500" marR="63500" marT="25400" marB="25400" anchor="ctr"/>
                </a:tc>
                <a:tc>
                  <a:txBody>
                    <a:bodyPr/>
                    <a:lstStyle/>
                    <a:p>
                      <a:pPr marL="0" marR="0" lvl="0" indent="0" algn="l" rtl="0">
                        <a:spcBef>
                          <a:spcPts val="0"/>
                        </a:spcBef>
                        <a:spcAft>
                          <a:spcPts val="0"/>
                        </a:spcAft>
                        <a:buNone/>
                      </a:pPr>
                      <a:r>
                        <a:rPr lang="en-US" sz="1600" u="none" strike="noStrike" cap="none"/>
                        <a:t>High computational demand</a:t>
                      </a:r>
                    </a:p>
                  </a:txBody>
                  <a:tcPr marL="63500" marR="63500" marT="25400" marB="25400" anchor="ctr"/>
                </a:tc>
                <a:extLst>
                  <a:ext uri="{0D108BD9-81ED-4DB2-BD59-A6C34878D82A}">
                    <a16:rowId xmlns:a16="http://schemas.microsoft.com/office/drawing/2014/main" val="10001"/>
                  </a:ext>
                </a:extLst>
              </a:tr>
              <a:tr h="784860">
                <a:tc>
                  <a:txBody>
                    <a:bodyPr/>
                    <a:lstStyle/>
                    <a:p>
                      <a:pPr marL="0" marR="0" lvl="0" indent="0" algn="l" rtl="0">
                        <a:spcBef>
                          <a:spcPts val="0"/>
                        </a:spcBef>
                        <a:spcAft>
                          <a:spcPts val="0"/>
                        </a:spcAft>
                        <a:buNone/>
                      </a:pPr>
                      <a:r>
                        <a:rPr lang="en-US" sz="1600" u="none" strike="noStrike" cap="none"/>
                        <a:t>SSD-MobileNetV1</a:t>
                      </a:r>
                    </a:p>
                  </a:txBody>
                  <a:tcPr marL="63500" marR="63500" marT="25400" marB="25400" anchor="ctr"/>
                </a:tc>
                <a:tc>
                  <a:txBody>
                    <a:bodyPr/>
                    <a:lstStyle/>
                    <a:p>
                      <a:pPr marL="0" marR="0" lvl="0" indent="0" algn="l" rtl="0">
                        <a:spcBef>
                          <a:spcPts val="0"/>
                        </a:spcBef>
                        <a:spcAft>
                          <a:spcPts val="0"/>
                        </a:spcAft>
                        <a:buNone/>
                      </a:pPr>
                      <a:r>
                        <a:rPr lang="en-US" sz="1600" u="none" strike="noStrike" cap="none"/>
                        <a:t>Lightweight Backbone</a:t>
                      </a:r>
                    </a:p>
                  </a:txBody>
                  <a:tcPr marL="63500" marR="63500" marT="25400" marB="25400" anchor="ctr"/>
                </a:tc>
                <a:tc>
                  <a:txBody>
                    <a:bodyPr/>
                    <a:lstStyle/>
                    <a:p>
                      <a:pPr marL="0" marR="0" lvl="0" indent="0" algn="l" rtl="0">
                        <a:spcBef>
                          <a:spcPts val="0"/>
                        </a:spcBef>
                        <a:spcAft>
                          <a:spcPts val="0"/>
                        </a:spcAft>
                        <a:buNone/>
                      </a:pPr>
                      <a:r>
                        <a:rPr lang="en-US" sz="1600" u="none" strike="noStrike" cap="none"/>
                        <a:t>Fastest inference (102 FPS)</a:t>
                      </a:r>
                    </a:p>
                  </a:txBody>
                  <a:tcPr marL="63500" marR="63500" marT="25400" marB="25400" anchor="ctr"/>
                </a:tc>
                <a:tc>
                  <a:txBody>
                    <a:bodyPr/>
                    <a:lstStyle/>
                    <a:p>
                      <a:pPr marL="0" marR="0" lvl="0" indent="0" algn="l" rtl="0">
                        <a:spcBef>
                          <a:spcPts val="0"/>
                        </a:spcBef>
                        <a:spcAft>
                          <a:spcPts val="0"/>
                        </a:spcAft>
                        <a:buNone/>
                      </a:pPr>
                      <a:r>
                        <a:rPr lang="en-US" sz="1600" u="none" strike="noStrike" cap="none"/>
                        <a:t>Significant mAP drop (71.7%)</a:t>
                      </a:r>
                    </a:p>
                  </a:txBody>
                  <a:tcPr marL="63500" marR="63500" marT="25400" marB="25400" anchor="ctr"/>
                </a:tc>
                <a:extLst>
                  <a:ext uri="{0D108BD9-81ED-4DB2-BD59-A6C34878D82A}">
                    <a16:rowId xmlns:a16="http://schemas.microsoft.com/office/drawing/2014/main" val="10002"/>
                  </a:ext>
                </a:extLst>
              </a:tr>
              <a:tr h="784860">
                <a:tc>
                  <a:txBody>
                    <a:bodyPr/>
                    <a:lstStyle/>
                    <a:p>
                      <a:pPr marL="0" marR="0" lvl="0" indent="0" algn="l" rtl="0">
                        <a:spcBef>
                          <a:spcPts val="0"/>
                        </a:spcBef>
                        <a:spcAft>
                          <a:spcPts val="0"/>
                        </a:spcAft>
                        <a:buNone/>
                      </a:pPr>
                      <a:r>
                        <a:rPr lang="en-US" sz="1600" u="none" strike="noStrike" cap="none"/>
                        <a:t>Transformer-based</a:t>
                      </a:r>
                    </a:p>
                  </a:txBody>
                  <a:tcPr marL="63500" marR="63500" marT="25400" marB="25400" anchor="ctr"/>
                </a:tc>
                <a:tc>
                  <a:txBody>
                    <a:bodyPr/>
                    <a:lstStyle/>
                    <a:p>
                      <a:pPr marL="0" marR="0" lvl="0" indent="0" algn="l" rtl="0">
                        <a:spcBef>
                          <a:spcPts val="0"/>
                        </a:spcBef>
                        <a:spcAft>
                          <a:spcPts val="0"/>
                        </a:spcAft>
                        <a:buNone/>
                      </a:pPr>
                      <a:r>
                        <a:rPr lang="en-US" sz="1600" u="none" strike="noStrike" cap="none"/>
                        <a:t>Attention-based Vision</a:t>
                      </a:r>
                    </a:p>
                  </a:txBody>
                  <a:tcPr marL="63500" marR="63500" marT="25400" marB="25400" anchor="ctr"/>
                </a:tc>
                <a:tc>
                  <a:txBody>
                    <a:bodyPr/>
                    <a:lstStyle/>
                    <a:p>
                      <a:pPr marL="0" marR="0" lvl="0" indent="0" algn="l" rtl="0">
                        <a:spcBef>
                          <a:spcPts val="0"/>
                        </a:spcBef>
                        <a:spcAft>
                          <a:spcPts val="0"/>
                        </a:spcAft>
                        <a:buNone/>
                      </a:pPr>
                      <a:r>
                        <a:rPr lang="en-US" sz="1600" u="none" strike="noStrike" cap="none"/>
                        <a:t>Excellent global context</a:t>
                      </a:r>
                    </a:p>
                  </a:txBody>
                  <a:tcPr marL="63500" marR="63500" marT="25400" marB="25400" anchor="ctr"/>
                </a:tc>
                <a:tc>
                  <a:txBody>
                    <a:bodyPr/>
                    <a:lstStyle/>
                    <a:p>
                      <a:pPr marL="0" marR="0" lvl="0" indent="0" algn="l" rtl="0">
                        <a:spcBef>
                          <a:spcPts val="0"/>
                        </a:spcBef>
                        <a:spcAft>
                          <a:spcPts val="0"/>
                        </a:spcAft>
                        <a:buNone/>
                      </a:pPr>
                      <a:r>
                        <a:rPr lang="en-US" sz="1600" u="none" strike="noStrike" cap="none"/>
                        <a:t>Heavy resource consumption</a:t>
                      </a:r>
                    </a:p>
                  </a:txBody>
                  <a:tcPr marL="63500" marR="63500" marT="25400" marB="25400" anchor="ctr"/>
                </a:tc>
                <a:extLst>
                  <a:ext uri="{0D108BD9-81ED-4DB2-BD59-A6C34878D82A}">
                    <a16:rowId xmlns:a16="http://schemas.microsoft.com/office/drawing/2014/main" val="10003"/>
                  </a:ext>
                </a:extLst>
              </a:tr>
              <a:tr h="784860">
                <a:tc>
                  <a:txBody>
                    <a:bodyPr/>
                    <a:lstStyle/>
                    <a:p>
                      <a:pPr marL="0" marR="0" lvl="0" indent="0" algn="l" rtl="0">
                        <a:spcBef>
                          <a:spcPts val="0"/>
                        </a:spcBef>
                        <a:spcAft>
                          <a:spcPts val="0"/>
                        </a:spcAft>
                        <a:buNone/>
                      </a:pPr>
                      <a:r>
                        <a:rPr lang="en-US" sz="1600" u="none" strike="noStrike" cap="none"/>
                        <a:t>EfficientNetB0</a:t>
                      </a:r>
                    </a:p>
                  </a:txBody>
                  <a:tcPr marL="63500" marR="63500" marT="25400" marB="25400" anchor="ctr"/>
                </a:tc>
                <a:tc>
                  <a:txBody>
                    <a:bodyPr/>
                    <a:lstStyle/>
                    <a:p>
                      <a:pPr marL="0" marR="0" lvl="0" indent="0" algn="l" rtl="0">
                        <a:spcBef>
                          <a:spcPts val="0"/>
                        </a:spcBef>
                        <a:spcAft>
                          <a:spcPts val="0"/>
                        </a:spcAft>
                        <a:buNone/>
                      </a:pPr>
                      <a:r>
                        <a:rPr lang="en-US" sz="1600" u="none" strike="noStrike" cap="none"/>
                        <a:t>Proposed CNN Backbone</a:t>
                      </a:r>
                    </a:p>
                  </a:txBody>
                  <a:tcPr marL="63500" marR="63500" marT="25400" marB="25400" anchor="ctr"/>
                </a:tc>
                <a:tc>
                  <a:txBody>
                    <a:bodyPr/>
                    <a:lstStyle/>
                    <a:p>
                      <a:pPr marL="0" marR="0" lvl="0" indent="0" algn="l" rtl="0">
                        <a:spcBef>
                          <a:spcPts val="0"/>
                        </a:spcBef>
                        <a:spcAft>
                          <a:spcPts val="0"/>
                        </a:spcAft>
                        <a:buNone/>
                      </a:pPr>
                      <a:r>
                        <a:rPr lang="en-US" sz="1600" u="none" strike="noStrike" cap="none"/>
                        <a:t>High accuracy (99.4%) with low parameters</a:t>
                      </a:r>
                    </a:p>
                  </a:txBody>
                  <a:tcPr marL="63500" marR="63500" marT="25400" marB="25400" anchor="ctr"/>
                </a:tc>
                <a:tc>
                  <a:txBody>
                    <a:bodyPr/>
                    <a:lstStyle/>
                    <a:p>
                      <a:pPr marL="0" marR="0" lvl="0" indent="0" algn="l" rtl="0">
                        <a:spcBef>
                          <a:spcPts val="0"/>
                        </a:spcBef>
                        <a:spcAft>
                          <a:spcPts val="0"/>
                        </a:spcAft>
                        <a:buNone/>
                      </a:pPr>
                      <a:r>
                        <a:rPr lang="en-US" sz="1600" u="none" strike="noStrike" cap="none"/>
                        <a:t>Classification focused</a:t>
                      </a:r>
                    </a:p>
                  </a:txBody>
                  <a:tcPr marL="63500" marR="63500" marT="25400" marB="25400" anchor="ctr"/>
                </a:tc>
                <a:extLst>
                  <a:ext uri="{0D108BD9-81ED-4DB2-BD59-A6C34878D82A}">
                    <a16:rowId xmlns:a16="http://schemas.microsoft.com/office/drawing/2014/main" val="10004"/>
                  </a:ext>
                </a:extLst>
              </a:tr>
            </a:tbl>
          </a:graphicData>
        </a:graphic>
      </p:graphicFrame>
      <p:sp>
        <p:nvSpPr>
          <p:cNvPr id="175" name="Google Shape;175;p18"/>
          <p:cNvSpPr txBox="1"/>
          <p:nvPr/>
        </p:nvSpPr>
        <p:spPr>
          <a:xfrm>
            <a:off x="762000" y="571500"/>
            <a:ext cx="4840605"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FFCC"/>
                </a:solidFill>
                <a:latin typeface="Montserrat" panose="00000500000000000000"/>
                <a:ea typeface="Montserrat" panose="00000500000000000000"/>
                <a:cs typeface="Montserrat" panose="00000500000000000000"/>
                <a:sym typeface="Montserrat" panose="00000500000000000000"/>
              </a:rPr>
              <a:t>LITERATURE SURVEY</a:t>
            </a:r>
          </a:p>
        </p:txBody>
      </p:sp>
      <p:sp>
        <p:nvSpPr>
          <p:cNvPr id="176" name="Google Shape;176;p18"/>
          <p:cNvSpPr/>
          <p:nvPr/>
        </p:nvSpPr>
        <p:spPr>
          <a:xfrm>
            <a:off x="571500" y="571500"/>
            <a:ext cx="57150" cy="4953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4" name="Google Shape;184;p19"/>
          <p:cNvSpPr txBox="1"/>
          <p:nvPr/>
        </p:nvSpPr>
        <p:spPr>
          <a:xfrm>
            <a:off x="628650" y="5817870"/>
            <a:ext cx="10866755" cy="41529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IN" altLang="en-US" sz="1800" b="1">
                <a:solidFill>
                  <a:schemeClr val="bg1"/>
                </a:solidFill>
                <a:sym typeface="+mn-ea"/>
              </a:rPr>
              <a:t>Table 1:</a:t>
            </a:r>
            <a:r>
              <a:rPr lang="en-IN" altLang="en-US" sz="1800">
                <a:solidFill>
                  <a:schemeClr val="bg1"/>
                </a:solidFill>
                <a:sym typeface="+mn-ea"/>
              </a:rPr>
              <a:t> Literature Survey on Ripeness detection</a:t>
            </a:r>
            <a:endParaRPr lang="en-IN" altLang="en-US" sz="1800" b="0" i="0" u="none" strike="noStrike" cap="none">
              <a:solidFill>
                <a:schemeClr val="bg1"/>
              </a:solidFill>
              <a:latin typeface="Times New Roman" panose="02020603050405020304" charset="0"/>
              <a:ea typeface="Open Sans"/>
              <a:cs typeface="Times New Roman" panose="02020603050405020304" charset="0"/>
              <a:sym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102"/>
        <p:cNvGrpSpPr/>
        <p:nvPr/>
      </p:nvGrpSpPr>
      <p:grpSpPr>
        <a:xfrm>
          <a:off x="0" y="0"/>
          <a:ext cx="0" cy="0"/>
          <a:chOff x="0" y="0"/>
          <a:chExt cx="0" cy="0"/>
        </a:xfrm>
      </p:grpSpPr>
      <p:pic>
        <p:nvPicPr>
          <p:cNvPr id="103" name="Google Shape;103;p15" descr="image.png"/>
          <p:cNvPicPr preferRelativeResize="0"/>
          <p:nvPr/>
        </p:nvPicPr>
        <p:blipFill rotWithShape="1">
          <a:blip r:embed="rId3"/>
          <a:srcRect/>
          <a:stretch>
            <a:fillRect/>
          </a:stretch>
        </p:blipFill>
        <p:spPr>
          <a:xfrm>
            <a:off x="0" y="0"/>
            <a:ext cx="12192000" cy="6858000"/>
          </a:xfrm>
          <a:prstGeom prst="rect">
            <a:avLst/>
          </a:prstGeom>
          <a:noFill/>
          <a:ln>
            <a:noFill/>
          </a:ln>
        </p:spPr>
      </p:pic>
      <p:sp>
        <p:nvSpPr>
          <p:cNvPr id="116" name="Google Shape;116;p15"/>
          <p:cNvSpPr txBox="1"/>
          <p:nvPr/>
        </p:nvSpPr>
        <p:spPr>
          <a:xfrm>
            <a:off x="762000" y="571500"/>
            <a:ext cx="5970746" cy="4845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altLang="en-US" sz="3150" b="1" i="0" u="none" strike="noStrike" cap="none">
                <a:solidFill>
                  <a:srgbClr val="00FFCC"/>
                </a:solidFill>
                <a:latin typeface="Montserrat" panose="00000500000000000000"/>
                <a:ea typeface="Montserrat" panose="00000500000000000000"/>
                <a:cs typeface="Montserrat" panose="00000500000000000000"/>
                <a:sym typeface="Montserrat" panose="00000500000000000000"/>
              </a:rPr>
              <a:t>EXISTING METHODOLOGY</a:t>
            </a:r>
          </a:p>
        </p:txBody>
      </p:sp>
      <p:sp>
        <p:nvSpPr>
          <p:cNvPr id="117" name="Google Shape;117;p15"/>
          <p:cNvSpPr/>
          <p:nvPr/>
        </p:nvSpPr>
        <p:spPr>
          <a:xfrm>
            <a:off x="571500" y="571500"/>
            <a:ext cx="57150" cy="4953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3" name="Picture 0"/>
          <p:cNvPicPr/>
          <p:nvPr/>
        </p:nvPicPr>
        <p:blipFill>
          <a:blip r:embed="rId4"/>
          <a:stretch>
            <a:fillRect/>
          </a:stretch>
        </p:blipFill>
        <p:spPr>
          <a:xfrm>
            <a:off x="387668" y="2052955"/>
            <a:ext cx="3495675" cy="3200400"/>
          </a:xfrm>
          <a:prstGeom prst="rect">
            <a:avLst/>
          </a:prstGeom>
        </p:spPr>
      </p:pic>
      <p:pic>
        <p:nvPicPr>
          <p:cNvPr id="2" name="Picture 1"/>
          <p:cNvPicPr/>
          <p:nvPr/>
        </p:nvPicPr>
        <p:blipFill>
          <a:blip r:embed="rId4"/>
          <a:stretch>
            <a:fillRect/>
          </a:stretch>
        </p:blipFill>
        <p:spPr>
          <a:xfrm>
            <a:off x="4327843" y="2052955"/>
            <a:ext cx="3495675" cy="3200400"/>
          </a:xfrm>
          <a:prstGeom prst="rect">
            <a:avLst/>
          </a:prstGeom>
        </p:spPr>
      </p:pic>
      <p:pic>
        <p:nvPicPr>
          <p:cNvPr id="3" name="Picture 2"/>
          <p:cNvPicPr/>
          <p:nvPr/>
        </p:nvPicPr>
        <p:blipFill>
          <a:blip r:embed="rId4"/>
          <a:stretch>
            <a:fillRect/>
          </a:stretch>
        </p:blipFill>
        <p:spPr>
          <a:xfrm>
            <a:off x="8268018" y="2052955"/>
            <a:ext cx="3495675" cy="3200400"/>
          </a:xfrm>
          <a:prstGeom prst="rect">
            <a:avLst/>
          </a:prstGeom>
        </p:spPr>
      </p:pic>
      <p:pic>
        <p:nvPicPr>
          <p:cNvPr id="4" name="Picture 3"/>
          <p:cNvPicPr/>
          <p:nvPr/>
        </p:nvPicPr>
        <p:blipFill>
          <a:blip r:embed="rId5"/>
          <a:stretch>
            <a:fillRect/>
          </a:stretch>
        </p:blipFill>
        <p:spPr>
          <a:xfrm>
            <a:off x="1926590" y="2322195"/>
            <a:ext cx="419100" cy="419100"/>
          </a:xfrm>
          <a:prstGeom prst="rect">
            <a:avLst/>
          </a:prstGeom>
        </p:spPr>
      </p:pic>
      <p:pic>
        <p:nvPicPr>
          <p:cNvPr id="5" name="Picture 4"/>
          <p:cNvPicPr/>
          <p:nvPr/>
        </p:nvPicPr>
        <p:blipFill>
          <a:blip r:embed="rId6"/>
          <a:stretch>
            <a:fillRect/>
          </a:stretch>
        </p:blipFill>
        <p:spPr>
          <a:xfrm>
            <a:off x="5832793" y="2322195"/>
            <a:ext cx="485775" cy="419100"/>
          </a:xfrm>
          <a:prstGeom prst="rect">
            <a:avLst/>
          </a:prstGeom>
        </p:spPr>
      </p:pic>
      <p:pic>
        <p:nvPicPr>
          <p:cNvPr id="6" name="Picture 5"/>
          <p:cNvPicPr/>
          <p:nvPr/>
        </p:nvPicPr>
        <p:blipFill>
          <a:blip r:embed="rId7"/>
          <a:stretch>
            <a:fillRect/>
          </a:stretch>
        </p:blipFill>
        <p:spPr>
          <a:xfrm>
            <a:off x="9805988" y="2322195"/>
            <a:ext cx="428625" cy="419100"/>
          </a:xfrm>
          <a:prstGeom prst="rect">
            <a:avLst/>
          </a:prstGeom>
        </p:spPr>
      </p:pic>
      <p:sp>
        <p:nvSpPr>
          <p:cNvPr id="7" name="Text Box 6"/>
          <p:cNvSpPr txBox="1"/>
          <p:nvPr/>
        </p:nvSpPr>
        <p:spPr>
          <a:xfrm>
            <a:off x="396240" y="2908935"/>
            <a:ext cx="3487420" cy="295910"/>
          </a:xfrm>
          <a:prstGeom prst="rect">
            <a:avLst/>
          </a:prstGeom>
        </p:spPr>
        <p:txBody>
          <a:bodyPr>
            <a:noAutofit/>
          </a:bodyPr>
          <a:lstStyle/>
          <a:p>
            <a:pPr algn="ctr" fontAlgn="base">
              <a:spcBef>
                <a:spcPct val="0"/>
              </a:spcBef>
              <a:spcAft>
                <a:spcPct val="0"/>
              </a:spcAft>
            </a:pPr>
            <a:r>
              <a:rPr lang="en-US" altLang="zh-CN" sz="2000" b="1" i="0">
                <a:solidFill>
                  <a:srgbClr val="DAFFDE"/>
                </a:solidFill>
                <a:latin typeface="Times New Roman" panose="02020603050405020304" charset="0"/>
                <a:ea typeface="Urbanist"/>
                <a:cs typeface="Times New Roman" panose="02020603050405020304" charset="0"/>
              </a:rPr>
              <a:t>LEGACY MODELS</a:t>
            </a:r>
          </a:p>
        </p:txBody>
      </p:sp>
      <p:sp>
        <p:nvSpPr>
          <p:cNvPr id="8" name="Text Box 7"/>
          <p:cNvSpPr txBox="1"/>
          <p:nvPr/>
        </p:nvSpPr>
        <p:spPr>
          <a:xfrm>
            <a:off x="4343400" y="2908935"/>
            <a:ext cx="3464560" cy="372745"/>
          </a:xfrm>
          <a:prstGeom prst="rect">
            <a:avLst/>
          </a:prstGeom>
        </p:spPr>
        <p:txBody>
          <a:bodyPr>
            <a:noAutofit/>
          </a:bodyPr>
          <a:lstStyle/>
          <a:p>
            <a:pPr algn="ctr" fontAlgn="base">
              <a:spcBef>
                <a:spcPct val="0"/>
              </a:spcBef>
              <a:spcAft>
                <a:spcPct val="0"/>
              </a:spcAft>
            </a:pPr>
            <a:r>
              <a:rPr lang="en-US" altLang="zh-CN" sz="2000" b="1" i="0">
                <a:solidFill>
                  <a:srgbClr val="DAFFDE"/>
                </a:solidFill>
                <a:latin typeface="Times New Roman" panose="02020603050405020304" charset="0"/>
                <a:ea typeface="Urbanist"/>
                <a:cs typeface="Times New Roman" panose="02020603050405020304" charset="0"/>
              </a:rPr>
              <a:t>FEATURE EXTRACTION</a:t>
            </a:r>
          </a:p>
        </p:txBody>
      </p:sp>
      <p:sp>
        <p:nvSpPr>
          <p:cNvPr id="9" name="Text Box 8"/>
          <p:cNvSpPr txBox="1"/>
          <p:nvPr/>
        </p:nvSpPr>
        <p:spPr>
          <a:xfrm>
            <a:off x="8268335" y="2908935"/>
            <a:ext cx="3495675" cy="419100"/>
          </a:xfrm>
          <a:prstGeom prst="rect">
            <a:avLst/>
          </a:prstGeom>
        </p:spPr>
        <p:txBody>
          <a:bodyPr>
            <a:noAutofit/>
          </a:bodyPr>
          <a:lstStyle/>
          <a:p>
            <a:pPr algn="ctr" fontAlgn="base">
              <a:spcBef>
                <a:spcPct val="0"/>
              </a:spcBef>
              <a:spcAft>
                <a:spcPct val="0"/>
              </a:spcAft>
            </a:pPr>
            <a:r>
              <a:rPr lang="en-US" altLang="zh-CN" sz="2000" b="1" i="0">
                <a:solidFill>
                  <a:srgbClr val="DAFFDE"/>
                </a:solidFill>
                <a:latin typeface="Times New Roman" panose="02020603050405020304" charset="0"/>
                <a:ea typeface="Urbanist"/>
                <a:cs typeface="Times New Roman" panose="02020603050405020304" charset="0"/>
              </a:rPr>
              <a:t>ACCURACY CAP</a:t>
            </a:r>
          </a:p>
        </p:txBody>
      </p:sp>
      <p:sp>
        <p:nvSpPr>
          <p:cNvPr id="10" name="Text Box 9"/>
          <p:cNvSpPr txBox="1"/>
          <p:nvPr/>
        </p:nvSpPr>
        <p:spPr>
          <a:xfrm>
            <a:off x="389255" y="3657600"/>
            <a:ext cx="3494405" cy="1198880"/>
          </a:xfrm>
          <a:prstGeom prst="rect">
            <a:avLst/>
          </a:prstGeom>
        </p:spPr>
        <p:txBody>
          <a:bodyPr wrap="square">
            <a:spAutoFit/>
          </a:bodyPr>
          <a:lstStyle/>
          <a:p>
            <a:pPr algn="ctr" fontAlgn="base">
              <a:spcBef>
                <a:spcPct val="0"/>
              </a:spcBef>
              <a:spcAft>
                <a:spcPct val="0"/>
              </a:spcAft>
            </a:pPr>
            <a:r>
              <a:rPr lang="en-US" altLang="zh-CN" sz="1800" b="0" i="0">
                <a:solidFill>
                  <a:srgbClr val="DAFFDE"/>
                </a:solidFill>
                <a:latin typeface="Times New Roman" panose="02020603050405020304" charset="0"/>
                <a:ea typeface="Urbanist"/>
                <a:cs typeface="Times New Roman" panose="02020603050405020304" charset="0"/>
              </a:rPr>
              <a:t>Utilization of YOLO (v5, v6, v7) and SSD-MobileNet frameworks for real-time fruit localized detection.</a:t>
            </a:r>
          </a:p>
        </p:txBody>
      </p:sp>
      <p:sp>
        <p:nvSpPr>
          <p:cNvPr id="11" name="Text Box 10"/>
          <p:cNvSpPr txBox="1"/>
          <p:nvPr/>
        </p:nvSpPr>
        <p:spPr>
          <a:xfrm>
            <a:off x="4333240" y="3657600"/>
            <a:ext cx="3484880" cy="1198880"/>
          </a:xfrm>
          <a:prstGeom prst="rect">
            <a:avLst/>
          </a:prstGeom>
        </p:spPr>
        <p:txBody>
          <a:bodyPr wrap="square">
            <a:spAutoFit/>
          </a:bodyPr>
          <a:lstStyle/>
          <a:p>
            <a:pPr algn="ctr" fontAlgn="base">
              <a:spcBef>
                <a:spcPct val="0"/>
              </a:spcBef>
              <a:spcAft>
                <a:spcPct val="0"/>
              </a:spcAft>
            </a:pPr>
            <a:r>
              <a:rPr lang="en-US" altLang="zh-CN" sz="1800" b="0" i="0">
                <a:solidFill>
                  <a:srgbClr val="DAFFDE"/>
                </a:solidFill>
                <a:latin typeface="Times New Roman" panose="02020603050405020304" charset="0"/>
                <a:ea typeface="Urbanist"/>
                <a:cs typeface="Times New Roman" panose="02020603050405020304" charset="0"/>
              </a:rPr>
              <a:t>MobileNetV2 backbone for lightweight computation with a focus on binary and multi-class classification.</a:t>
            </a:r>
          </a:p>
        </p:txBody>
      </p:sp>
      <p:sp>
        <p:nvSpPr>
          <p:cNvPr id="12" name="Text Box 11"/>
          <p:cNvSpPr txBox="1"/>
          <p:nvPr/>
        </p:nvSpPr>
        <p:spPr>
          <a:xfrm>
            <a:off x="8268335" y="3657600"/>
            <a:ext cx="3495675" cy="1198245"/>
          </a:xfrm>
          <a:prstGeom prst="rect">
            <a:avLst/>
          </a:prstGeom>
        </p:spPr>
        <p:txBody>
          <a:bodyPr wrap="square">
            <a:noAutofit/>
          </a:bodyPr>
          <a:lstStyle/>
          <a:p>
            <a:pPr algn="ctr" fontAlgn="base">
              <a:spcBef>
                <a:spcPct val="0"/>
              </a:spcBef>
              <a:spcAft>
                <a:spcPct val="0"/>
              </a:spcAft>
            </a:pPr>
            <a:r>
              <a:rPr lang="en-US" altLang="zh-CN" sz="1800" b="0" i="0">
                <a:solidFill>
                  <a:srgbClr val="DAFFDE"/>
                </a:solidFill>
                <a:latin typeface="Times New Roman" panose="02020603050405020304" charset="0"/>
                <a:ea typeface="Urbanist"/>
                <a:cs typeface="Times New Roman" panose="02020603050405020304" charset="0"/>
              </a:rPr>
              <a:t>Achieved peak overall accuracy of </a:t>
            </a:r>
            <a:r>
              <a:rPr lang="en-US" altLang="zh-CN" sz="1800" b="1" i="0">
                <a:solidFill>
                  <a:srgbClr val="DAFFDE"/>
                </a:solidFill>
                <a:latin typeface="Times New Roman" panose="02020603050405020304" charset="0"/>
                <a:ea typeface="Urbanist"/>
                <a:cs typeface="Times New Roman" panose="02020603050405020304" charset="0"/>
              </a:rPr>
              <a:t>99.3%</a:t>
            </a:r>
            <a:r>
              <a:rPr lang="en-US" altLang="zh-CN" sz="1800" b="0" i="0">
                <a:solidFill>
                  <a:srgbClr val="DAFFDE"/>
                </a:solidFill>
                <a:latin typeface="Times New Roman" panose="02020603050405020304" charset="0"/>
                <a:ea typeface="Urbanist"/>
                <a:cs typeface="Times New Roman" panose="02020603050405020304" charset="0"/>
              </a:rPr>
              <a:t>, though performance drops significantly in complex lighting.</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180"/>
        <p:cNvGrpSpPr/>
        <p:nvPr/>
      </p:nvGrpSpPr>
      <p:grpSpPr>
        <a:xfrm>
          <a:off x="0" y="0"/>
          <a:ext cx="0" cy="0"/>
          <a:chOff x="0" y="0"/>
          <a:chExt cx="0" cy="0"/>
        </a:xfrm>
      </p:grpSpPr>
      <p:pic>
        <p:nvPicPr>
          <p:cNvPr id="181" name="Google Shape;181;p19"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182" name="Google Shape;182;p19" descr="image.png"/>
          <p:cNvPicPr preferRelativeResize="0"/>
          <p:nvPr/>
        </p:nvPicPr>
        <p:blipFill rotWithShape="1">
          <a:blip r:embed="rId4"/>
          <a:srcRect/>
          <a:stretch>
            <a:fillRect/>
          </a:stretch>
        </p:blipFill>
        <p:spPr>
          <a:xfrm>
            <a:off x="6334125" y="1962150"/>
            <a:ext cx="5286375" cy="3810000"/>
          </a:xfrm>
          <a:prstGeom prst="rect">
            <a:avLst/>
          </a:prstGeom>
          <a:noFill/>
          <a:ln>
            <a:noFill/>
          </a:ln>
        </p:spPr>
      </p:pic>
      <p:sp>
        <p:nvSpPr>
          <p:cNvPr id="183" name="Google Shape;183;p19"/>
          <p:cNvSpPr txBox="1"/>
          <p:nvPr/>
        </p:nvSpPr>
        <p:spPr>
          <a:xfrm>
            <a:off x="571500" y="1962150"/>
            <a:ext cx="5550693"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DEFF9A"/>
                </a:solidFill>
                <a:latin typeface="Montserrat" panose="00000500000000000000"/>
                <a:ea typeface="Montserrat" panose="00000500000000000000"/>
                <a:cs typeface="Montserrat" panose="00000500000000000000"/>
                <a:sym typeface="Montserrat" panose="00000500000000000000"/>
              </a:rPr>
              <a:t>EfficientNetB0 Backbone</a:t>
            </a:r>
          </a:p>
        </p:txBody>
      </p:sp>
      <p:sp>
        <p:nvSpPr>
          <p:cNvPr id="184" name="Google Shape;184;p19"/>
          <p:cNvSpPr txBox="1"/>
          <p:nvPr/>
        </p:nvSpPr>
        <p:spPr>
          <a:xfrm>
            <a:off x="571500" y="2476500"/>
            <a:ext cx="5286375" cy="332359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800" b="0" i="0" u="none" strike="noStrike" cap="none">
                <a:solidFill>
                  <a:schemeClr val="bg1"/>
                </a:solidFill>
                <a:latin typeface="Times New Roman" panose="02020603050405020304" charset="0"/>
                <a:ea typeface="Open Sans"/>
                <a:cs typeface="Times New Roman" panose="02020603050405020304" charset="0"/>
                <a:sym typeface="Open Sans"/>
              </a:rPr>
              <a:t>We leverage Transfer Learning to adapt pre-trained weights for specialized agricultural tasks.</a:t>
            </a:r>
          </a:p>
          <a:p>
            <a:pPr marL="285750" marR="0" lvl="0" indent="-285750" algn="l" rtl="0">
              <a:lnSpc>
                <a:spcPct val="150000"/>
              </a:lnSpc>
              <a:spcBef>
                <a:spcPts val="0"/>
              </a:spcBef>
              <a:spcAft>
                <a:spcPts val="0"/>
              </a:spcAft>
              <a:buClr>
                <a:srgbClr val="FFFFFF"/>
              </a:buClr>
              <a:buFont typeface="Arial" panose="020B0604020202020204" pitchFamily="34" charset="0"/>
              <a:buChar char="•"/>
            </a:pPr>
            <a:r>
              <a:rPr lang="en-US" sz="1800" b="1">
                <a:solidFill>
                  <a:schemeClr val="bg1"/>
                </a:solidFill>
                <a:latin typeface="Times New Roman" panose="02020603050405020304" charset="0"/>
                <a:ea typeface="Open Sans"/>
                <a:cs typeface="Times New Roman" panose="02020603050405020304" charset="0"/>
                <a:sym typeface="Open Sans"/>
              </a:rPr>
              <a:t>Stem Convolution:</a:t>
            </a:r>
            <a:r>
              <a:rPr lang="en-US" sz="1800">
                <a:solidFill>
                  <a:schemeClr val="bg1"/>
                </a:solidFill>
                <a:latin typeface="Times New Roman" panose="02020603050405020304" charset="0"/>
                <a:ea typeface="Open Sans"/>
                <a:cs typeface="Times New Roman" panose="02020603050405020304" charset="0"/>
                <a:sym typeface="Open Sans"/>
              </a:rPr>
              <a:t> Initial visual encoding of RGB channels.</a:t>
            </a:r>
          </a:p>
          <a:p>
            <a:pPr marL="285750" marR="0" lvl="0" indent="-285750" algn="l" rtl="0">
              <a:lnSpc>
                <a:spcPct val="150000"/>
              </a:lnSpc>
              <a:spcBef>
                <a:spcPts val="0"/>
              </a:spcBef>
              <a:spcAft>
                <a:spcPts val="0"/>
              </a:spcAft>
              <a:buClr>
                <a:srgbClr val="FFFFFF"/>
              </a:buClr>
              <a:buFont typeface="Arial" panose="020B0604020202020204" pitchFamily="34" charset="0"/>
              <a:buChar char="•"/>
            </a:pPr>
            <a:r>
              <a:rPr lang="en-US" sz="1800" b="1">
                <a:solidFill>
                  <a:schemeClr val="bg1"/>
                </a:solidFill>
                <a:latin typeface="Times New Roman" panose="02020603050405020304" charset="0"/>
                <a:ea typeface="Open Sans"/>
                <a:cs typeface="Times New Roman" panose="02020603050405020304" charset="0"/>
                <a:sym typeface="Open Sans"/>
              </a:rPr>
              <a:t>MBConv Blocks:</a:t>
            </a:r>
            <a:r>
              <a:rPr lang="en-US" sz="1800">
                <a:solidFill>
                  <a:schemeClr val="bg1"/>
                </a:solidFill>
                <a:latin typeface="Times New Roman" panose="02020603050405020304" charset="0"/>
                <a:ea typeface="Open Sans"/>
                <a:cs typeface="Times New Roman" panose="02020603050405020304" charset="0"/>
                <a:sym typeface="Open Sans"/>
              </a:rPr>
              <a:t> Captures complex cues like texture degradation and dullness.</a:t>
            </a:r>
          </a:p>
          <a:p>
            <a:pPr marL="285750" marR="0" lvl="0" indent="-285750" algn="l" rtl="0">
              <a:lnSpc>
                <a:spcPct val="150000"/>
              </a:lnSpc>
              <a:spcBef>
                <a:spcPts val="0"/>
              </a:spcBef>
              <a:spcAft>
                <a:spcPts val="0"/>
              </a:spcAft>
              <a:buClr>
                <a:srgbClr val="FFFFFF"/>
              </a:buClr>
              <a:buFont typeface="Arial" panose="020B0604020202020204" pitchFamily="34" charset="0"/>
              <a:buChar char="•"/>
            </a:pPr>
            <a:r>
              <a:rPr lang="en-US" sz="1800" b="1">
                <a:solidFill>
                  <a:schemeClr val="bg1"/>
                </a:solidFill>
                <a:latin typeface="Times New Roman" panose="02020603050405020304" charset="0"/>
                <a:ea typeface="Open Sans"/>
                <a:cs typeface="Times New Roman" panose="02020603050405020304" charset="0"/>
                <a:sym typeface="Open Sans"/>
              </a:rPr>
              <a:t>Softmax Head:</a:t>
            </a:r>
            <a:r>
              <a:rPr lang="en-US" sz="1800">
                <a:solidFill>
                  <a:schemeClr val="bg1"/>
                </a:solidFill>
                <a:latin typeface="Times New Roman" panose="02020603050405020304" charset="0"/>
                <a:ea typeface="Open Sans"/>
                <a:cs typeface="Times New Roman" panose="02020603050405020304" charset="0"/>
                <a:sym typeface="Open Sans"/>
              </a:rPr>
              <a:t> Normalized probabilities across mutually exclusive classes.</a:t>
            </a:r>
            <a:endParaRPr lang="en-US" sz="1800" b="0" i="0" u="none" strike="noStrike" cap="none">
              <a:solidFill>
                <a:schemeClr val="bg1"/>
              </a:solidFill>
              <a:latin typeface="Times New Roman" panose="02020603050405020304" charset="0"/>
              <a:ea typeface="Open Sans"/>
              <a:cs typeface="Times New Roman" panose="02020603050405020304" charset="0"/>
              <a:sym typeface="Open Sans"/>
            </a:endParaRPr>
          </a:p>
        </p:txBody>
      </p:sp>
      <p:pic>
        <p:nvPicPr>
          <p:cNvPr id="185" name="Google Shape;185;p19" descr="image.png"/>
          <p:cNvPicPr preferRelativeResize="0"/>
          <p:nvPr/>
        </p:nvPicPr>
        <p:blipFill rotWithShape="1">
          <a:blip r:embed="rId5"/>
          <a:srcRect/>
          <a:stretch>
            <a:fillRect/>
          </a:stretch>
        </p:blipFill>
        <p:spPr>
          <a:xfrm>
            <a:off x="6343650" y="1971675"/>
            <a:ext cx="5267325" cy="3790950"/>
          </a:xfrm>
          <a:prstGeom prst="rect">
            <a:avLst/>
          </a:prstGeom>
          <a:noFill/>
          <a:ln>
            <a:noFill/>
          </a:ln>
        </p:spPr>
      </p:pic>
      <p:sp>
        <p:nvSpPr>
          <p:cNvPr id="192" name="Google Shape;192;p19"/>
          <p:cNvSpPr txBox="1"/>
          <p:nvPr/>
        </p:nvSpPr>
        <p:spPr>
          <a:xfrm>
            <a:off x="762000" y="571500"/>
            <a:ext cx="6430803"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FFCC"/>
                </a:solidFill>
                <a:latin typeface="Montserrat" panose="00000500000000000000"/>
                <a:ea typeface="Montserrat" panose="00000500000000000000"/>
                <a:cs typeface="Montserrat" panose="00000500000000000000"/>
                <a:sym typeface="Montserrat" panose="00000500000000000000"/>
              </a:rPr>
              <a:t>PROPOSED METHODOLOGY</a:t>
            </a:r>
          </a:p>
        </p:txBody>
      </p:sp>
      <p:sp>
        <p:nvSpPr>
          <p:cNvPr id="193" name="Google Shape;193;p19"/>
          <p:cNvSpPr/>
          <p:nvPr/>
        </p:nvSpPr>
        <p:spPr>
          <a:xfrm>
            <a:off x="571500" y="571500"/>
            <a:ext cx="57150" cy="4953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180"/>
        <p:cNvGrpSpPr/>
        <p:nvPr/>
      </p:nvGrpSpPr>
      <p:grpSpPr>
        <a:xfrm>
          <a:off x="0" y="0"/>
          <a:ext cx="0" cy="0"/>
          <a:chOff x="0" y="0"/>
          <a:chExt cx="0" cy="0"/>
        </a:xfrm>
      </p:grpSpPr>
      <p:pic>
        <p:nvPicPr>
          <p:cNvPr id="181" name="Google Shape;181;p19"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182" name="Google Shape;182;p19" descr="image.png"/>
          <p:cNvPicPr preferRelativeResize="0"/>
          <p:nvPr/>
        </p:nvPicPr>
        <p:blipFill rotWithShape="1">
          <a:blip r:embed="rId4"/>
          <a:srcRect/>
          <a:stretch>
            <a:fillRect/>
          </a:stretch>
        </p:blipFill>
        <p:spPr>
          <a:xfrm>
            <a:off x="6334125" y="1962150"/>
            <a:ext cx="5286375" cy="3810000"/>
          </a:xfrm>
          <a:prstGeom prst="rect">
            <a:avLst/>
          </a:prstGeom>
          <a:noFill/>
          <a:ln>
            <a:noFill/>
          </a:ln>
        </p:spPr>
      </p:pic>
      <p:sp>
        <p:nvSpPr>
          <p:cNvPr id="192" name="Google Shape;192;p19"/>
          <p:cNvSpPr txBox="1"/>
          <p:nvPr/>
        </p:nvSpPr>
        <p:spPr>
          <a:xfrm>
            <a:off x="762000" y="571500"/>
            <a:ext cx="6430803" cy="96901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altLang="en-US" sz="3150" b="1" i="0" u="none" strike="noStrike" cap="none">
                <a:solidFill>
                  <a:srgbClr val="00FFCC"/>
                </a:solidFill>
                <a:latin typeface="Montserrat" panose="00000500000000000000"/>
                <a:ea typeface="Montserrat" panose="00000500000000000000"/>
                <a:cs typeface="Montserrat" panose="00000500000000000000"/>
                <a:sym typeface="Montserrat" panose="00000500000000000000"/>
              </a:rPr>
              <a:t>Block Diagram</a:t>
            </a:r>
          </a:p>
          <a:p>
            <a:pPr marL="0" marR="0" lvl="0" indent="0" algn="l" rtl="0">
              <a:spcBef>
                <a:spcPts val="0"/>
              </a:spcBef>
              <a:spcAft>
                <a:spcPts val="0"/>
              </a:spcAft>
              <a:buNone/>
            </a:pPr>
            <a:endParaRPr lang="en-US" altLang="en-US" sz="3150" b="1" i="0" u="none" strike="noStrike" cap="none">
              <a:solidFill>
                <a:srgbClr val="00FFCC"/>
              </a:solidFill>
              <a:latin typeface="Montserrat" panose="00000500000000000000"/>
              <a:ea typeface="Montserrat" panose="00000500000000000000"/>
              <a:cs typeface="Montserrat" panose="00000500000000000000"/>
              <a:sym typeface="Montserrat" panose="00000500000000000000"/>
            </a:endParaRPr>
          </a:p>
        </p:txBody>
      </p:sp>
      <p:sp>
        <p:nvSpPr>
          <p:cNvPr id="193" name="Google Shape;193;p19"/>
          <p:cNvSpPr/>
          <p:nvPr/>
        </p:nvSpPr>
        <p:spPr>
          <a:xfrm>
            <a:off x="571500" y="571500"/>
            <a:ext cx="57150" cy="4953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3" name="Picture 2" descr="workflow"/>
          <p:cNvPicPr>
            <a:picLocks noChangeAspect="1"/>
          </p:cNvPicPr>
          <p:nvPr/>
        </p:nvPicPr>
        <p:blipFill>
          <a:blip r:embed="rId5"/>
          <a:srcRect t="14278"/>
          <a:stretch>
            <a:fillRect/>
          </a:stretch>
        </p:blipFill>
        <p:spPr>
          <a:xfrm>
            <a:off x="3913505" y="1289685"/>
            <a:ext cx="4364355" cy="4729480"/>
          </a:xfrm>
          <a:prstGeom prst="rect">
            <a:avLst/>
          </a:prstGeom>
        </p:spPr>
      </p:pic>
      <p:sp>
        <p:nvSpPr>
          <p:cNvPr id="184" name="Google Shape;184;p19"/>
          <p:cNvSpPr txBox="1"/>
          <p:nvPr/>
        </p:nvSpPr>
        <p:spPr>
          <a:xfrm>
            <a:off x="2914015" y="6019165"/>
            <a:ext cx="6363335" cy="41529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IN" altLang="en-US" sz="1800" b="1">
                <a:solidFill>
                  <a:schemeClr val="bg1"/>
                </a:solidFill>
                <a:sym typeface="+mn-ea"/>
              </a:rPr>
              <a:t>Figure </a:t>
            </a:r>
            <a:r>
              <a:rPr lang="en-US" altLang="en-IN" sz="1800" b="1">
                <a:solidFill>
                  <a:schemeClr val="bg1"/>
                </a:solidFill>
                <a:sym typeface="+mn-ea"/>
              </a:rPr>
              <a:t>1</a:t>
            </a:r>
            <a:r>
              <a:rPr lang="en-IN" altLang="en-US" sz="1800" b="1">
                <a:solidFill>
                  <a:schemeClr val="bg1"/>
                </a:solidFill>
                <a:sym typeface="+mn-ea"/>
              </a:rPr>
              <a:t>:</a:t>
            </a:r>
            <a:r>
              <a:rPr lang="en-IN" altLang="en-US" sz="1800">
                <a:solidFill>
                  <a:schemeClr val="bg1"/>
                </a:solidFill>
                <a:sym typeface="+mn-ea"/>
              </a:rPr>
              <a:t> </a:t>
            </a:r>
            <a:r>
              <a:rPr lang="en-US" altLang="en-US" sz="1800">
                <a:solidFill>
                  <a:schemeClr val="bg1"/>
                </a:solidFill>
                <a:sym typeface="+mn-ea"/>
              </a:rPr>
              <a:t>The image is block diagram of the system working</a:t>
            </a:r>
            <a:endParaRPr lang="en-US" altLang="en-US" sz="1800" b="0" i="0" u="none" strike="noStrike" cap="none">
              <a:solidFill>
                <a:schemeClr val="bg1"/>
              </a:solidFill>
              <a:latin typeface="Times New Roman" panose="02020603050405020304" charset="0"/>
              <a:ea typeface="Open Sans"/>
              <a:cs typeface="Times New Roman" panose="02020603050405020304" charset="0"/>
              <a:sym typeface="+mn-ea"/>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180"/>
        <p:cNvGrpSpPr/>
        <p:nvPr/>
      </p:nvGrpSpPr>
      <p:grpSpPr>
        <a:xfrm>
          <a:off x="0" y="0"/>
          <a:ext cx="0" cy="0"/>
          <a:chOff x="0" y="0"/>
          <a:chExt cx="0" cy="0"/>
        </a:xfrm>
      </p:grpSpPr>
      <p:pic>
        <p:nvPicPr>
          <p:cNvPr id="181" name="Google Shape;181;p19" descr="image.png"/>
          <p:cNvPicPr preferRelativeResize="0"/>
          <p:nvPr/>
        </p:nvPicPr>
        <p:blipFill rotWithShape="1">
          <a:blip r:embed="rId3"/>
          <a:srcRect/>
          <a:stretch>
            <a:fillRect/>
          </a:stretch>
        </p:blipFill>
        <p:spPr>
          <a:xfrm>
            <a:off x="0" y="0"/>
            <a:ext cx="12192000" cy="6858000"/>
          </a:xfrm>
          <a:prstGeom prst="rect">
            <a:avLst/>
          </a:prstGeom>
          <a:noFill/>
          <a:ln>
            <a:noFill/>
          </a:ln>
        </p:spPr>
      </p:pic>
      <p:pic>
        <p:nvPicPr>
          <p:cNvPr id="182" name="Google Shape;182;p19" descr="image.png"/>
          <p:cNvPicPr preferRelativeResize="0"/>
          <p:nvPr/>
        </p:nvPicPr>
        <p:blipFill rotWithShape="1">
          <a:blip r:embed="rId4"/>
          <a:srcRect/>
          <a:stretch>
            <a:fillRect/>
          </a:stretch>
        </p:blipFill>
        <p:spPr>
          <a:xfrm>
            <a:off x="6334125" y="1962150"/>
            <a:ext cx="5286375" cy="3810000"/>
          </a:xfrm>
          <a:prstGeom prst="rect">
            <a:avLst/>
          </a:prstGeom>
          <a:noFill/>
          <a:ln>
            <a:noFill/>
          </a:ln>
        </p:spPr>
      </p:pic>
      <p:sp>
        <p:nvSpPr>
          <p:cNvPr id="192" name="Google Shape;192;p19"/>
          <p:cNvSpPr txBox="1"/>
          <p:nvPr/>
        </p:nvSpPr>
        <p:spPr>
          <a:xfrm>
            <a:off x="762000" y="571500"/>
            <a:ext cx="6430803" cy="96901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altLang="en-US" sz="3150" b="1" i="0" u="none" strike="noStrike" cap="none">
                <a:solidFill>
                  <a:srgbClr val="00FFCC"/>
                </a:solidFill>
                <a:latin typeface="Montserrat" panose="00000500000000000000"/>
                <a:ea typeface="Montserrat" panose="00000500000000000000"/>
                <a:cs typeface="Montserrat" panose="00000500000000000000"/>
                <a:sym typeface="Montserrat" panose="00000500000000000000"/>
              </a:rPr>
              <a:t>Architecture</a:t>
            </a:r>
          </a:p>
          <a:p>
            <a:pPr marL="0" marR="0" lvl="0" indent="0" algn="l" rtl="0">
              <a:spcBef>
                <a:spcPts val="0"/>
              </a:spcBef>
              <a:spcAft>
                <a:spcPts val="0"/>
              </a:spcAft>
              <a:buNone/>
            </a:pPr>
            <a:endParaRPr lang="en-US" altLang="en-US" sz="3150" b="1" i="0" u="none" strike="noStrike" cap="none">
              <a:solidFill>
                <a:srgbClr val="00FFCC"/>
              </a:solidFill>
              <a:latin typeface="Montserrat" panose="00000500000000000000"/>
              <a:ea typeface="Montserrat" panose="00000500000000000000"/>
              <a:cs typeface="Montserrat" panose="00000500000000000000"/>
              <a:sym typeface="Montserrat" panose="00000500000000000000"/>
            </a:endParaRPr>
          </a:p>
        </p:txBody>
      </p:sp>
      <p:sp>
        <p:nvSpPr>
          <p:cNvPr id="193" name="Google Shape;193;p19"/>
          <p:cNvSpPr/>
          <p:nvPr/>
        </p:nvSpPr>
        <p:spPr>
          <a:xfrm>
            <a:off x="571500" y="571500"/>
            <a:ext cx="57150" cy="4953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4" name="Google Shape;184;p19"/>
          <p:cNvSpPr txBox="1"/>
          <p:nvPr/>
        </p:nvSpPr>
        <p:spPr>
          <a:xfrm>
            <a:off x="717550" y="6019165"/>
            <a:ext cx="10951845" cy="83058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altLang="en-US" sz="1800" b="0" i="0" u="none" strike="noStrike" cap="none">
                <a:solidFill>
                  <a:schemeClr val="bg1"/>
                </a:solidFill>
                <a:latin typeface="Times New Roman" panose="02020603050405020304" charset="0"/>
                <a:ea typeface="Open Sans"/>
                <a:cs typeface="Times New Roman" panose="02020603050405020304" charset="0"/>
                <a:sym typeface="+mn-ea"/>
              </a:rPr>
              <a:t>Figure 2: The architecture of the EfficientNetB0 which is used in the model training.</a:t>
            </a:r>
          </a:p>
          <a:p>
            <a:pPr marL="0" marR="0" lvl="0" indent="0" algn="ctr" rtl="0">
              <a:lnSpc>
                <a:spcPct val="150000"/>
              </a:lnSpc>
              <a:spcBef>
                <a:spcPts val="0"/>
              </a:spcBef>
              <a:spcAft>
                <a:spcPts val="0"/>
              </a:spcAft>
              <a:buNone/>
            </a:pPr>
            <a:endParaRPr lang="en-US" altLang="en-US" sz="1800" b="0" i="0" u="none" strike="noStrike" cap="none">
              <a:solidFill>
                <a:schemeClr val="bg1"/>
              </a:solidFill>
              <a:latin typeface="Times New Roman" panose="02020603050405020304" charset="0"/>
              <a:ea typeface="Open Sans"/>
              <a:cs typeface="Times New Roman" panose="02020603050405020304" charset="0"/>
              <a:sym typeface="+mn-ea"/>
            </a:endParaRPr>
          </a:p>
        </p:txBody>
      </p:sp>
      <p:pic>
        <p:nvPicPr>
          <p:cNvPr id="36" name="Picture 36" descr="architecture"/>
          <p:cNvPicPr>
            <a:picLocks noChangeAspect="1"/>
          </p:cNvPicPr>
          <p:nvPr/>
        </p:nvPicPr>
        <p:blipFill>
          <a:blip r:embed="rId5"/>
          <a:srcRect l="2686" t="13423" r="2543" b="7300"/>
          <a:stretch>
            <a:fillRect/>
          </a:stretch>
        </p:blipFill>
        <p:spPr>
          <a:xfrm>
            <a:off x="717550" y="1540510"/>
            <a:ext cx="10951845" cy="412115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197"/>
        <p:cNvGrpSpPr/>
        <p:nvPr/>
      </p:nvGrpSpPr>
      <p:grpSpPr>
        <a:xfrm>
          <a:off x="0" y="0"/>
          <a:ext cx="0" cy="0"/>
          <a:chOff x="0" y="0"/>
          <a:chExt cx="0" cy="0"/>
        </a:xfrm>
      </p:grpSpPr>
      <p:pic>
        <p:nvPicPr>
          <p:cNvPr id="198" name="Google Shape;198;p20" descr="image.png"/>
          <p:cNvPicPr preferRelativeResize="0"/>
          <p:nvPr/>
        </p:nvPicPr>
        <p:blipFill rotWithShape="1">
          <a:blip r:embed="rId12"/>
          <a:srcRect/>
          <a:stretch>
            <a:fillRect/>
          </a:stretch>
        </p:blipFill>
        <p:spPr>
          <a:xfrm>
            <a:off x="0" y="0"/>
            <a:ext cx="12192000" cy="6858000"/>
          </a:xfrm>
          <a:prstGeom prst="rect">
            <a:avLst/>
          </a:prstGeom>
          <a:noFill/>
          <a:ln>
            <a:noFill/>
          </a:ln>
        </p:spPr>
      </p:pic>
      <p:pic>
        <p:nvPicPr>
          <p:cNvPr id="199" name="Google Shape;199;p20" descr="image.png"/>
          <p:cNvPicPr preferRelativeResize="0"/>
          <p:nvPr>
            <p:custDataLst>
              <p:tags r:id="rId1"/>
            </p:custDataLst>
          </p:nvPr>
        </p:nvPicPr>
        <p:blipFill rotWithShape="1">
          <a:blip r:embed="rId13"/>
          <a:srcRect/>
          <a:stretch>
            <a:fillRect/>
          </a:stretch>
        </p:blipFill>
        <p:spPr>
          <a:xfrm>
            <a:off x="571500" y="2128837"/>
            <a:ext cx="3555950" cy="2857500"/>
          </a:xfrm>
          <a:prstGeom prst="rect">
            <a:avLst/>
          </a:prstGeom>
          <a:noFill/>
          <a:ln>
            <a:noFill/>
          </a:ln>
        </p:spPr>
      </p:pic>
      <p:pic>
        <p:nvPicPr>
          <p:cNvPr id="200" name="Google Shape;200;p20" descr="image.png"/>
          <p:cNvPicPr preferRelativeResize="0"/>
          <p:nvPr>
            <p:custDataLst>
              <p:tags r:id="rId2"/>
            </p:custDataLst>
          </p:nvPr>
        </p:nvPicPr>
        <p:blipFill rotWithShape="1">
          <a:blip r:embed="rId14"/>
          <a:srcRect/>
          <a:stretch>
            <a:fillRect/>
          </a:stretch>
        </p:blipFill>
        <p:spPr>
          <a:xfrm>
            <a:off x="4317950" y="2128837"/>
            <a:ext cx="3555950" cy="2857500"/>
          </a:xfrm>
          <a:prstGeom prst="rect">
            <a:avLst/>
          </a:prstGeom>
          <a:noFill/>
          <a:ln>
            <a:noFill/>
          </a:ln>
        </p:spPr>
      </p:pic>
      <p:pic>
        <p:nvPicPr>
          <p:cNvPr id="201" name="Google Shape;201;p20" descr="image.png"/>
          <p:cNvPicPr preferRelativeResize="0"/>
          <p:nvPr>
            <p:custDataLst>
              <p:tags r:id="rId3"/>
            </p:custDataLst>
          </p:nvPr>
        </p:nvPicPr>
        <p:blipFill rotWithShape="1">
          <a:blip r:embed="rId15"/>
          <a:srcRect/>
          <a:stretch>
            <a:fillRect/>
          </a:stretch>
        </p:blipFill>
        <p:spPr>
          <a:xfrm>
            <a:off x="8064400" y="2128837"/>
            <a:ext cx="3555950" cy="2857500"/>
          </a:xfrm>
          <a:prstGeom prst="rect">
            <a:avLst/>
          </a:prstGeom>
          <a:noFill/>
          <a:ln>
            <a:noFill/>
          </a:ln>
        </p:spPr>
      </p:pic>
      <p:sp>
        <p:nvSpPr>
          <p:cNvPr id="202" name="Google Shape;202;p20"/>
          <p:cNvSpPr txBox="1"/>
          <p:nvPr>
            <p:custDataLst>
              <p:tags r:id="rId4"/>
            </p:custDataLst>
          </p:nvPr>
        </p:nvSpPr>
        <p:spPr>
          <a:xfrm>
            <a:off x="571500" y="5129212"/>
            <a:ext cx="3555950" cy="41529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b="0" i="0" u="none" strike="noStrike" cap="none">
                <a:solidFill>
                  <a:schemeClr val="bg1"/>
                </a:solidFill>
                <a:latin typeface="Times New Roman" panose="02020603050405020304" charset="0"/>
                <a:ea typeface="Open Sans"/>
                <a:cs typeface="Times New Roman" panose="02020603050405020304" charset="0"/>
                <a:sym typeface="Open Sans"/>
              </a:rPr>
              <a:t>1. Image Acquisition</a:t>
            </a:r>
          </a:p>
        </p:txBody>
      </p:sp>
      <p:sp>
        <p:nvSpPr>
          <p:cNvPr id="203" name="Google Shape;203;p20"/>
          <p:cNvSpPr txBox="1"/>
          <p:nvPr>
            <p:custDataLst>
              <p:tags r:id="rId5"/>
            </p:custDataLst>
          </p:nvPr>
        </p:nvSpPr>
        <p:spPr>
          <a:xfrm>
            <a:off x="4317950" y="5129212"/>
            <a:ext cx="3555950" cy="41529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b="0" i="0" u="none" strike="noStrike" cap="none">
                <a:solidFill>
                  <a:schemeClr val="bg1"/>
                </a:solidFill>
                <a:latin typeface="Times New Roman" panose="02020603050405020304" charset="0"/>
                <a:ea typeface="Open Sans"/>
                <a:cs typeface="Times New Roman" panose="02020603050405020304" charset="0"/>
                <a:sym typeface="Open Sans"/>
              </a:rPr>
              <a:t>2. AI Processing &amp; Analysis</a:t>
            </a:r>
          </a:p>
        </p:txBody>
      </p:sp>
      <p:sp>
        <p:nvSpPr>
          <p:cNvPr id="204" name="Google Shape;204;p20"/>
          <p:cNvSpPr txBox="1"/>
          <p:nvPr>
            <p:custDataLst>
              <p:tags r:id="rId6"/>
            </p:custDataLst>
          </p:nvPr>
        </p:nvSpPr>
        <p:spPr>
          <a:xfrm>
            <a:off x="8064400" y="5129212"/>
            <a:ext cx="3555950" cy="41529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b="0" i="0" u="none" strike="noStrike" cap="none">
                <a:solidFill>
                  <a:schemeClr val="bg1"/>
                </a:solidFill>
                <a:latin typeface="Times New Roman" panose="02020603050405020304" charset="0"/>
                <a:ea typeface="Open Sans"/>
                <a:cs typeface="Times New Roman" panose="02020603050405020304" charset="0"/>
                <a:sym typeface="Open Sans"/>
              </a:rPr>
              <a:t>3. Ripeness Output &amp; Advice</a:t>
            </a:r>
          </a:p>
        </p:txBody>
      </p:sp>
      <p:pic>
        <p:nvPicPr>
          <p:cNvPr id="205" name="Google Shape;205;p20" descr="image.png"/>
          <p:cNvPicPr preferRelativeResize="0"/>
          <p:nvPr>
            <p:custDataLst>
              <p:tags r:id="rId7"/>
            </p:custDataLst>
          </p:nvPr>
        </p:nvPicPr>
        <p:blipFill rotWithShape="1">
          <a:blip r:embed="rId16"/>
          <a:srcRect/>
          <a:stretch>
            <a:fillRect/>
          </a:stretch>
        </p:blipFill>
        <p:spPr>
          <a:xfrm>
            <a:off x="581025" y="2138362"/>
            <a:ext cx="3536900" cy="2838450"/>
          </a:xfrm>
          <a:prstGeom prst="rect">
            <a:avLst/>
          </a:prstGeom>
          <a:noFill/>
          <a:ln>
            <a:noFill/>
          </a:ln>
        </p:spPr>
      </p:pic>
      <p:pic>
        <p:nvPicPr>
          <p:cNvPr id="206" name="Google Shape;206;p20" descr="image.png"/>
          <p:cNvPicPr preferRelativeResize="0"/>
          <p:nvPr>
            <p:custDataLst>
              <p:tags r:id="rId8"/>
            </p:custDataLst>
          </p:nvPr>
        </p:nvPicPr>
        <p:blipFill rotWithShape="1">
          <a:blip r:embed="rId17"/>
          <a:srcRect/>
          <a:stretch>
            <a:fillRect/>
          </a:stretch>
        </p:blipFill>
        <p:spPr>
          <a:xfrm>
            <a:off x="4327475" y="2138362"/>
            <a:ext cx="3536900" cy="2838450"/>
          </a:xfrm>
          <a:prstGeom prst="rect">
            <a:avLst/>
          </a:prstGeom>
          <a:noFill/>
          <a:ln>
            <a:noFill/>
          </a:ln>
        </p:spPr>
      </p:pic>
      <p:pic>
        <p:nvPicPr>
          <p:cNvPr id="207" name="Google Shape;207;p20" descr="image.png"/>
          <p:cNvPicPr preferRelativeResize="0"/>
          <p:nvPr>
            <p:custDataLst>
              <p:tags r:id="rId9"/>
            </p:custDataLst>
          </p:nvPr>
        </p:nvPicPr>
        <p:blipFill rotWithShape="1">
          <a:blip r:embed="rId18"/>
          <a:srcRect/>
          <a:stretch>
            <a:fillRect/>
          </a:stretch>
        </p:blipFill>
        <p:spPr>
          <a:xfrm>
            <a:off x="8073925" y="2138362"/>
            <a:ext cx="3536900" cy="2838450"/>
          </a:xfrm>
          <a:prstGeom prst="rect">
            <a:avLst/>
          </a:prstGeom>
          <a:noFill/>
          <a:ln>
            <a:noFill/>
          </a:ln>
        </p:spPr>
      </p:pic>
      <p:sp>
        <p:nvSpPr>
          <p:cNvPr id="208" name="Google Shape;208;p20"/>
          <p:cNvSpPr txBox="1"/>
          <p:nvPr/>
        </p:nvSpPr>
        <p:spPr>
          <a:xfrm>
            <a:off x="762000" y="571500"/>
            <a:ext cx="4860607"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FFCC"/>
                </a:solidFill>
                <a:latin typeface="Montserrat" panose="00000500000000000000"/>
                <a:ea typeface="Montserrat" panose="00000500000000000000"/>
                <a:cs typeface="Montserrat" panose="00000500000000000000"/>
                <a:sym typeface="Montserrat" panose="00000500000000000000"/>
              </a:rPr>
              <a:t>SYSTEM WORKFLOW</a:t>
            </a:r>
          </a:p>
        </p:txBody>
      </p:sp>
      <p:sp>
        <p:nvSpPr>
          <p:cNvPr id="209" name="Google Shape;209;p20"/>
          <p:cNvSpPr/>
          <p:nvPr/>
        </p:nvSpPr>
        <p:spPr>
          <a:xfrm>
            <a:off x="571500" y="571500"/>
            <a:ext cx="57150" cy="4953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213"/>
        <p:cNvGrpSpPr/>
        <p:nvPr/>
      </p:nvGrpSpPr>
      <p:grpSpPr>
        <a:xfrm>
          <a:off x="0" y="0"/>
          <a:ext cx="0" cy="0"/>
          <a:chOff x="0" y="0"/>
          <a:chExt cx="0" cy="0"/>
        </a:xfrm>
      </p:grpSpPr>
      <p:pic>
        <p:nvPicPr>
          <p:cNvPr id="215" name="Google Shape;215;p21" descr="image.png"/>
          <p:cNvPicPr preferRelativeResize="0"/>
          <p:nvPr/>
        </p:nvPicPr>
        <p:blipFill rotWithShape="1">
          <a:blip r:embed="rId3"/>
          <a:srcRect/>
          <a:stretch>
            <a:fillRect/>
          </a:stretch>
        </p:blipFill>
        <p:spPr>
          <a:xfrm>
            <a:off x="342900" y="2508646"/>
            <a:ext cx="3547028" cy="3156658"/>
          </a:xfrm>
          <a:prstGeom prst="rect">
            <a:avLst/>
          </a:prstGeom>
          <a:noFill/>
          <a:ln>
            <a:noFill/>
          </a:ln>
        </p:spPr>
      </p:pic>
      <p:sp>
        <p:nvSpPr>
          <p:cNvPr id="216" name="Google Shape;216;p21"/>
          <p:cNvSpPr txBox="1"/>
          <p:nvPr/>
        </p:nvSpPr>
        <p:spPr>
          <a:xfrm>
            <a:off x="371475" y="2614595"/>
            <a:ext cx="3518453" cy="92333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000" dirty="0">
                <a:solidFill>
                  <a:srgbClr val="00FFCC"/>
                </a:solidFill>
                <a:latin typeface="Times New Roman" panose="02020603050405020304" charset="0"/>
                <a:ea typeface="Open Sans"/>
                <a:cs typeface="Times New Roman" panose="02020603050405020304" charset="0"/>
                <a:sym typeface="Open Sans"/>
              </a:rPr>
              <a:t>Image Conditioning (Preprocessing)</a:t>
            </a:r>
            <a:r>
              <a:rPr lang="en-US" sz="2000" b="0" i="0" u="none" strike="noStrike" cap="none" dirty="0">
                <a:solidFill>
                  <a:srgbClr val="00FFCC"/>
                </a:solidFill>
                <a:latin typeface="Times New Roman" panose="02020603050405020304" charset="0"/>
                <a:ea typeface="Open Sans"/>
                <a:cs typeface="Times New Roman" panose="02020603050405020304" charset="0"/>
                <a:sym typeface="Open Sans"/>
              </a:rPr>
              <a:t>:</a:t>
            </a:r>
          </a:p>
        </p:txBody>
      </p:sp>
      <p:sp>
        <p:nvSpPr>
          <p:cNvPr id="224" name="Google Shape;224;p21"/>
          <p:cNvSpPr txBox="1"/>
          <p:nvPr/>
        </p:nvSpPr>
        <p:spPr>
          <a:xfrm>
            <a:off x="762000" y="571500"/>
            <a:ext cx="7690961"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FFCC"/>
                </a:solidFill>
                <a:latin typeface="Montserrat" panose="00000500000000000000"/>
                <a:ea typeface="Montserrat" panose="00000500000000000000"/>
                <a:cs typeface="Montserrat" panose="00000500000000000000"/>
                <a:sym typeface="Montserrat" panose="00000500000000000000"/>
              </a:rPr>
              <a:t>MATHEMATICAL PRE-REQUISITES</a:t>
            </a:r>
          </a:p>
        </p:txBody>
      </p:sp>
      <p:sp>
        <p:nvSpPr>
          <p:cNvPr id="225" name="Google Shape;225;p21"/>
          <p:cNvSpPr/>
          <p:nvPr/>
        </p:nvSpPr>
        <p:spPr>
          <a:xfrm>
            <a:off x="571500" y="571500"/>
            <a:ext cx="57150" cy="4953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141950D9-FAE2-947C-F0DA-63C610E71532}"/>
                  </a:ext>
                </a:extLst>
              </p:cNvPr>
              <p:cNvSpPr/>
              <p:nvPr/>
            </p:nvSpPr>
            <p:spPr>
              <a:xfrm>
                <a:off x="1410473" y="3643874"/>
                <a:ext cx="1868041" cy="461644"/>
              </a:xfrm>
              <a:prstGeom prst="rect">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m:rPr>
                              <m:sty m:val="p"/>
                            </m:rPr>
                            <a:rPr lang="en-US" b="0" i="1" smtClean="0">
                              <a:latin typeface="Cambria Math" panose="02040503050406030204" pitchFamily="18" charset="0"/>
                            </a:rPr>
                            <m:t>cond</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Ψ</m:t>
                      </m:r>
                      <m:r>
                        <a:rPr lang="en-US" b="0" i="0" smtClean="0">
                          <a:latin typeface="Cambria Math" panose="02040503050406030204" pitchFamily="18" charset="0"/>
                        </a:rPr>
                        <m:t>(</m:t>
                      </m:r>
                      <m:r>
                        <m:rPr>
                          <m:sty m:val="p"/>
                        </m:rPr>
                        <a:rPr lang="en-US" b="0" i="0" smtClean="0">
                          <a:latin typeface="Cambria Math" panose="02040503050406030204" pitchFamily="18" charset="0"/>
                        </a:rPr>
                        <m:t>Ω</m:t>
                      </m:r>
                      <m:d>
                        <m:dPr>
                          <m:ctrlPr>
                            <a:rPr lang="en-US" b="0" i="1" smtClean="0">
                              <a:latin typeface="Cambria Math" panose="02040503050406030204" pitchFamily="18" charset="0"/>
                            </a:rPr>
                          </m:ctrlPr>
                        </m:dPr>
                        <m:e>
                          <m:r>
                            <a:rPr lang="en-US" b="0" i="1" smtClean="0">
                              <a:latin typeface="Cambria Math" panose="02040503050406030204" pitchFamily="18" charset="0"/>
                            </a:rPr>
                            <m:t>𝐼</m:t>
                          </m:r>
                        </m:e>
                      </m:d>
                      <m:r>
                        <a:rPr lang="en-US" b="0" i="1" smtClean="0">
                          <a:latin typeface="Cambria Math" panose="02040503050406030204" pitchFamily="18" charset="0"/>
                        </a:rPr>
                        <m:t>)</m:t>
                      </m:r>
                    </m:oMath>
                  </m:oMathPara>
                </a14:m>
                <a:endParaRPr lang="en-IN" dirty="0"/>
              </a:p>
            </p:txBody>
          </p:sp>
        </mc:Choice>
        <mc:Fallback xmlns="">
          <p:sp>
            <p:nvSpPr>
              <p:cNvPr id="2" name="Rectangle 1">
                <a:extLst>
                  <a:ext uri="{FF2B5EF4-FFF2-40B4-BE49-F238E27FC236}">
                    <a16:creationId xmlns:a16="http://schemas.microsoft.com/office/drawing/2014/main" id="{141950D9-FAE2-947C-F0DA-63C610E71532}"/>
                  </a:ext>
                </a:extLst>
              </p:cNvPr>
              <p:cNvSpPr>
                <a:spLocks noRot="1" noChangeAspect="1" noMove="1" noResize="1" noEditPoints="1" noAdjustHandles="1" noChangeArrowheads="1" noChangeShapeType="1" noTextEdit="1"/>
              </p:cNvSpPr>
              <p:nvPr/>
            </p:nvSpPr>
            <p:spPr>
              <a:xfrm>
                <a:off x="1410473" y="3643874"/>
                <a:ext cx="1868041" cy="461644"/>
              </a:xfrm>
              <a:prstGeom prst="rect">
                <a:avLst/>
              </a:prstGeom>
              <a:blipFill>
                <a:blip r:embed="rId4"/>
                <a:stretch>
                  <a:fillRect/>
                </a:stretch>
              </a:blipFill>
            </p:spPr>
            <p:txBody>
              <a:bodyPr/>
              <a:lstStyle/>
              <a:p>
                <a:r>
                  <a:rPr lang="en-IN">
                    <a:noFill/>
                  </a:rPr>
                  <a:t> </a:t>
                </a:r>
              </a:p>
            </p:txBody>
          </p:sp>
        </mc:Fallback>
      </mc:AlternateContent>
      <p:sp>
        <p:nvSpPr>
          <p:cNvPr id="3" name="TextBox 2">
            <a:extLst>
              <a:ext uri="{FF2B5EF4-FFF2-40B4-BE49-F238E27FC236}">
                <a16:creationId xmlns:a16="http://schemas.microsoft.com/office/drawing/2014/main" id="{925A7152-B922-E317-75F0-9D1751FB0D76}"/>
              </a:ext>
            </a:extLst>
          </p:cNvPr>
          <p:cNvSpPr txBox="1"/>
          <p:nvPr/>
        </p:nvSpPr>
        <p:spPr>
          <a:xfrm>
            <a:off x="447675" y="4244477"/>
            <a:ext cx="3442254" cy="1169551"/>
          </a:xfrm>
          <a:prstGeom prst="rect">
            <a:avLst/>
          </a:prstGeom>
          <a:noFill/>
        </p:spPr>
        <p:txBody>
          <a:bodyPr wrap="square" rtlCol="0">
            <a:spAutoFit/>
          </a:bodyPr>
          <a:lstStyle/>
          <a:p>
            <a:pPr marL="285750" indent="-285750">
              <a:buClr>
                <a:schemeClr val="bg1"/>
              </a:buClr>
              <a:buFont typeface="Arial" panose="020B0604020202020204" pitchFamily="34" charset="0"/>
              <a:buChar char="•"/>
            </a:pPr>
            <a:r>
              <a:rPr lang="en-US" dirty="0">
                <a:solidFill>
                  <a:schemeClr val="bg1"/>
                </a:solidFill>
              </a:rPr>
              <a:t>Resizes images to 224×224</a:t>
            </a:r>
          </a:p>
          <a:p>
            <a:pPr marL="285750" indent="-285750">
              <a:buClr>
                <a:schemeClr val="bg1"/>
              </a:buClr>
              <a:buFont typeface="Arial" panose="020B0604020202020204" pitchFamily="34" charset="0"/>
              <a:buChar char="•"/>
            </a:pPr>
            <a:r>
              <a:rPr lang="en-US" dirty="0">
                <a:solidFill>
                  <a:schemeClr val="bg1"/>
                </a:solidFill>
              </a:rPr>
              <a:t>Normalizes pixel values to ImageNet Distribution</a:t>
            </a:r>
          </a:p>
          <a:p>
            <a:pPr marL="285750" indent="-285750">
              <a:buClr>
                <a:schemeClr val="bg1"/>
              </a:buClr>
              <a:buFont typeface="Arial" panose="020B0604020202020204" pitchFamily="34" charset="0"/>
              <a:buChar char="•"/>
            </a:pPr>
            <a:r>
              <a:rPr lang="en-IN" dirty="0">
                <a:solidFill>
                  <a:schemeClr val="bg1"/>
                </a:solidFill>
              </a:rPr>
              <a:t>Ensures compatibility with EfficientNetB0</a:t>
            </a:r>
          </a:p>
        </p:txBody>
      </p:sp>
      <p:pic>
        <p:nvPicPr>
          <p:cNvPr id="8" name="Google Shape;215;p21" descr="image.png">
            <a:extLst>
              <a:ext uri="{FF2B5EF4-FFF2-40B4-BE49-F238E27FC236}">
                <a16:creationId xmlns:a16="http://schemas.microsoft.com/office/drawing/2014/main" id="{5ECBF1C1-9BAE-CC7C-9B4F-A36800A810CE}"/>
              </a:ext>
            </a:extLst>
          </p:cNvPr>
          <p:cNvPicPr preferRelativeResize="0"/>
          <p:nvPr/>
        </p:nvPicPr>
        <p:blipFill rotWithShape="1">
          <a:blip r:embed="rId3"/>
          <a:srcRect/>
          <a:stretch>
            <a:fillRect/>
          </a:stretch>
        </p:blipFill>
        <p:spPr>
          <a:xfrm>
            <a:off x="4308198" y="2508646"/>
            <a:ext cx="3547028" cy="3156658"/>
          </a:xfrm>
          <a:prstGeom prst="rect">
            <a:avLst/>
          </a:prstGeom>
          <a:noFill/>
          <a:ln>
            <a:noFill/>
          </a:ln>
        </p:spPr>
      </p:pic>
      <p:sp>
        <p:nvSpPr>
          <p:cNvPr id="9" name="Google Shape;216;p21">
            <a:extLst>
              <a:ext uri="{FF2B5EF4-FFF2-40B4-BE49-F238E27FC236}">
                <a16:creationId xmlns:a16="http://schemas.microsoft.com/office/drawing/2014/main" id="{41CA8405-FEDC-D54F-4034-24B7CA9D9A72}"/>
              </a:ext>
            </a:extLst>
          </p:cNvPr>
          <p:cNvSpPr txBox="1"/>
          <p:nvPr/>
        </p:nvSpPr>
        <p:spPr>
          <a:xfrm>
            <a:off x="4336773" y="2614595"/>
            <a:ext cx="3518453" cy="92333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000" dirty="0">
                <a:solidFill>
                  <a:srgbClr val="00FFCC"/>
                </a:solidFill>
                <a:latin typeface="Times New Roman" panose="02020603050405020304" charset="0"/>
                <a:ea typeface="Open Sans"/>
                <a:cs typeface="Times New Roman" panose="02020603050405020304" charset="0"/>
                <a:sym typeface="Open Sans"/>
              </a:rPr>
              <a:t>EfficientNetB0 Feature Extraction (Transfer Learning)</a:t>
            </a:r>
            <a:r>
              <a:rPr lang="en-US" sz="2000" b="0" i="0" u="none" strike="noStrike" cap="none" dirty="0">
                <a:solidFill>
                  <a:srgbClr val="00FFCC"/>
                </a:solidFill>
                <a:latin typeface="Times New Roman" panose="02020603050405020304" charset="0"/>
                <a:ea typeface="Open Sans"/>
                <a:cs typeface="Times New Roman" panose="02020603050405020304" charset="0"/>
                <a:sym typeface="Open Sans"/>
              </a:rPr>
              <a:t>:</a:t>
            </a:r>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3202E705-EE17-71AA-C866-BC857201A1BC}"/>
                  </a:ext>
                </a:extLst>
              </p:cNvPr>
              <p:cNvSpPr/>
              <p:nvPr/>
            </p:nvSpPr>
            <p:spPr>
              <a:xfrm>
                <a:off x="4412973" y="3643874"/>
                <a:ext cx="3442253" cy="461644"/>
              </a:xfrm>
              <a:prstGeom prst="rect">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𝑭</m:t>
                          </m:r>
                        </m:e>
                        <m:sub>
                          <m:r>
                            <m:rPr>
                              <m:sty m:val="p"/>
                            </m:rPr>
                            <a:rPr lang="en-US" b="0" i="1" smtClean="0">
                              <a:latin typeface="Cambria Math" panose="02040503050406030204" pitchFamily="18" charset="0"/>
                            </a:rPr>
                            <m:t>ripeness</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a:latin typeface="Cambria Math" panose="02040503050406030204" pitchFamily="18" charset="0"/>
                            </a:rPr>
                            <m:t>Φ</m:t>
                          </m:r>
                        </m:e>
                        <m:sub>
                          <m:r>
                            <m:rPr>
                              <m:sty m:val="p"/>
                            </m:rPr>
                            <a:rPr lang="en-US" b="0" i="1" smtClean="0">
                              <a:latin typeface="Cambria Math" panose="02040503050406030204" pitchFamily="18" charset="0"/>
                            </a:rPr>
                            <m:t>B</m:t>
                          </m:r>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m:rPr>
                              <m:sty m:val="p"/>
                            </m:rPr>
                            <a:rPr lang="en-US" b="0" i="1" smtClean="0">
                              <a:latin typeface="Cambria Math" panose="02040503050406030204" pitchFamily="18" charset="0"/>
                            </a:rPr>
                            <m:t>cond</m:t>
                          </m:r>
                        </m:sub>
                      </m:sSub>
                      <m:r>
                        <a:rPr lang="en-US" b="0" i="1" smtClean="0">
                          <a:latin typeface="Cambria Math" panose="02040503050406030204" pitchFamily="18" charset="0"/>
                        </a:rPr>
                        <m:t>)</m:t>
                      </m:r>
                    </m:oMath>
                  </m:oMathPara>
                </a14:m>
                <a:endParaRPr/>
              </a:p>
            </p:txBody>
          </p:sp>
        </mc:Choice>
        <mc:Fallback xmlns="">
          <p:sp>
            <p:nvSpPr>
              <p:cNvPr id="10" name="Rectangle 9">
                <a:extLst>
                  <a:ext uri="{FF2B5EF4-FFF2-40B4-BE49-F238E27FC236}">
                    <a16:creationId xmlns:a16="http://schemas.microsoft.com/office/drawing/2014/main" id="{3202E705-EE17-71AA-C866-BC857201A1BC}"/>
                  </a:ext>
                </a:extLst>
              </p:cNvPr>
              <p:cNvSpPr>
                <a:spLocks noRot="1" noChangeAspect="1" noMove="1" noResize="1" noEditPoints="1" noAdjustHandles="1" noChangeArrowheads="1" noChangeShapeType="1" noTextEdit="1"/>
              </p:cNvSpPr>
              <p:nvPr/>
            </p:nvSpPr>
            <p:spPr>
              <a:xfrm>
                <a:off x="4412973" y="3643874"/>
                <a:ext cx="3442253" cy="461644"/>
              </a:xfrm>
              <a:prstGeom prst="rect">
                <a:avLst/>
              </a:prstGeom>
              <a:blipFill>
                <a:blip r:embed="rId5"/>
                <a:stretch>
                  <a:fillRect/>
                </a:stretch>
              </a:blipFill>
            </p:spPr>
            <p:txBody>
              <a:bodyPr/>
              <a:lstStyle/>
              <a:p>
                <a:r>
                  <a:rPr lang="en-IN">
                    <a:noFill/>
                  </a:rPr>
                  <a:t> </a:t>
                </a:r>
              </a:p>
            </p:txBody>
          </p:sp>
        </mc:Fallback>
      </mc:AlternateContent>
      <p:sp>
        <p:nvSpPr>
          <p:cNvPr id="11" name="TextBox 10">
            <a:extLst>
              <a:ext uri="{FF2B5EF4-FFF2-40B4-BE49-F238E27FC236}">
                <a16:creationId xmlns:a16="http://schemas.microsoft.com/office/drawing/2014/main" id="{BAAA0385-E6BB-ECD2-9E07-B8EB071E970D}"/>
              </a:ext>
            </a:extLst>
          </p:cNvPr>
          <p:cNvSpPr txBox="1"/>
          <p:nvPr/>
        </p:nvSpPr>
        <p:spPr>
          <a:xfrm>
            <a:off x="4412973" y="4244477"/>
            <a:ext cx="3442254" cy="954107"/>
          </a:xfrm>
          <a:prstGeom prst="rect">
            <a:avLst/>
          </a:prstGeom>
          <a:noFill/>
        </p:spPr>
        <p:txBody>
          <a:bodyPr wrap="square" rtlCol="0">
            <a:spAutoFit/>
          </a:bodyPr>
          <a:lstStyle/>
          <a:p>
            <a:pPr marL="285750" indent="-285750">
              <a:buClr>
                <a:schemeClr val="bg1"/>
              </a:buClr>
              <a:buFont typeface="Arial" panose="020B0604020202020204" pitchFamily="34" charset="0"/>
              <a:buChar char="•"/>
            </a:pPr>
            <a:r>
              <a:rPr lang="en-US" dirty="0">
                <a:solidFill>
                  <a:schemeClr val="bg1"/>
                </a:solidFill>
              </a:rPr>
              <a:t>Extracts color, texture, maturity cues</a:t>
            </a:r>
          </a:p>
          <a:p>
            <a:pPr marL="285750" indent="-285750">
              <a:buClr>
                <a:schemeClr val="bg1"/>
              </a:buClr>
              <a:buFont typeface="Arial" panose="020B0604020202020204" pitchFamily="34" charset="0"/>
              <a:buChar char="•"/>
            </a:pPr>
            <a:r>
              <a:rPr lang="en-US" dirty="0">
                <a:solidFill>
                  <a:schemeClr val="bg1"/>
                </a:solidFill>
              </a:rPr>
              <a:t>Uses Pre-trained EfficientNetB0</a:t>
            </a:r>
          </a:p>
          <a:p>
            <a:pPr marL="285750" indent="-285750">
              <a:buClr>
                <a:schemeClr val="bg1"/>
              </a:buClr>
              <a:buFont typeface="Arial" panose="020B0604020202020204" pitchFamily="34" charset="0"/>
              <a:buChar char="•"/>
            </a:pPr>
            <a:r>
              <a:rPr lang="en-US" dirty="0">
                <a:solidFill>
                  <a:schemeClr val="bg1"/>
                </a:solidFill>
              </a:rPr>
              <a:t>Only upper layers are fine-tuned for ripeness </a:t>
            </a:r>
            <a:endParaRPr lang="en-IN" dirty="0">
              <a:solidFill>
                <a:schemeClr val="bg1"/>
              </a:solidFill>
            </a:endParaRPr>
          </a:p>
        </p:txBody>
      </p:sp>
      <p:pic>
        <p:nvPicPr>
          <p:cNvPr id="12" name="Google Shape;215;p21" descr="image.png">
            <a:extLst>
              <a:ext uri="{FF2B5EF4-FFF2-40B4-BE49-F238E27FC236}">
                <a16:creationId xmlns:a16="http://schemas.microsoft.com/office/drawing/2014/main" id="{6CA02D89-9906-F884-D72D-1E1376C85A3D}"/>
              </a:ext>
            </a:extLst>
          </p:cNvPr>
          <p:cNvPicPr preferRelativeResize="0"/>
          <p:nvPr/>
        </p:nvPicPr>
        <p:blipFill rotWithShape="1">
          <a:blip r:embed="rId3"/>
          <a:srcRect/>
          <a:stretch>
            <a:fillRect/>
          </a:stretch>
        </p:blipFill>
        <p:spPr>
          <a:xfrm>
            <a:off x="8302071" y="2508646"/>
            <a:ext cx="3547028" cy="3156658"/>
          </a:xfrm>
          <a:prstGeom prst="rect">
            <a:avLst/>
          </a:prstGeom>
          <a:noFill/>
          <a:ln>
            <a:noFill/>
          </a:ln>
        </p:spPr>
      </p:pic>
      <p:sp>
        <p:nvSpPr>
          <p:cNvPr id="13" name="Google Shape;216;p21">
            <a:extLst>
              <a:ext uri="{FF2B5EF4-FFF2-40B4-BE49-F238E27FC236}">
                <a16:creationId xmlns:a16="http://schemas.microsoft.com/office/drawing/2014/main" id="{9A5CD309-03BB-0E84-33F1-5C72FE852F29}"/>
              </a:ext>
            </a:extLst>
          </p:cNvPr>
          <p:cNvSpPr txBox="1"/>
          <p:nvPr/>
        </p:nvSpPr>
        <p:spPr>
          <a:xfrm>
            <a:off x="8330646" y="2614595"/>
            <a:ext cx="3518453" cy="92333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000" dirty="0">
                <a:solidFill>
                  <a:srgbClr val="00FFCC"/>
                </a:solidFill>
                <a:latin typeface="Times New Roman" panose="02020603050405020304" charset="0"/>
                <a:ea typeface="Open Sans"/>
                <a:cs typeface="Times New Roman" panose="02020603050405020304" charset="0"/>
                <a:sym typeface="Open Sans"/>
              </a:rPr>
              <a:t>Global Average Pooling (Spatial Evidence Consolidation)</a:t>
            </a:r>
            <a:r>
              <a:rPr lang="en-US" sz="2000" b="0" i="0" u="none" strike="noStrike" cap="none" dirty="0">
                <a:solidFill>
                  <a:srgbClr val="00FFCC"/>
                </a:solidFill>
                <a:latin typeface="Times New Roman" panose="02020603050405020304" charset="0"/>
                <a:ea typeface="Open Sans"/>
                <a:cs typeface="Times New Roman" panose="02020603050405020304" charset="0"/>
                <a:sym typeface="Open Sans"/>
              </a:rPr>
              <a:t>:</a:t>
            </a:r>
          </a:p>
        </p:txBody>
      </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DD07876C-5A5B-7092-BEAF-FC137D24FE61}"/>
                  </a:ext>
                </a:extLst>
              </p:cNvPr>
              <p:cNvSpPr/>
              <p:nvPr/>
            </p:nvSpPr>
            <p:spPr>
              <a:xfrm>
                <a:off x="8557591" y="3537925"/>
                <a:ext cx="2971799" cy="706552"/>
              </a:xfrm>
              <a:prstGeom prst="rect">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𝑐</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m:rPr>
                              <m:sty m:val="p"/>
                            </m:rPr>
                            <a:rPr lang="en-US" b="0" i="1" smtClean="0">
                              <a:latin typeface="Cambria Math" panose="02040503050406030204" pitchFamily="18" charset="0"/>
                            </a:rPr>
                            <m:t>HW</m:t>
                          </m:r>
                        </m:den>
                      </m:f>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𝑥</m:t>
                          </m:r>
                          <m:r>
                            <a:rPr lang="en-US" b="0" i="1" smtClean="0">
                              <a:latin typeface="Cambria Math" panose="02040503050406030204" pitchFamily="18" charset="0"/>
                            </a:rPr>
                            <m:t>=1</m:t>
                          </m:r>
                        </m:sub>
                        <m:sup>
                          <m:r>
                            <a:rPr lang="en-US" b="0" i="1" smtClean="0">
                              <a:latin typeface="Cambria Math" panose="02040503050406030204" pitchFamily="18" charset="0"/>
                            </a:rPr>
                            <m:t>𝐻</m:t>
                          </m:r>
                        </m:sup>
                        <m:e>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𝑦</m:t>
                              </m:r>
                              <m:r>
                                <a:rPr lang="en-US" b="0" i="1" smtClean="0">
                                  <a:latin typeface="Cambria Math" panose="02040503050406030204" pitchFamily="18" charset="0"/>
                                </a:rPr>
                                <m:t>=1</m:t>
                              </m:r>
                            </m:sub>
                            <m:sup>
                              <m:r>
                                <a:rPr lang="en-US" b="0" i="1" smtClean="0">
                                  <a:latin typeface="Cambria Math" panose="02040503050406030204" pitchFamily="18" charset="0"/>
                                </a:rPr>
                                <m:t>𝑊</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𝑐</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e>
                          </m:nary>
                        </m:e>
                      </m:nary>
                    </m:oMath>
                  </m:oMathPara>
                </a14:m>
                <a:endParaRPr lang="en-IN" dirty="0"/>
              </a:p>
            </p:txBody>
          </p:sp>
        </mc:Choice>
        <mc:Fallback xmlns="">
          <p:sp>
            <p:nvSpPr>
              <p:cNvPr id="14" name="Rectangle 13">
                <a:extLst>
                  <a:ext uri="{FF2B5EF4-FFF2-40B4-BE49-F238E27FC236}">
                    <a16:creationId xmlns:a16="http://schemas.microsoft.com/office/drawing/2014/main" id="{DD07876C-5A5B-7092-BEAF-FC137D24FE61}"/>
                  </a:ext>
                </a:extLst>
              </p:cNvPr>
              <p:cNvSpPr>
                <a:spLocks noRot="1" noChangeAspect="1" noMove="1" noResize="1" noEditPoints="1" noAdjustHandles="1" noChangeArrowheads="1" noChangeShapeType="1" noTextEdit="1"/>
              </p:cNvSpPr>
              <p:nvPr/>
            </p:nvSpPr>
            <p:spPr>
              <a:xfrm>
                <a:off x="8557591" y="3537925"/>
                <a:ext cx="2971799" cy="706552"/>
              </a:xfrm>
              <a:prstGeom prst="rect">
                <a:avLst/>
              </a:prstGeom>
              <a:blipFill>
                <a:blip r:embed="rId6"/>
                <a:stretch>
                  <a:fillRect/>
                </a:stretch>
              </a:blipFill>
            </p:spPr>
            <p:txBody>
              <a:bodyPr/>
              <a:lstStyle/>
              <a:p>
                <a:r>
                  <a:rPr lang="en-IN">
                    <a:noFill/>
                  </a:rPr>
                  <a:t> </a:t>
                </a:r>
              </a:p>
            </p:txBody>
          </p:sp>
        </mc:Fallback>
      </mc:AlternateContent>
      <p:sp>
        <p:nvSpPr>
          <p:cNvPr id="15" name="TextBox 14">
            <a:extLst>
              <a:ext uri="{FF2B5EF4-FFF2-40B4-BE49-F238E27FC236}">
                <a16:creationId xmlns:a16="http://schemas.microsoft.com/office/drawing/2014/main" id="{997EF4C3-D82E-50A5-D761-3322FE42BF50}"/>
              </a:ext>
            </a:extLst>
          </p:cNvPr>
          <p:cNvSpPr txBox="1"/>
          <p:nvPr/>
        </p:nvSpPr>
        <p:spPr>
          <a:xfrm>
            <a:off x="8406846" y="4244477"/>
            <a:ext cx="3442254" cy="1384995"/>
          </a:xfrm>
          <a:prstGeom prst="rect">
            <a:avLst/>
          </a:prstGeom>
          <a:noFill/>
        </p:spPr>
        <p:txBody>
          <a:bodyPr wrap="square" rtlCol="0">
            <a:spAutoFit/>
          </a:bodyPr>
          <a:lstStyle/>
          <a:p>
            <a:pPr marL="285750" indent="-285750">
              <a:buClr>
                <a:schemeClr val="bg1"/>
              </a:buClr>
              <a:buFont typeface="Arial" panose="020B0604020202020204" pitchFamily="34" charset="0"/>
              <a:buChar char="•"/>
            </a:pPr>
            <a:r>
              <a:rPr lang="en-US" dirty="0" err="1">
                <a:solidFill>
                  <a:schemeClr val="bg1"/>
                </a:solidFill>
              </a:rPr>
              <a:t>Agregates</a:t>
            </a:r>
            <a:r>
              <a:rPr lang="en-US" dirty="0">
                <a:solidFill>
                  <a:schemeClr val="bg1"/>
                </a:solidFill>
              </a:rPr>
              <a:t> ripeness evidence across entire fruit</a:t>
            </a:r>
          </a:p>
          <a:p>
            <a:pPr marL="285750" indent="-285750">
              <a:buClr>
                <a:schemeClr val="bg1"/>
              </a:buClr>
              <a:buFont typeface="Arial" panose="020B0604020202020204" pitchFamily="34" charset="0"/>
              <a:buChar char="•"/>
            </a:pPr>
            <a:r>
              <a:rPr lang="en-US" dirty="0">
                <a:solidFill>
                  <a:schemeClr val="bg1"/>
                </a:solidFill>
              </a:rPr>
              <a:t>Removes dependence on exact fruit position</a:t>
            </a:r>
          </a:p>
          <a:p>
            <a:pPr marL="285750" indent="-285750">
              <a:buClr>
                <a:schemeClr val="bg1"/>
              </a:buClr>
              <a:buFont typeface="Arial" panose="020B0604020202020204" pitchFamily="34" charset="0"/>
              <a:buChar char="•"/>
            </a:pPr>
            <a:r>
              <a:rPr lang="en-US" dirty="0">
                <a:solidFill>
                  <a:schemeClr val="bg1"/>
                </a:solidFill>
              </a:rPr>
              <a:t>Produces global feature representation</a:t>
            </a:r>
            <a:endParaRPr lang="en-IN" dirty="0">
              <a:solidFill>
                <a:schemeClr val="bg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213">
          <a:extLst>
            <a:ext uri="{FF2B5EF4-FFF2-40B4-BE49-F238E27FC236}">
              <a16:creationId xmlns:a16="http://schemas.microsoft.com/office/drawing/2014/main" id="{42BA2821-63E0-6EE2-6605-B330F3D7C6E0}"/>
            </a:ext>
          </a:extLst>
        </p:cNvPr>
        <p:cNvGrpSpPr/>
        <p:nvPr/>
      </p:nvGrpSpPr>
      <p:grpSpPr>
        <a:xfrm>
          <a:off x="0" y="0"/>
          <a:ext cx="0" cy="0"/>
          <a:chOff x="0" y="0"/>
          <a:chExt cx="0" cy="0"/>
        </a:xfrm>
      </p:grpSpPr>
      <p:sp>
        <p:nvSpPr>
          <p:cNvPr id="224" name="Google Shape;224;p21">
            <a:extLst>
              <a:ext uri="{FF2B5EF4-FFF2-40B4-BE49-F238E27FC236}">
                <a16:creationId xmlns:a16="http://schemas.microsoft.com/office/drawing/2014/main" id="{3733DDEC-7EE2-F14F-123E-F6F47E03CFE4}"/>
              </a:ext>
            </a:extLst>
          </p:cNvPr>
          <p:cNvSpPr txBox="1"/>
          <p:nvPr/>
        </p:nvSpPr>
        <p:spPr>
          <a:xfrm>
            <a:off x="762000" y="571500"/>
            <a:ext cx="7690961"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FFCC"/>
                </a:solidFill>
                <a:latin typeface="Montserrat" panose="00000500000000000000"/>
                <a:ea typeface="Montserrat" panose="00000500000000000000"/>
                <a:cs typeface="Montserrat" panose="00000500000000000000"/>
                <a:sym typeface="Montserrat" panose="00000500000000000000"/>
              </a:rPr>
              <a:t>MATHEMATICAL PRE-REQUISITES</a:t>
            </a:r>
          </a:p>
        </p:txBody>
      </p:sp>
      <p:sp>
        <p:nvSpPr>
          <p:cNvPr id="225" name="Google Shape;225;p21">
            <a:extLst>
              <a:ext uri="{FF2B5EF4-FFF2-40B4-BE49-F238E27FC236}">
                <a16:creationId xmlns:a16="http://schemas.microsoft.com/office/drawing/2014/main" id="{1BDDD310-DE70-3E36-B39A-9AF7820C4236}"/>
              </a:ext>
            </a:extLst>
          </p:cNvPr>
          <p:cNvSpPr/>
          <p:nvPr/>
        </p:nvSpPr>
        <p:spPr>
          <a:xfrm>
            <a:off x="571500" y="571500"/>
            <a:ext cx="57150" cy="4953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8" name="Google Shape;215;p21" descr="image.png">
            <a:extLst>
              <a:ext uri="{FF2B5EF4-FFF2-40B4-BE49-F238E27FC236}">
                <a16:creationId xmlns:a16="http://schemas.microsoft.com/office/drawing/2014/main" id="{FB79D32D-496C-F28C-7A8C-485E99DC19AC}"/>
              </a:ext>
            </a:extLst>
          </p:cNvPr>
          <p:cNvPicPr preferRelativeResize="0"/>
          <p:nvPr/>
        </p:nvPicPr>
        <p:blipFill rotWithShape="1">
          <a:blip r:embed="rId3"/>
          <a:srcRect/>
          <a:stretch>
            <a:fillRect/>
          </a:stretch>
        </p:blipFill>
        <p:spPr>
          <a:xfrm>
            <a:off x="717355" y="1651130"/>
            <a:ext cx="5053889" cy="3518874"/>
          </a:xfrm>
          <a:prstGeom prst="rect">
            <a:avLst/>
          </a:prstGeom>
          <a:noFill/>
          <a:ln>
            <a:noFill/>
          </a:ln>
        </p:spPr>
      </p:pic>
      <p:sp>
        <p:nvSpPr>
          <p:cNvPr id="9" name="Google Shape;216;p21">
            <a:extLst>
              <a:ext uri="{FF2B5EF4-FFF2-40B4-BE49-F238E27FC236}">
                <a16:creationId xmlns:a16="http://schemas.microsoft.com/office/drawing/2014/main" id="{15672496-3265-7522-CFBE-3F7FF0E90BAA}"/>
              </a:ext>
            </a:extLst>
          </p:cNvPr>
          <p:cNvSpPr txBox="1"/>
          <p:nvPr/>
        </p:nvSpPr>
        <p:spPr>
          <a:xfrm>
            <a:off x="762001" y="2048002"/>
            <a:ext cx="5013175" cy="46166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000" dirty="0" err="1">
                <a:solidFill>
                  <a:srgbClr val="00FFCC"/>
                </a:solidFill>
                <a:latin typeface="Times New Roman" panose="02020603050405020304" charset="0"/>
                <a:ea typeface="Open Sans"/>
                <a:cs typeface="Times New Roman" panose="02020603050405020304" charset="0"/>
                <a:sym typeface="Open Sans"/>
              </a:rPr>
              <a:t>Softmax</a:t>
            </a:r>
            <a:r>
              <a:rPr lang="en-US" sz="2000" dirty="0">
                <a:solidFill>
                  <a:srgbClr val="00FFCC"/>
                </a:solidFill>
                <a:latin typeface="Times New Roman" panose="02020603050405020304" charset="0"/>
                <a:ea typeface="Open Sans"/>
                <a:cs typeface="Times New Roman" panose="02020603050405020304" charset="0"/>
                <a:sym typeface="Open Sans"/>
              </a:rPr>
              <a:t> Classification Function:</a:t>
            </a:r>
            <a:endParaRPr lang="en-US" sz="2000" b="0" i="0" u="none" strike="noStrike" cap="none" dirty="0">
              <a:solidFill>
                <a:srgbClr val="00FFCC"/>
              </a:solidFill>
              <a:latin typeface="Times New Roman" panose="02020603050405020304" charset="0"/>
              <a:ea typeface="Open Sans"/>
              <a:cs typeface="Times New Roman" panose="02020603050405020304" charset="0"/>
              <a:sym typeface="Open Sans"/>
            </a:endParaRPr>
          </a:p>
        </p:txBody>
      </p:sp>
      <p:sp>
        <p:nvSpPr>
          <p:cNvPr id="11" name="TextBox 10">
            <a:extLst>
              <a:ext uri="{FF2B5EF4-FFF2-40B4-BE49-F238E27FC236}">
                <a16:creationId xmlns:a16="http://schemas.microsoft.com/office/drawing/2014/main" id="{93881FE1-C304-AAFE-51C6-D7A098F0489F}"/>
              </a:ext>
            </a:extLst>
          </p:cNvPr>
          <p:cNvSpPr txBox="1"/>
          <p:nvPr/>
        </p:nvSpPr>
        <p:spPr>
          <a:xfrm>
            <a:off x="881053" y="3667423"/>
            <a:ext cx="4904605" cy="1169551"/>
          </a:xfrm>
          <a:prstGeom prst="rect">
            <a:avLst/>
          </a:prstGeom>
          <a:noFill/>
        </p:spPr>
        <p:txBody>
          <a:bodyPr wrap="square" rtlCol="0">
            <a:spAutoFit/>
          </a:bodyPr>
          <a:lstStyle/>
          <a:p>
            <a:pPr marL="285750" indent="-285750">
              <a:buClr>
                <a:schemeClr val="bg1"/>
              </a:buClr>
              <a:buFont typeface="Arial" panose="020B0604020202020204" pitchFamily="34" charset="0"/>
              <a:buChar char="•"/>
            </a:pPr>
            <a:r>
              <a:rPr lang="en-US" dirty="0">
                <a:solidFill>
                  <a:schemeClr val="bg1"/>
                </a:solidFill>
              </a:rPr>
              <a:t>Converts logits to probabilities</a:t>
            </a:r>
          </a:p>
          <a:p>
            <a:pPr marL="285750" indent="-285750">
              <a:buClr>
                <a:schemeClr val="bg1"/>
              </a:buClr>
              <a:buFont typeface="Arial" panose="020B0604020202020204" pitchFamily="34" charset="0"/>
              <a:buChar char="•"/>
            </a:pPr>
            <a:endParaRPr lang="en-US" dirty="0">
              <a:solidFill>
                <a:schemeClr val="bg1"/>
              </a:solidFill>
            </a:endParaRPr>
          </a:p>
          <a:p>
            <a:pPr marL="285750" indent="-285750">
              <a:buClr>
                <a:schemeClr val="bg1"/>
              </a:buClr>
              <a:buFont typeface="Arial" panose="020B0604020202020204" pitchFamily="34" charset="0"/>
              <a:buChar char="•"/>
            </a:pPr>
            <a:r>
              <a:rPr lang="en-US" dirty="0">
                <a:solidFill>
                  <a:schemeClr val="bg1"/>
                </a:solidFill>
              </a:rPr>
              <a:t>Ensures mutual exclusivity of ripeness status</a:t>
            </a:r>
          </a:p>
          <a:p>
            <a:pPr marL="285750" indent="-285750">
              <a:buClr>
                <a:schemeClr val="bg1"/>
              </a:buClr>
              <a:buFont typeface="Arial" panose="020B0604020202020204" pitchFamily="34" charset="0"/>
              <a:buChar char="•"/>
            </a:pPr>
            <a:endParaRPr lang="en-US" dirty="0">
              <a:solidFill>
                <a:schemeClr val="bg1"/>
              </a:solidFill>
            </a:endParaRPr>
          </a:p>
          <a:p>
            <a:pPr marL="285750" indent="-285750">
              <a:buClr>
                <a:schemeClr val="bg1"/>
              </a:buClr>
              <a:buFont typeface="Arial" panose="020B0604020202020204" pitchFamily="34" charset="0"/>
              <a:buChar char="•"/>
            </a:pPr>
            <a:r>
              <a:rPr lang="en-US" dirty="0">
                <a:solidFill>
                  <a:schemeClr val="bg1"/>
                </a:solidFill>
              </a:rPr>
              <a:t>Used to compute </a:t>
            </a:r>
            <a:r>
              <a:rPr lang="en-US" dirty="0" err="1">
                <a:solidFill>
                  <a:schemeClr val="bg1"/>
                </a:solidFill>
              </a:rPr>
              <a:t>compute</a:t>
            </a:r>
            <a:r>
              <a:rPr lang="en-US" dirty="0">
                <a:solidFill>
                  <a:schemeClr val="bg1"/>
                </a:solidFill>
              </a:rPr>
              <a:t> confidence Levels</a:t>
            </a:r>
            <a:endParaRPr lang="en-IN" dirty="0">
              <a:solidFill>
                <a:schemeClr val="bg1"/>
              </a:solidFill>
            </a:endParaRPr>
          </a:p>
        </p:txBody>
      </p:sp>
      <p:pic>
        <p:nvPicPr>
          <p:cNvPr id="12" name="Google Shape;215;p21" descr="image.png">
            <a:extLst>
              <a:ext uri="{FF2B5EF4-FFF2-40B4-BE49-F238E27FC236}">
                <a16:creationId xmlns:a16="http://schemas.microsoft.com/office/drawing/2014/main" id="{20113D49-3163-1C61-9AC4-7ECC389A07AA}"/>
              </a:ext>
            </a:extLst>
          </p:cNvPr>
          <p:cNvPicPr preferRelativeResize="0"/>
          <p:nvPr/>
        </p:nvPicPr>
        <p:blipFill rotWithShape="1">
          <a:blip r:embed="rId3"/>
          <a:srcRect/>
          <a:stretch>
            <a:fillRect/>
          </a:stretch>
        </p:blipFill>
        <p:spPr>
          <a:xfrm>
            <a:off x="6679447" y="1651130"/>
            <a:ext cx="4760326" cy="3566896"/>
          </a:xfrm>
          <a:prstGeom prst="rect">
            <a:avLst/>
          </a:prstGeom>
          <a:noFill/>
          <a:ln>
            <a:noFill/>
          </a:ln>
        </p:spPr>
      </p:pic>
      <p:sp>
        <p:nvSpPr>
          <p:cNvPr id="13" name="Google Shape;216;p21">
            <a:extLst>
              <a:ext uri="{FF2B5EF4-FFF2-40B4-BE49-F238E27FC236}">
                <a16:creationId xmlns:a16="http://schemas.microsoft.com/office/drawing/2014/main" id="{A893071C-87E5-C80D-951B-77E85A10DE5A}"/>
              </a:ext>
            </a:extLst>
          </p:cNvPr>
          <p:cNvSpPr txBox="1"/>
          <p:nvPr/>
        </p:nvSpPr>
        <p:spPr>
          <a:xfrm>
            <a:off x="6812351" y="2048002"/>
            <a:ext cx="4721977" cy="46166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000" dirty="0">
                <a:solidFill>
                  <a:srgbClr val="00FFCC"/>
                </a:solidFill>
                <a:latin typeface="Times New Roman" panose="02020603050405020304" charset="0"/>
                <a:ea typeface="Open Sans"/>
                <a:cs typeface="Times New Roman" panose="02020603050405020304" charset="0"/>
                <a:sym typeface="Open Sans"/>
              </a:rPr>
              <a:t>Categorical Cross-Entropy Loss</a:t>
            </a:r>
            <a:endParaRPr lang="en-US" sz="2000" b="0" i="0" u="none" strike="noStrike" cap="none" dirty="0">
              <a:solidFill>
                <a:srgbClr val="00FFCC"/>
              </a:solidFill>
              <a:latin typeface="Times New Roman" panose="02020603050405020304" charset="0"/>
              <a:ea typeface="Open Sans"/>
              <a:cs typeface="Times New Roman" panose="02020603050405020304" charset="0"/>
              <a:sym typeface="Open Sans"/>
            </a:endParaRPr>
          </a:p>
        </p:txBody>
      </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098E42CA-6BE1-5EB3-92E1-98254C9EFDCB}"/>
                  </a:ext>
                </a:extLst>
              </p:cNvPr>
              <p:cNvSpPr/>
              <p:nvPr/>
            </p:nvSpPr>
            <p:spPr>
              <a:xfrm>
                <a:off x="7065443" y="2776424"/>
                <a:ext cx="3988334" cy="738664"/>
              </a:xfrm>
              <a:prstGeom prst="rect">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i="1">
                              <a:latin typeface="Cambria Math" panose="02040503050406030204" pitchFamily="18" charset="0"/>
                            </a:rPr>
                            <m:t>𝑳</m:t>
                          </m:r>
                        </m:e>
                        <m:sub>
                          <m:r>
                            <m:rPr>
                              <m:sty m:val="p"/>
                            </m:rPr>
                            <a:rPr lang="en-US" b="0" i="1" smtClean="0">
                              <a:latin typeface="Cambria Math" panose="02040503050406030204" pitchFamily="18" charset="0"/>
                            </a:rPr>
                            <m:t>CE</m:t>
                          </m:r>
                        </m:sub>
                      </m:sSub>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sty m:val="p"/>
                              <m:brk m:alnAt="23"/>
                            </m:rPr>
                            <a:rPr lang="en-US" b="0" i="1" smtClean="0">
                              <a:latin typeface="Cambria Math" panose="02040503050406030204" pitchFamily="18" charset="0"/>
                            </a:rPr>
                            <m:t>i</m:t>
                          </m:r>
                          <m:r>
                            <a:rPr lang="en-US" b="0" i="1" smtClean="0">
                              <a:latin typeface="Cambria Math" panose="02040503050406030204" pitchFamily="18" charset="0"/>
                            </a:rPr>
                            <m:t>=1</m:t>
                          </m:r>
                        </m:sub>
                        <m:sup>
                          <m:r>
                            <m:rPr>
                              <m:sty m:val="p"/>
                            </m:rPr>
                            <a:rPr lang="en-US" b="0" i="1" smtClean="0">
                              <a:latin typeface="Cambria Math" panose="02040503050406030204" pitchFamily="18" charset="0"/>
                            </a:rPr>
                            <m:t>C</m:t>
                          </m:r>
                        </m:sup>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d>
                                <m:dPr>
                                  <m:ctrlPr>
                                    <a:rPr lang="en-US" i="1">
                                      <a:latin typeface="Cambria Math" panose="02040503050406030204" pitchFamily="18" charset="0"/>
                                    </a:rPr>
                                  </m:ctrlPr>
                                </m:dPr>
                                <m:e>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e>
                                  </m:d>
                                </m:e>
                              </m:d>
                            </m:e>
                          </m:func>
                        </m:e>
                      </m:nary>
                    </m:oMath>
                  </m:oMathPara>
                </a14:m>
                <a:endParaRPr lang="en-IN" dirty="0"/>
              </a:p>
            </p:txBody>
          </p:sp>
        </mc:Choice>
        <mc:Fallback xmlns="">
          <p:sp>
            <p:nvSpPr>
              <p:cNvPr id="14" name="Rectangle 13">
                <a:extLst>
                  <a:ext uri="{FF2B5EF4-FFF2-40B4-BE49-F238E27FC236}">
                    <a16:creationId xmlns:a16="http://schemas.microsoft.com/office/drawing/2014/main" id="{098E42CA-6BE1-5EB3-92E1-98254C9EFDCB}"/>
                  </a:ext>
                </a:extLst>
              </p:cNvPr>
              <p:cNvSpPr>
                <a:spLocks noRot="1" noChangeAspect="1" noMove="1" noResize="1" noEditPoints="1" noAdjustHandles="1" noChangeArrowheads="1" noChangeShapeType="1" noTextEdit="1"/>
              </p:cNvSpPr>
              <p:nvPr/>
            </p:nvSpPr>
            <p:spPr>
              <a:xfrm>
                <a:off x="7065443" y="2776424"/>
                <a:ext cx="3988334" cy="738664"/>
              </a:xfrm>
              <a:prstGeom prst="rect">
                <a:avLst/>
              </a:prstGeom>
              <a:blipFill>
                <a:blip r:embed="rId4"/>
                <a:stretch>
                  <a:fillRect/>
                </a:stretch>
              </a:blipFill>
            </p:spPr>
            <p:txBody>
              <a:bodyPr/>
              <a:lstStyle/>
              <a:p>
                <a:r>
                  <a:rPr lang="en-IN">
                    <a:noFill/>
                  </a:rPr>
                  <a:t> </a:t>
                </a:r>
              </a:p>
            </p:txBody>
          </p:sp>
        </mc:Fallback>
      </mc:AlternateContent>
      <p:sp>
        <p:nvSpPr>
          <p:cNvPr id="15" name="TextBox 14">
            <a:extLst>
              <a:ext uri="{FF2B5EF4-FFF2-40B4-BE49-F238E27FC236}">
                <a16:creationId xmlns:a16="http://schemas.microsoft.com/office/drawing/2014/main" id="{0D05C362-7E66-5DE5-6A51-62B2695F9ABB}"/>
              </a:ext>
            </a:extLst>
          </p:cNvPr>
          <p:cNvSpPr txBox="1"/>
          <p:nvPr/>
        </p:nvSpPr>
        <p:spPr>
          <a:xfrm>
            <a:off x="6810286" y="3851047"/>
            <a:ext cx="4619713" cy="738664"/>
          </a:xfrm>
          <a:prstGeom prst="rect">
            <a:avLst/>
          </a:prstGeom>
          <a:noFill/>
        </p:spPr>
        <p:txBody>
          <a:bodyPr wrap="square" rtlCol="0">
            <a:spAutoFit/>
          </a:bodyPr>
          <a:lstStyle/>
          <a:p>
            <a:pPr marL="285750" indent="-285750">
              <a:buClr>
                <a:schemeClr val="bg1"/>
              </a:buClr>
              <a:buFont typeface="Arial" panose="020B0604020202020204" pitchFamily="34" charset="0"/>
              <a:buChar char="•"/>
            </a:pPr>
            <a:r>
              <a:rPr lang="en-US" dirty="0">
                <a:solidFill>
                  <a:schemeClr val="bg1"/>
                </a:solidFill>
              </a:rPr>
              <a:t>Resizes images to 224×224</a:t>
            </a:r>
          </a:p>
          <a:p>
            <a:pPr marL="285750" indent="-285750">
              <a:buClr>
                <a:schemeClr val="bg1"/>
              </a:buClr>
              <a:buFont typeface="Arial" panose="020B0604020202020204" pitchFamily="34" charset="0"/>
              <a:buChar char="•"/>
            </a:pPr>
            <a:r>
              <a:rPr lang="en-US" dirty="0">
                <a:solidFill>
                  <a:schemeClr val="bg1"/>
                </a:solidFill>
              </a:rPr>
              <a:t>Normalizes pixel values to ImageNet Distribution</a:t>
            </a:r>
          </a:p>
          <a:p>
            <a:pPr marL="285750" indent="-285750">
              <a:buClr>
                <a:schemeClr val="bg1"/>
              </a:buClr>
              <a:buFont typeface="Arial" panose="020B0604020202020204" pitchFamily="34" charset="0"/>
              <a:buChar char="•"/>
            </a:pPr>
            <a:r>
              <a:rPr lang="en-IN" dirty="0">
                <a:solidFill>
                  <a:schemeClr val="bg1"/>
                </a:solidFill>
              </a:rPr>
              <a:t>Ensures compatibility with EfficientNetB0</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35B3A7D6-73F2-F8A5-4430-90053FB9A4E5}"/>
                  </a:ext>
                </a:extLst>
              </p:cNvPr>
              <p:cNvSpPr/>
              <p:nvPr/>
            </p:nvSpPr>
            <p:spPr>
              <a:xfrm>
                <a:off x="1339188" y="2776423"/>
                <a:ext cx="3988334" cy="521639"/>
              </a:xfrm>
              <a:prstGeom prst="rect">
                <a:avLst/>
              </a:prstGeom>
              <a:solidFill>
                <a:schemeClr val="tx1">
                  <a:lumMod val="85000"/>
                  <a:lumOff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𝑖</m:t>
                                  </m:r>
                                </m:sub>
                              </m:sSub>
                            </m:sup>
                          </m:sSup>
                        </m:num>
                        <m:den>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𝐶</m:t>
                              </m:r>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𝑗</m:t>
                                      </m:r>
                                    </m:sub>
                                  </m:sSub>
                                </m:sup>
                              </m:sSup>
                            </m:e>
                          </m:nary>
                        </m:den>
                      </m:f>
                    </m:oMath>
                  </m:oMathPara>
                </a14:m>
                <a:endParaRPr lang="en-IN" dirty="0"/>
              </a:p>
            </p:txBody>
          </p:sp>
        </mc:Choice>
        <mc:Fallback xmlns="">
          <p:sp>
            <p:nvSpPr>
              <p:cNvPr id="4" name="Rectangle 3">
                <a:extLst>
                  <a:ext uri="{FF2B5EF4-FFF2-40B4-BE49-F238E27FC236}">
                    <a16:creationId xmlns:a16="http://schemas.microsoft.com/office/drawing/2014/main" id="{35B3A7D6-73F2-F8A5-4430-90053FB9A4E5}"/>
                  </a:ext>
                </a:extLst>
              </p:cNvPr>
              <p:cNvSpPr>
                <a:spLocks noRot="1" noChangeAspect="1" noMove="1" noResize="1" noEditPoints="1" noAdjustHandles="1" noChangeArrowheads="1" noChangeShapeType="1" noTextEdit="1"/>
              </p:cNvSpPr>
              <p:nvPr/>
            </p:nvSpPr>
            <p:spPr>
              <a:xfrm>
                <a:off x="1339188" y="2776423"/>
                <a:ext cx="3988334" cy="521639"/>
              </a:xfrm>
              <a:prstGeom prst="rect">
                <a:avLst/>
              </a:prstGeom>
              <a:blipFill>
                <a:blip r:embed="rId5"/>
                <a:stretch>
                  <a:fillRect t="-14444" b="-88889"/>
                </a:stretch>
              </a:blipFill>
            </p:spPr>
            <p:txBody>
              <a:bodyPr/>
              <a:lstStyle/>
              <a:p>
                <a:r>
                  <a:rPr lang="en-IN">
                    <a:noFill/>
                  </a:rPr>
                  <a:t> </a:t>
                </a:r>
              </a:p>
            </p:txBody>
          </p:sp>
        </mc:Fallback>
      </mc:AlternateContent>
    </p:spTree>
    <p:extLst>
      <p:ext uri="{BB962C8B-B14F-4D97-AF65-F5344CB8AC3E}">
        <p14:creationId xmlns:p14="http://schemas.microsoft.com/office/powerpoint/2010/main" val="33117726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213">
          <a:extLst>
            <a:ext uri="{FF2B5EF4-FFF2-40B4-BE49-F238E27FC236}">
              <a16:creationId xmlns:a16="http://schemas.microsoft.com/office/drawing/2014/main" id="{9D7F8B76-AF28-F349-1A30-2AD7145B2D58}"/>
            </a:ext>
          </a:extLst>
        </p:cNvPr>
        <p:cNvGrpSpPr/>
        <p:nvPr/>
      </p:nvGrpSpPr>
      <p:grpSpPr>
        <a:xfrm>
          <a:off x="0" y="0"/>
          <a:ext cx="0" cy="0"/>
          <a:chOff x="0" y="0"/>
          <a:chExt cx="0" cy="0"/>
        </a:xfrm>
      </p:grpSpPr>
      <p:sp>
        <p:nvSpPr>
          <p:cNvPr id="224" name="Google Shape;224;p21">
            <a:extLst>
              <a:ext uri="{FF2B5EF4-FFF2-40B4-BE49-F238E27FC236}">
                <a16:creationId xmlns:a16="http://schemas.microsoft.com/office/drawing/2014/main" id="{0FB423B3-7C84-A598-EC4C-BF58F9AFEE81}"/>
              </a:ext>
            </a:extLst>
          </p:cNvPr>
          <p:cNvSpPr txBox="1"/>
          <p:nvPr/>
        </p:nvSpPr>
        <p:spPr>
          <a:xfrm>
            <a:off x="762000" y="571500"/>
            <a:ext cx="7690961" cy="495300"/>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tabLst/>
              <a:defRPr/>
            </a:pPr>
            <a:r>
              <a:rPr kumimoji="0" lang="en-US" sz="3150" b="1" i="0" u="none" strike="noStrike" kern="0" cap="none" spc="0" normalizeH="0" baseline="0" noProof="0" dirty="0">
                <a:ln>
                  <a:noFill/>
                </a:ln>
                <a:solidFill>
                  <a:srgbClr val="00FFCC"/>
                </a:solidFill>
                <a:effectLst/>
                <a:uLnTx/>
                <a:uFillTx/>
                <a:latin typeface="Montserrat" panose="00000500000000000000"/>
                <a:ea typeface="Montserrat" panose="00000500000000000000"/>
                <a:cs typeface="Montserrat" panose="00000500000000000000"/>
                <a:sym typeface="Montserrat" panose="00000500000000000000"/>
              </a:rPr>
              <a:t>SYSTEM CONFIGURATION</a:t>
            </a:r>
          </a:p>
        </p:txBody>
      </p:sp>
      <p:sp>
        <p:nvSpPr>
          <p:cNvPr id="225" name="Google Shape;225;p21">
            <a:extLst>
              <a:ext uri="{FF2B5EF4-FFF2-40B4-BE49-F238E27FC236}">
                <a16:creationId xmlns:a16="http://schemas.microsoft.com/office/drawing/2014/main" id="{86A16880-23D3-FF61-65FE-4DFC3CDA8F88}"/>
              </a:ext>
            </a:extLst>
          </p:cNvPr>
          <p:cNvSpPr/>
          <p:nvPr/>
        </p:nvSpPr>
        <p:spPr>
          <a:xfrm>
            <a:off x="571500" y="571500"/>
            <a:ext cx="57150" cy="4953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tabLst/>
              <a:defRPr/>
            </a:pPr>
            <a:endParaRPr kumimoji="0" sz="1800" b="0" i="0" u="none" strike="noStrike" kern="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endParaRPr>
          </a:p>
        </p:txBody>
      </p:sp>
      <p:graphicFrame>
        <p:nvGraphicFramePr>
          <p:cNvPr id="2" name="Table 1">
            <a:extLst>
              <a:ext uri="{FF2B5EF4-FFF2-40B4-BE49-F238E27FC236}">
                <a16:creationId xmlns:a16="http://schemas.microsoft.com/office/drawing/2014/main" id="{22841326-5027-D7B1-66D7-CC7BA3D2C5B2}"/>
              </a:ext>
            </a:extLst>
          </p:cNvPr>
          <p:cNvGraphicFramePr>
            <a:graphicFrameLocks noGrp="1"/>
          </p:cNvGraphicFramePr>
          <p:nvPr/>
        </p:nvGraphicFramePr>
        <p:xfrm>
          <a:off x="571500" y="1361661"/>
          <a:ext cx="11020012" cy="4962821"/>
        </p:xfrm>
        <a:graphic>
          <a:graphicData uri="http://schemas.openxmlformats.org/drawingml/2006/table">
            <a:tbl>
              <a:tblPr firstRow="1">
                <a:tableStyleId>{D03447BB-5D67-496B-8E87-E561075AD55C}</a:tableStyleId>
              </a:tblPr>
              <a:tblGrid>
                <a:gridCol w="1402550">
                  <a:extLst>
                    <a:ext uri="{9D8B030D-6E8A-4147-A177-3AD203B41FA5}">
                      <a16:colId xmlns:a16="http://schemas.microsoft.com/office/drawing/2014/main" val="2198583836"/>
                    </a:ext>
                  </a:extLst>
                </a:gridCol>
                <a:gridCol w="2003638">
                  <a:extLst>
                    <a:ext uri="{9D8B030D-6E8A-4147-A177-3AD203B41FA5}">
                      <a16:colId xmlns:a16="http://schemas.microsoft.com/office/drawing/2014/main" val="1143192633"/>
                    </a:ext>
                  </a:extLst>
                </a:gridCol>
                <a:gridCol w="2003638">
                  <a:extLst>
                    <a:ext uri="{9D8B030D-6E8A-4147-A177-3AD203B41FA5}">
                      <a16:colId xmlns:a16="http://schemas.microsoft.com/office/drawing/2014/main" val="261434717"/>
                    </a:ext>
                  </a:extLst>
                </a:gridCol>
                <a:gridCol w="2003638">
                  <a:extLst>
                    <a:ext uri="{9D8B030D-6E8A-4147-A177-3AD203B41FA5}">
                      <a16:colId xmlns:a16="http://schemas.microsoft.com/office/drawing/2014/main" val="1394487253"/>
                    </a:ext>
                  </a:extLst>
                </a:gridCol>
                <a:gridCol w="1803274">
                  <a:extLst>
                    <a:ext uri="{9D8B030D-6E8A-4147-A177-3AD203B41FA5}">
                      <a16:colId xmlns:a16="http://schemas.microsoft.com/office/drawing/2014/main" val="1800340802"/>
                    </a:ext>
                  </a:extLst>
                </a:gridCol>
                <a:gridCol w="1803274">
                  <a:extLst>
                    <a:ext uri="{9D8B030D-6E8A-4147-A177-3AD203B41FA5}">
                      <a16:colId xmlns:a16="http://schemas.microsoft.com/office/drawing/2014/main" val="1766485891"/>
                    </a:ext>
                  </a:extLst>
                </a:gridCol>
              </a:tblGrid>
              <a:tr h="659457">
                <a:tc>
                  <a:txBody>
                    <a:bodyPr/>
                    <a:lstStyle/>
                    <a:p>
                      <a:pPr marL="0" marR="0" algn="ctr">
                        <a:buNone/>
                      </a:pPr>
                      <a:r>
                        <a:rPr lang="en-IN" sz="2000" dirty="0">
                          <a:effectLst/>
                        </a:rPr>
                        <a:t>Fruit</a:t>
                      </a:r>
                      <a:endParaRPr lang="en-IN" sz="2000" dirty="0">
                        <a:effectLst/>
                        <a:latin typeface="Times New Roman" panose="02020603050405020304" pitchFamily="18" charset="0"/>
                      </a:endParaRPr>
                    </a:p>
                  </a:txBody>
                  <a:tcPr marL="61687" marR="61687" marT="41124" marB="41124" anchor="ctr"/>
                </a:tc>
                <a:tc>
                  <a:txBody>
                    <a:bodyPr/>
                    <a:lstStyle/>
                    <a:p>
                      <a:pPr marL="0" marR="0" algn="ctr">
                        <a:buNone/>
                      </a:pPr>
                      <a:r>
                        <a:rPr lang="en-IN" sz="2000" dirty="0">
                          <a:effectLst/>
                        </a:rPr>
                        <a:t>Class</a:t>
                      </a:r>
                      <a:endParaRPr lang="en-IN" sz="2000" dirty="0">
                        <a:effectLst/>
                        <a:latin typeface="Times New Roman" panose="02020603050405020304" pitchFamily="18" charset="0"/>
                      </a:endParaRPr>
                    </a:p>
                  </a:txBody>
                  <a:tcPr marL="61687" marR="61687" marT="41124" marB="41124" anchor="ctr"/>
                </a:tc>
                <a:tc>
                  <a:txBody>
                    <a:bodyPr/>
                    <a:lstStyle/>
                    <a:p>
                      <a:pPr marL="0" marR="0" algn="ctr">
                        <a:buNone/>
                      </a:pPr>
                      <a:r>
                        <a:rPr lang="en-IN" sz="2000" dirty="0" err="1">
                          <a:effectLst/>
                        </a:rPr>
                        <a:t>Color</a:t>
                      </a:r>
                      <a:endParaRPr lang="en-IN" sz="2000" dirty="0">
                        <a:effectLst/>
                        <a:latin typeface="Times New Roman" panose="02020603050405020304" pitchFamily="18" charset="0"/>
                      </a:endParaRPr>
                    </a:p>
                  </a:txBody>
                  <a:tcPr marL="61687" marR="61687" marT="41124" marB="41124" anchor="ctr"/>
                </a:tc>
                <a:tc>
                  <a:txBody>
                    <a:bodyPr/>
                    <a:lstStyle/>
                    <a:p>
                      <a:pPr marL="0" marR="0" algn="ctr">
                        <a:buNone/>
                      </a:pPr>
                      <a:r>
                        <a:rPr lang="en-IN" sz="2000" dirty="0">
                          <a:effectLst/>
                        </a:rPr>
                        <a:t>Texture</a:t>
                      </a:r>
                      <a:endParaRPr lang="en-IN" sz="2000" dirty="0">
                        <a:effectLst/>
                        <a:latin typeface="Times New Roman" panose="02020603050405020304" pitchFamily="18" charset="0"/>
                      </a:endParaRPr>
                    </a:p>
                  </a:txBody>
                  <a:tcPr marL="61687" marR="61687" marT="41124" marB="41124" anchor="ctr"/>
                </a:tc>
                <a:tc>
                  <a:txBody>
                    <a:bodyPr/>
                    <a:lstStyle/>
                    <a:p>
                      <a:pPr marL="0" marR="0" algn="ctr">
                        <a:buNone/>
                      </a:pPr>
                      <a:r>
                        <a:rPr lang="en-IN" sz="2000" dirty="0">
                          <a:effectLst/>
                        </a:rPr>
                        <a:t>Size</a:t>
                      </a:r>
                      <a:endParaRPr lang="en-IN" sz="2000" dirty="0">
                        <a:effectLst/>
                        <a:latin typeface="Times New Roman" panose="02020603050405020304" pitchFamily="18" charset="0"/>
                      </a:endParaRPr>
                    </a:p>
                  </a:txBody>
                  <a:tcPr marL="61687" marR="61687" marT="41124" marB="41124" anchor="ctr"/>
                </a:tc>
                <a:tc>
                  <a:txBody>
                    <a:bodyPr/>
                    <a:lstStyle/>
                    <a:p>
                      <a:pPr marL="0" marR="0" algn="ctr">
                        <a:buNone/>
                      </a:pPr>
                      <a:r>
                        <a:rPr lang="en-IN" sz="2000" dirty="0">
                          <a:effectLst/>
                        </a:rPr>
                        <a:t>Shape</a:t>
                      </a:r>
                      <a:endParaRPr lang="en-IN" sz="2000" dirty="0">
                        <a:effectLst/>
                        <a:latin typeface="Times New Roman" panose="02020603050405020304" pitchFamily="18" charset="0"/>
                      </a:endParaRPr>
                    </a:p>
                  </a:txBody>
                  <a:tcPr marL="61687" marR="61687" marT="41124" marB="41124" anchor="ctr"/>
                </a:tc>
                <a:extLst>
                  <a:ext uri="{0D108BD9-81ED-4DB2-BD59-A6C34878D82A}">
                    <a16:rowId xmlns:a16="http://schemas.microsoft.com/office/drawing/2014/main" val="1981612231"/>
                  </a:ext>
                </a:extLst>
              </a:tr>
              <a:tr h="377945">
                <a:tc rowSpan="3">
                  <a:txBody>
                    <a:bodyPr/>
                    <a:lstStyle/>
                    <a:p>
                      <a:pPr marL="0" marR="0" algn="ctr">
                        <a:buNone/>
                      </a:pPr>
                      <a:r>
                        <a:rPr lang="en-IN" sz="1600" dirty="0">
                          <a:effectLst/>
                        </a:rPr>
                        <a:t> Apple</a:t>
                      </a:r>
                      <a:endParaRPr lang="en-IN" sz="1600" dirty="0">
                        <a:effectLst/>
                        <a:latin typeface="Times New Roman" panose="02020603050405020304" pitchFamily="18" charset="0"/>
                      </a:endParaRPr>
                    </a:p>
                  </a:txBody>
                  <a:tcPr marL="61687" marR="61687" marT="41124" marB="41124" anchor="ctr"/>
                </a:tc>
                <a:tc>
                  <a:txBody>
                    <a:bodyPr/>
                    <a:lstStyle/>
                    <a:p>
                      <a:pPr marL="0" marR="0" algn="ctr">
                        <a:buNone/>
                      </a:pPr>
                      <a:r>
                        <a:rPr lang="en-IN" sz="1400" dirty="0">
                          <a:effectLst/>
                        </a:rPr>
                        <a:t>Unripe</a:t>
                      </a:r>
                      <a:endParaRPr lang="en-IN" sz="1400" dirty="0">
                        <a:effectLst/>
                        <a:latin typeface="Times New Roman" panose="02020603050405020304" pitchFamily="18" charset="0"/>
                      </a:endParaRPr>
                    </a:p>
                  </a:txBody>
                  <a:tcPr marL="61687" marR="61687" marT="41124" marB="41124" anchor="ctr"/>
                </a:tc>
                <a:tc>
                  <a:txBody>
                    <a:bodyPr/>
                    <a:lstStyle/>
                    <a:p>
                      <a:pPr marL="0" marR="0" algn="ctr">
                        <a:buNone/>
                      </a:pPr>
                      <a:r>
                        <a:rPr lang="en-IN" sz="1400" dirty="0">
                          <a:effectLst/>
                        </a:rPr>
                        <a:t>Green(</a:t>
                      </a:r>
                      <a:r>
                        <a:rPr lang="en-IN" sz="1400" dirty="0" err="1">
                          <a:effectLst/>
                        </a:rPr>
                        <a:t>somev</a:t>
                      </a:r>
                      <a:r>
                        <a:rPr lang="en-IN" sz="1400" dirty="0">
                          <a:effectLst/>
                        </a:rPr>
                        <a:t> </a:t>
                      </a:r>
                      <a:r>
                        <a:rPr lang="en-IN" sz="1400" dirty="0" err="1">
                          <a:effectLst/>
                        </a:rPr>
                        <a:t>arients</a:t>
                      </a:r>
                      <a:r>
                        <a:rPr lang="en-IN" sz="1400" dirty="0">
                          <a:effectLst/>
                        </a:rPr>
                        <a:t>)</a:t>
                      </a:r>
                      <a:endParaRPr lang="en-IN" sz="1400" dirty="0">
                        <a:effectLst/>
                        <a:latin typeface="Times New Roman" panose="02020603050405020304" pitchFamily="18" charset="0"/>
                      </a:endParaRPr>
                    </a:p>
                  </a:txBody>
                  <a:tcPr marL="61687" marR="61687" marT="41124" marB="41124" anchor="ctr"/>
                </a:tc>
                <a:tc>
                  <a:txBody>
                    <a:bodyPr/>
                    <a:lstStyle/>
                    <a:p>
                      <a:pPr marL="0" marR="0" algn="ctr">
                        <a:buNone/>
                      </a:pPr>
                      <a:r>
                        <a:rPr lang="en-IN" sz="1400" dirty="0">
                          <a:effectLst/>
                        </a:rPr>
                        <a:t>Firm/  Smooth</a:t>
                      </a:r>
                      <a:endParaRPr lang="en-IN" sz="1400" dirty="0">
                        <a:effectLst/>
                        <a:latin typeface="Times New Roman" panose="02020603050405020304" pitchFamily="18" charset="0"/>
                      </a:endParaRPr>
                    </a:p>
                  </a:txBody>
                  <a:tcPr marL="61687" marR="61687" marT="41124" marB="41124" anchor="ctr"/>
                </a:tc>
                <a:tc rowSpan="2">
                  <a:txBody>
                    <a:bodyPr/>
                    <a:lstStyle/>
                    <a:p>
                      <a:pPr marL="0" marR="0" algn="ctr">
                        <a:buNone/>
                      </a:pPr>
                      <a:r>
                        <a:rPr lang="en-IN" sz="700" dirty="0">
                          <a:effectLst/>
                        </a:rPr>
                        <a:t> </a:t>
                      </a:r>
                      <a:endParaRPr lang="en-IN" sz="900" dirty="0">
                        <a:effectLst/>
                      </a:endParaRPr>
                    </a:p>
                    <a:p>
                      <a:pPr marL="0" marR="0" algn="ctr">
                        <a:buNone/>
                      </a:pPr>
                      <a:r>
                        <a:rPr lang="en-IN" sz="1400" dirty="0">
                          <a:effectLst/>
                        </a:rPr>
                        <a:t>Medium</a:t>
                      </a:r>
                      <a:endParaRPr lang="en-IN" sz="1400" dirty="0">
                        <a:effectLst/>
                        <a:latin typeface="Times New Roman" panose="02020603050405020304" pitchFamily="18" charset="0"/>
                      </a:endParaRPr>
                    </a:p>
                  </a:txBody>
                  <a:tcPr marL="61687" marR="61687" marT="41124" marB="41124" anchor="ctr"/>
                </a:tc>
                <a:tc rowSpan="2">
                  <a:txBody>
                    <a:bodyPr/>
                    <a:lstStyle/>
                    <a:p>
                      <a:pPr marL="0" marR="0" algn="ctr">
                        <a:buNone/>
                      </a:pPr>
                      <a:r>
                        <a:rPr lang="en-IN" sz="700" dirty="0">
                          <a:effectLst/>
                        </a:rPr>
                        <a:t> </a:t>
                      </a:r>
                      <a:endParaRPr lang="en-IN" sz="900" dirty="0">
                        <a:effectLst/>
                      </a:endParaRPr>
                    </a:p>
                    <a:p>
                      <a:pPr marL="0" marR="0" algn="ctr">
                        <a:buNone/>
                      </a:pPr>
                      <a:r>
                        <a:rPr lang="en-IN" sz="1400" dirty="0">
                          <a:effectLst/>
                        </a:rPr>
                        <a:t>Round</a:t>
                      </a:r>
                      <a:endParaRPr lang="en-IN" sz="1400" dirty="0">
                        <a:effectLst/>
                        <a:latin typeface="Times New Roman" panose="02020603050405020304" pitchFamily="18" charset="0"/>
                      </a:endParaRPr>
                    </a:p>
                  </a:txBody>
                  <a:tcPr marL="61687" marR="61687" marT="41124" marB="41124" anchor="ctr"/>
                </a:tc>
                <a:extLst>
                  <a:ext uri="{0D108BD9-81ED-4DB2-BD59-A6C34878D82A}">
                    <a16:rowId xmlns:a16="http://schemas.microsoft.com/office/drawing/2014/main" val="554206556"/>
                  </a:ext>
                </a:extLst>
              </a:tr>
              <a:tr h="377945">
                <a:tc vMerge="1">
                  <a:txBody>
                    <a:bodyPr/>
                    <a:lstStyle/>
                    <a:p>
                      <a:endParaRPr lang="en-IN"/>
                    </a:p>
                  </a:txBody>
                  <a:tcPr/>
                </a:tc>
                <a:tc>
                  <a:txBody>
                    <a:bodyPr/>
                    <a:lstStyle/>
                    <a:p>
                      <a:pPr marL="0" marR="0" algn="ctr">
                        <a:buNone/>
                      </a:pPr>
                      <a:r>
                        <a:rPr lang="en-IN" sz="1400" dirty="0">
                          <a:effectLst/>
                        </a:rPr>
                        <a:t>Ripe</a:t>
                      </a:r>
                      <a:endParaRPr lang="en-IN" sz="1400" dirty="0">
                        <a:effectLst/>
                        <a:latin typeface="Times New Roman" panose="02020603050405020304" pitchFamily="18" charset="0"/>
                      </a:endParaRPr>
                    </a:p>
                  </a:txBody>
                  <a:tcPr marL="61687" marR="61687" marT="41124" marB="41124" anchor="ctr"/>
                </a:tc>
                <a:tc>
                  <a:txBody>
                    <a:bodyPr/>
                    <a:lstStyle/>
                    <a:p>
                      <a:pPr marL="0" marR="0" algn="ctr">
                        <a:buNone/>
                      </a:pPr>
                      <a:r>
                        <a:rPr lang="en-IN" sz="1400" dirty="0">
                          <a:effectLst/>
                        </a:rPr>
                        <a:t>Red/Green/ Yellow</a:t>
                      </a:r>
                      <a:endParaRPr lang="en-IN" sz="1400" dirty="0">
                        <a:effectLst/>
                        <a:latin typeface="Times New Roman" panose="02020603050405020304" pitchFamily="18" charset="0"/>
                      </a:endParaRPr>
                    </a:p>
                  </a:txBody>
                  <a:tcPr marL="61687" marR="61687" marT="41124" marB="41124" anchor="ctr"/>
                </a:tc>
                <a:tc>
                  <a:txBody>
                    <a:bodyPr/>
                    <a:lstStyle/>
                    <a:p>
                      <a:pPr marL="0" marR="0" algn="ctr">
                        <a:buNone/>
                      </a:pPr>
                      <a:r>
                        <a:rPr lang="en-IN" sz="1400" dirty="0">
                          <a:effectLst/>
                        </a:rPr>
                        <a:t>Smooth/Firm</a:t>
                      </a:r>
                      <a:endParaRPr lang="en-IN" sz="1400" dirty="0">
                        <a:effectLst/>
                        <a:latin typeface="Times New Roman" panose="02020603050405020304" pitchFamily="18" charset="0"/>
                      </a:endParaRPr>
                    </a:p>
                  </a:txBody>
                  <a:tcPr marL="61687" marR="61687" marT="41124" marB="41124" anchor="ct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1286281458"/>
                  </a:ext>
                </a:extLst>
              </a:tr>
              <a:tr h="474644">
                <a:tc vMerge="1">
                  <a:txBody>
                    <a:bodyPr/>
                    <a:lstStyle/>
                    <a:p>
                      <a:endParaRPr lang="en-IN"/>
                    </a:p>
                  </a:txBody>
                  <a:tcPr/>
                </a:tc>
                <a:tc>
                  <a:txBody>
                    <a:bodyPr/>
                    <a:lstStyle/>
                    <a:p>
                      <a:pPr marL="0" marR="0" algn="ctr">
                        <a:buNone/>
                      </a:pPr>
                      <a:r>
                        <a:rPr lang="en-IN" sz="1400" dirty="0">
                          <a:effectLst/>
                        </a:rPr>
                        <a:t>Rotten</a:t>
                      </a:r>
                      <a:endParaRPr lang="en-IN" sz="1400" dirty="0">
                        <a:effectLst/>
                        <a:latin typeface="Times New Roman" panose="02020603050405020304" pitchFamily="18" charset="0"/>
                      </a:endParaRPr>
                    </a:p>
                  </a:txBody>
                  <a:tcPr marL="61687" marR="61687" marT="41124" marB="41124" anchor="ctr"/>
                </a:tc>
                <a:tc>
                  <a:txBody>
                    <a:bodyPr/>
                    <a:lstStyle/>
                    <a:p>
                      <a:pPr marL="0" marR="0" algn="ctr">
                        <a:buNone/>
                      </a:pPr>
                      <a:r>
                        <a:rPr lang="en-IN" sz="1400" dirty="0">
                          <a:effectLst/>
                        </a:rPr>
                        <a:t>Brown/Black </a:t>
                      </a:r>
                      <a:r>
                        <a:rPr lang="en-IN" sz="1400" dirty="0" err="1">
                          <a:effectLst/>
                        </a:rPr>
                        <a:t>patchs</a:t>
                      </a:r>
                      <a:endParaRPr lang="en-IN" sz="1400" dirty="0">
                        <a:effectLst/>
                        <a:latin typeface="Times New Roman" panose="02020603050405020304" pitchFamily="18" charset="0"/>
                      </a:endParaRPr>
                    </a:p>
                  </a:txBody>
                  <a:tcPr marL="61687" marR="61687" marT="41124" marB="41124" anchor="ctr"/>
                </a:tc>
                <a:tc>
                  <a:txBody>
                    <a:bodyPr/>
                    <a:lstStyle/>
                    <a:p>
                      <a:pPr marL="0" marR="0" algn="ctr">
                        <a:buNone/>
                      </a:pPr>
                      <a:r>
                        <a:rPr lang="en-IN" sz="1400" dirty="0">
                          <a:effectLst/>
                        </a:rPr>
                        <a:t>Soft/Wrinkled</a:t>
                      </a:r>
                      <a:endParaRPr lang="en-IN" sz="1400" dirty="0">
                        <a:effectLst/>
                        <a:latin typeface="Times New Roman" panose="02020603050405020304" pitchFamily="18" charset="0"/>
                      </a:endParaRPr>
                    </a:p>
                  </a:txBody>
                  <a:tcPr marL="61687" marR="61687" marT="41124" marB="41124" anchor="ctr"/>
                </a:tc>
                <a:tc>
                  <a:txBody>
                    <a:bodyPr/>
                    <a:lstStyle/>
                    <a:p>
                      <a:pPr marL="0" marR="0" algn="ctr">
                        <a:buNone/>
                      </a:pPr>
                      <a:r>
                        <a:rPr lang="en-IN" sz="1400" dirty="0">
                          <a:effectLst/>
                        </a:rPr>
                        <a:t>Medium (may </a:t>
                      </a:r>
                      <a:r>
                        <a:rPr lang="en-IN" sz="1400" dirty="0" err="1">
                          <a:effectLst/>
                        </a:rPr>
                        <a:t>SHrink</a:t>
                      </a:r>
                      <a:r>
                        <a:rPr lang="en-IN" sz="1400" dirty="0">
                          <a:effectLst/>
                        </a:rPr>
                        <a:t>)</a:t>
                      </a:r>
                      <a:endParaRPr lang="en-IN" sz="1400" dirty="0">
                        <a:effectLst/>
                        <a:latin typeface="Times New Roman" panose="02020603050405020304" pitchFamily="18" charset="0"/>
                      </a:endParaRPr>
                    </a:p>
                  </a:txBody>
                  <a:tcPr marL="61687" marR="61687" marT="41124" marB="41124" anchor="ctr"/>
                </a:tc>
                <a:tc>
                  <a:txBody>
                    <a:bodyPr/>
                    <a:lstStyle/>
                    <a:p>
                      <a:pPr marL="0" marR="0" algn="ctr">
                        <a:buNone/>
                      </a:pPr>
                      <a:r>
                        <a:rPr lang="en-IN" sz="1400" dirty="0">
                          <a:effectLst/>
                        </a:rPr>
                        <a:t>Misshapen</a:t>
                      </a:r>
                      <a:endParaRPr lang="en-IN" sz="1400" dirty="0">
                        <a:effectLst/>
                        <a:latin typeface="Times New Roman" panose="02020603050405020304" pitchFamily="18" charset="0"/>
                      </a:endParaRPr>
                    </a:p>
                  </a:txBody>
                  <a:tcPr marL="61687" marR="61687" marT="41124" marB="41124" anchor="ctr"/>
                </a:tc>
                <a:extLst>
                  <a:ext uri="{0D108BD9-81ED-4DB2-BD59-A6C34878D82A}">
                    <a16:rowId xmlns:a16="http://schemas.microsoft.com/office/drawing/2014/main" val="2377636444"/>
                  </a:ext>
                </a:extLst>
              </a:tr>
              <a:tr h="377945">
                <a:tc rowSpan="3">
                  <a:txBody>
                    <a:bodyPr/>
                    <a:lstStyle/>
                    <a:p>
                      <a:pPr marL="0" marR="0" algn="ctr">
                        <a:buNone/>
                      </a:pPr>
                      <a:r>
                        <a:rPr lang="en-IN" sz="1600" dirty="0">
                          <a:effectLst/>
                        </a:rPr>
                        <a:t> Banana</a:t>
                      </a:r>
                      <a:endParaRPr lang="en-IN" sz="1600" dirty="0">
                        <a:effectLst/>
                        <a:latin typeface="Times New Roman" panose="02020603050405020304" pitchFamily="18" charset="0"/>
                      </a:endParaRPr>
                    </a:p>
                  </a:txBody>
                  <a:tcPr marL="61687" marR="61687" marT="41124" marB="41124" anchor="ctr"/>
                </a:tc>
                <a:tc>
                  <a:txBody>
                    <a:bodyPr/>
                    <a:lstStyle/>
                    <a:p>
                      <a:pPr marL="0" marR="0" algn="ctr">
                        <a:buNone/>
                      </a:pPr>
                      <a:r>
                        <a:rPr lang="en-IN" sz="1400" dirty="0">
                          <a:effectLst/>
                        </a:rPr>
                        <a:t>Unripe</a:t>
                      </a:r>
                      <a:endParaRPr lang="en-IN" sz="1400" dirty="0">
                        <a:effectLst/>
                        <a:latin typeface="Times New Roman" panose="02020603050405020304" pitchFamily="18" charset="0"/>
                      </a:endParaRPr>
                    </a:p>
                  </a:txBody>
                  <a:tcPr marL="61687" marR="61687" marT="41124" marB="41124" anchor="ctr"/>
                </a:tc>
                <a:tc>
                  <a:txBody>
                    <a:bodyPr/>
                    <a:lstStyle/>
                    <a:p>
                      <a:pPr marL="0" marR="0" algn="ctr">
                        <a:buNone/>
                      </a:pPr>
                      <a:r>
                        <a:rPr lang="en-IN" sz="1400" dirty="0">
                          <a:effectLst/>
                        </a:rPr>
                        <a:t>Green</a:t>
                      </a:r>
                      <a:endParaRPr lang="en-IN" sz="1400" dirty="0">
                        <a:effectLst/>
                        <a:latin typeface="Times New Roman" panose="02020603050405020304" pitchFamily="18" charset="0"/>
                      </a:endParaRPr>
                    </a:p>
                  </a:txBody>
                  <a:tcPr marL="61687" marR="61687" marT="41124" marB="41124" anchor="ctr"/>
                </a:tc>
                <a:tc>
                  <a:txBody>
                    <a:bodyPr/>
                    <a:lstStyle/>
                    <a:p>
                      <a:pPr marL="0" marR="0" algn="ctr">
                        <a:buNone/>
                      </a:pPr>
                      <a:r>
                        <a:rPr lang="en-IN" sz="1400" dirty="0">
                          <a:effectLst/>
                        </a:rPr>
                        <a:t>Firm/ Smooth Skin</a:t>
                      </a:r>
                      <a:endParaRPr lang="en-IN" sz="1400" dirty="0">
                        <a:effectLst/>
                        <a:latin typeface="Times New Roman" panose="02020603050405020304" pitchFamily="18" charset="0"/>
                      </a:endParaRPr>
                    </a:p>
                  </a:txBody>
                  <a:tcPr marL="61687" marR="61687" marT="41124" marB="41124" anchor="ctr"/>
                </a:tc>
                <a:tc rowSpan="2">
                  <a:txBody>
                    <a:bodyPr/>
                    <a:lstStyle/>
                    <a:p>
                      <a:pPr marL="0" marR="0" algn="ctr">
                        <a:buNone/>
                      </a:pPr>
                      <a:r>
                        <a:rPr lang="en-IN" sz="700" dirty="0">
                          <a:effectLst/>
                        </a:rPr>
                        <a:t> </a:t>
                      </a:r>
                      <a:endParaRPr lang="en-IN" sz="900" dirty="0">
                        <a:effectLst/>
                      </a:endParaRPr>
                    </a:p>
                    <a:p>
                      <a:pPr marL="0" marR="0" algn="ctr">
                        <a:buNone/>
                      </a:pPr>
                      <a:r>
                        <a:rPr lang="en-IN" sz="1400" dirty="0">
                          <a:effectLst/>
                        </a:rPr>
                        <a:t>Medium</a:t>
                      </a:r>
                      <a:endParaRPr lang="en-IN" sz="1400" dirty="0">
                        <a:effectLst/>
                        <a:latin typeface="Times New Roman" panose="02020603050405020304" pitchFamily="18" charset="0"/>
                      </a:endParaRPr>
                    </a:p>
                  </a:txBody>
                  <a:tcPr marL="61687" marR="61687" marT="41124" marB="41124" anchor="ctr"/>
                </a:tc>
                <a:tc rowSpan="2">
                  <a:txBody>
                    <a:bodyPr/>
                    <a:lstStyle/>
                    <a:p>
                      <a:pPr marL="0" marR="0" algn="ctr">
                        <a:buNone/>
                      </a:pPr>
                      <a:r>
                        <a:rPr lang="en-IN" sz="700" dirty="0">
                          <a:effectLst/>
                        </a:rPr>
                        <a:t> </a:t>
                      </a:r>
                      <a:endParaRPr lang="en-IN" sz="900" dirty="0">
                        <a:effectLst/>
                      </a:endParaRPr>
                    </a:p>
                    <a:p>
                      <a:pPr marL="0" marR="0" algn="ctr">
                        <a:buNone/>
                      </a:pPr>
                      <a:r>
                        <a:rPr lang="en-IN" sz="1400" dirty="0">
                          <a:effectLst/>
                        </a:rPr>
                        <a:t>Curved cylindrical</a:t>
                      </a:r>
                      <a:endParaRPr lang="en-IN" sz="1400" dirty="0">
                        <a:effectLst/>
                        <a:latin typeface="Times New Roman" panose="02020603050405020304" pitchFamily="18" charset="0"/>
                      </a:endParaRPr>
                    </a:p>
                  </a:txBody>
                  <a:tcPr marL="61687" marR="61687" marT="41124" marB="41124" anchor="ctr"/>
                </a:tc>
                <a:extLst>
                  <a:ext uri="{0D108BD9-81ED-4DB2-BD59-A6C34878D82A}">
                    <a16:rowId xmlns:a16="http://schemas.microsoft.com/office/drawing/2014/main" val="2096940278"/>
                  </a:ext>
                </a:extLst>
              </a:tr>
              <a:tr h="478731">
                <a:tc vMerge="1">
                  <a:txBody>
                    <a:bodyPr/>
                    <a:lstStyle/>
                    <a:p>
                      <a:endParaRPr lang="en-IN"/>
                    </a:p>
                  </a:txBody>
                  <a:tcPr/>
                </a:tc>
                <a:tc>
                  <a:txBody>
                    <a:bodyPr/>
                    <a:lstStyle/>
                    <a:p>
                      <a:pPr marL="0" marR="0" algn="ctr">
                        <a:buNone/>
                      </a:pPr>
                      <a:r>
                        <a:rPr lang="en-IN" sz="1400" dirty="0">
                          <a:effectLst/>
                        </a:rPr>
                        <a:t>Ripe</a:t>
                      </a:r>
                      <a:endParaRPr lang="en-IN" sz="1400" dirty="0">
                        <a:effectLst/>
                        <a:latin typeface="Times New Roman" panose="02020603050405020304" pitchFamily="18" charset="0"/>
                      </a:endParaRPr>
                    </a:p>
                  </a:txBody>
                  <a:tcPr marL="61687" marR="61687" marT="41124" marB="41124" anchor="ctr"/>
                </a:tc>
                <a:tc>
                  <a:txBody>
                    <a:bodyPr/>
                    <a:lstStyle/>
                    <a:p>
                      <a:pPr marL="0" marR="0" algn="ctr">
                        <a:buNone/>
                      </a:pPr>
                      <a:r>
                        <a:rPr lang="en-IN" sz="1400" dirty="0">
                          <a:effectLst/>
                        </a:rPr>
                        <a:t>Yellow, sometimes flecked brown</a:t>
                      </a:r>
                      <a:endParaRPr lang="en-IN" sz="1400" dirty="0">
                        <a:effectLst/>
                        <a:latin typeface="Times New Roman" panose="02020603050405020304" pitchFamily="18" charset="0"/>
                      </a:endParaRPr>
                    </a:p>
                  </a:txBody>
                  <a:tcPr marL="61687" marR="61687" marT="41124" marB="41124" anchor="ctr"/>
                </a:tc>
                <a:tc>
                  <a:txBody>
                    <a:bodyPr/>
                    <a:lstStyle/>
                    <a:p>
                      <a:pPr marL="0" marR="0" algn="ctr">
                        <a:buNone/>
                      </a:pPr>
                      <a:r>
                        <a:rPr lang="en-IN" sz="1400" dirty="0">
                          <a:effectLst/>
                        </a:rPr>
                        <a:t>Smooth to slight bruises</a:t>
                      </a:r>
                      <a:endParaRPr lang="en-IN" sz="1400" dirty="0">
                        <a:effectLst/>
                        <a:latin typeface="Times New Roman" panose="02020603050405020304" pitchFamily="18" charset="0"/>
                      </a:endParaRPr>
                    </a:p>
                  </a:txBody>
                  <a:tcPr marL="61687" marR="61687" marT="41124" marB="41124" anchor="ct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3752818314"/>
                  </a:ext>
                </a:extLst>
              </a:tr>
              <a:tr h="377945">
                <a:tc vMerge="1">
                  <a:txBody>
                    <a:bodyPr/>
                    <a:lstStyle/>
                    <a:p>
                      <a:endParaRPr lang="en-IN"/>
                    </a:p>
                  </a:txBody>
                  <a:tcPr/>
                </a:tc>
                <a:tc>
                  <a:txBody>
                    <a:bodyPr/>
                    <a:lstStyle/>
                    <a:p>
                      <a:pPr marL="0" marR="0" algn="ctr">
                        <a:buNone/>
                      </a:pPr>
                      <a:r>
                        <a:rPr lang="en-IN" sz="1400" dirty="0">
                          <a:effectLst/>
                        </a:rPr>
                        <a:t>Rotten</a:t>
                      </a:r>
                      <a:endParaRPr lang="en-IN" sz="1400" dirty="0">
                        <a:effectLst/>
                        <a:latin typeface="Times New Roman" panose="02020603050405020304" pitchFamily="18" charset="0"/>
                      </a:endParaRPr>
                    </a:p>
                  </a:txBody>
                  <a:tcPr marL="61687" marR="61687" marT="41124" marB="41124" anchor="ctr"/>
                </a:tc>
                <a:tc>
                  <a:txBody>
                    <a:bodyPr/>
                    <a:lstStyle/>
                    <a:p>
                      <a:pPr marL="0" marR="0" algn="ctr">
                        <a:buNone/>
                      </a:pPr>
                      <a:r>
                        <a:rPr lang="en-IN" sz="1400" dirty="0">
                          <a:effectLst/>
                        </a:rPr>
                        <a:t>Brown/ Black spots</a:t>
                      </a:r>
                      <a:endParaRPr lang="en-IN" sz="1400" dirty="0">
                        <a:effectLst/>
                        <a:latin typeface="Times New Roman" panose="02020603050405020304" pitchFamily="18" charset="0"/>
                      </a:endParaRPr>
                    </a:p>
                  </a:txBody>
                  <a:tcPr marL="61687" marR="61687" marT="41124" marB="41124" anchor="ctr"/>
                </a:tc>
                <a:tc>
                  <a:txBody>
                    <a:bodyPr/>
                    <a:lstStyle/>
                    <a:p>
                      <a:pPr marL="0" marR="0" algn="ctr">
                        <a:buNone/>
                      </a:pPr>
                      <a:r>
                        <a:rPr lang="en-IN" sz="1400" dirty="0">
                          <a:effectLst/>
                        </a:rPr>
                        <a:t>Soft/Mushy</a:t>
                      </a:r>
                      <a:endParaRPr lang="en-IN" sz="1400" dirty="0">
                        <a:effectLst/>
                        <a:latin typeface="Times New Roman" panose="02020603050405020304" pitchFamily="18" charset="0"/>
                      </a:endParaRPr>
                    </a:p>
                  </a:txBody>
                  <a:tcPr marL="61687" marR="61687" marT="41124" marB="41124" anchor="ctr"/>
                </a:tc>
                <a:tc>
                  <a:txBody>
                    <a:bodyPr/>
                    <a:lstStyle/>
                    <a:p>
                      <a:pPr marL="0" marR="0" algn="ctr">
                        <a:buNone/>
                      </a:pPr>
                      <a:r>
                        <a:rPr lang="en-IN" sz="1400" dirty="0">
                          <a:effectLst/>
                        </a:rPr>
                        <a:t>Medium (may shrink)</a:t>
                      </a:r>
                      <a:endParaRPr lang="en-IN" sz="1400" dirty="0">
                        <a:effectLst/>
                        <a:latin typeface="Times New Roman" panose="02020603050405020304" pitchFamily="18" charset="0"/>
                      </a:endParaRPr>
                    </a:p>
                  </a:txBody>
                  <a:tcPr marL="61687" marR="61687" marT="41124" marB="41124" anchor="ctr"/>
                </a:tc>
                <a:tc>
                  <a:txBody>
                    <a:bodyPr/>
                    <a:lstStyle/>
                    <a:p>
                      <a:pPr marL="0" marR="0" algn="ctr">
                        <a:buNone/>
                      </a:pPr>
                      <a:r>
                        <a:rPr lang="en-IN" sz="1400" dirty="0">
                          <a:effectLst/>
                        </a:rPr>
                        <a:t>Curved irregular</a:t>
                      </a:r>
                      <a:endParaRPr lang="en-IN" sz="1400" dirty="0">
                        <a:effectLst/>
                        <a:latin typeface="Times New Roman" panose="02020603050405020304" pitchFamily="18" charset="0"/>
                      </a:endParaRPr>
                    </a:p>
                  </a:txBody>
                  <a:tcPr marL="61687" marR="61687" marT="41124" marB="41124" anchor="ctr"/>
                </a:tc>
                <a:extLst>
                  <a:ext uri="{0D108BD9-81ED-4DB2-BD59-A6C34878D82A}">
                    <a16:rowId xmlns:a16="http://schemas.microsoft.com/office/drawing/2014/main" val="3354959355"/>
                  </a:ext>
                </a:extLst>
              </a:tr>
              <a:tr h="275673">
                <a:tc rowSpan="3">
                  <a:txBody>
                    <a:bodyPr/>
                    <a:lstStyle/>
                    <a:p>
                      <a:pPr marL="0" marR="0" algn="ctr">
                        <a:buNone/>
                      </a:pPr>
                      <a:r>
                        <a:rPr lang="en-IN" sz="700" dirty="0">
                          <a:effectLst/>
                        </a:rPr>
                        <a:t> </a:t>
                      </a:r>
                      <a:r>
                        <a:rPr lang="en-IN" sz="1600" dirty="0">
                          <a:effectLst/>
                        </a:rPr>
                        <a:t>Mango</a:t>
                      </a:r>
                      <a:endParaRPr lang="en-IN" sz="1600" dirty="0">
                        <a:effectLst/>
                        <a:latin typeface="Times New Roman" panose="02020603050405020304" pitchFamily="18" charset="0"/>
                      </a:endParaRPr>
                    </a:p>
                  </a:txBody>
                  <a:tcPr marL="61687" marR="61687" marT="41124" marB="41124" anchor="ctr"/>
                </a:tc>
                <a:tc>
                  <a:txBody>
                    <a:bodyPr/>
                    <a:lstStyle/>
                    <a:p>
                      <a:pPr marL="0" marR="0" algn="ctr">
                        <a:buNone/>
                      </a:pPr>
                      <a:r>
                        <a:rPr lang="en-IN" sz="1400" dirty="0">
                          <a:effectLst/>
                        </a:rPr>
                        <a:t>Unripe</a:t>
                      </a:r>
                      <a:endParaRPr lang="en-IN" sz="1400" dirty="0">
                        <a:effectLst/>
                        <a:latin typeface="Times New Roman" panose="02020603050405020304" pitchFamily="18" charset="0"/>
                      </a:endParaRPr>
                    </a:p>
                  </a:txBody>
                  <a:tcPr marL="61687" marR="61687" marT="41124" marB="41124" anchor="ctr"/>
                </a:tc>
                <a:tc>
                  <a:txBody>
                    <a:bodyPr/>
                    <a:lstStyle/>
                    <a:p>
                      <a:pPr marL="0" marR="0" algn="ctr">
                        <a:buNone/>
                      </a:pPr>
                      <a:r>
                        <a:rPr lang="en-IN" sz="1400" dirty="0">
                          <a:effectLst/>
                        </a:rPr>
                        <a:t>Green</a:t>
                      </a:r>
                      <a:endParaRPr lang="en-IN" sz="1400" dirty="0">
                        <a:effectLst/>
                        <a:latin typeface="Times New Roman" panose="02020603050405020304" pitchFamily="18" charset="0"/>
                      </a:endParaRPr>
                    </a:p>
                  </a:txBody>
                  <a:tcPr marL="61687" marR="61687" marT="41124" marB="41124" anchor="ctr"/>
                </a:tc>
                <a:tc>
                  <a:txBody>
                    <a:bodyPr/>
                    <a:lstStyle/>
                    <a:p>
                      <a:pPr marL="0" marR="0" algn="ctr">
                        <a:buNone/>
                      </a:pPr>
                      <a:r>
                        <a:rPr lang="en-IN" sz="1400" dirty="0">
                          <a:effectLst/>
                        </a:rPr>
                        <a:t>Firm</a:t>
                      </a:r>
                      <a:endParaRPr lang="en-IN" sz="1400" dirty="0">
                        <a:effectLst/>
                        <a:latin typeface="Times New Roman" panose="02020603050405020304" pitchFamily="18" charset="0"/>
                      </a:endParaRPr>
                    </a:p>
                  </a:txBody>
                  <a:tcPr marL="61687" marR="61687" marT="41124" marB="41124" anchor="ctr"/>
                </a:tc>
                <a:tc rowSpan="3">
                  <a:txBody>
                    <a:bodyPr/>
                    <a:lstStyle/>
                    <a:p>
                      <a:pPr marL="0" marR="0" algn="ctr">
                        <a:buNone/>
                      </a:pPr>
                      <a:r>
                        <a:rPr lang="en-IN" sz="1400" dirty="0">
                          <a:effectLst/>
                        </a:rPr>
                        <a:t>Medium</a:t>
                      </a:r>
                      <a:endParaRPr lang="en-IN" sz="1400" dirty="0">
                        <a:effectLst/>
                        <a:latin typeface="Times New Roman" panose="02020603050405020304" pitchFamily="18" charset="0"/>
                      </a:endParaRPr>
                    </a:p>
                  </a:txBody>
                  <a:tcPr marL="61687" marR="61687" marT="41124" marB="41124" anchor="ctr"/>
                </a:tc>
                <a:tc rowSpan="2">
                  <a:txBody>
                    <a:bodyPr/>
                    <a:lstStyle/>
                    <a:p>
                      <a:pPr marL="0" marR="0" algn="ctr">
                        <a:buNone/>
                      </a:pPr>
                      <a:r>
                        <a:rPr lang="en-IN" sz="700" dirty="0">
                          <a:effectLst/>
                        </a:rPr>
                        <a:t> </a:t>
                      </a:r>
                      <a:endParaRPr lang="en-IN" sz="900" dirty="0">
                        <a:effectLst/>
                      </a:endParaRPr>
                    </a:p>
                    <a:p>
                      <a:pPr marL="0" marR="0" algn="ctr">
                        <a:buNone/>
                      </a:pPr>
                      <a:r>
                        <a:rPr lang="en-IN" sz="1400" dirty="0">
                          <a:effectLst/>
                        </a:rPr>
                        <a:t>Oval</a:t>
                      </a:r>
                      <a:endParaRPr lang="en-IN" sz="1400" dirty="0">
                        <a:effectLst/>
                        <a:latin typeface="Times New Roman" panose="02020603050405020304" pitchFamily="18" charset="0"/>
                      </a:endParaRPr>
                    </a:p>
                  </a:txBody>
                  <a:tcPr marL="61687" marR="61687" marT="41124" marB="41124" anchor="ctr"/>
                </a:tc>
                <a:extLst>
                  <a:ext uri="{0D108BD9-81ED-4DB2-BD59-A6C34878D82A}">
                    <a16:rowId xmlns:a16="http://schemas.microsoft.com/office/drawing/2014/main" val="1647764393"/>
                  </a:ext>
                </a:extLst>
              </a:tr>
              <a:tr h="277161">
                <a:tc vMerge="1">
                  <a:txBody>
                    <a:bodyPr/>
                    <a:lstStyle/>
                    <a:p>
                      <a:endParaRPr lang="en-IN"/>
                    </a:p>
                  </a:txBody>
                  <a:tcPr/>
                </a:tc>
                <a:tc>
                  <a:txBody>
                    <a:bodyPr/>
                    <a:lstStyle/>
                    <a:p>
                      <a:pPr marL="0" marR="0" algn="ctr">
                        <a:buNone/>
                      </a:pPr>
                      <a:r>
                        <a:rPr lang="en-IN" sz="1400" dirty="0">
                          <a:effectLst/>
                        </a:rPr>
                        <a:t>Ripe</a:t>
                      </a:r>
                      <a:endParaRPr lang="en-IN" sz="1400" dirty="0">
                        <a:effectLst/>
                        <a:latin typeface="Times New Roman" panose="02020603050405020304" pitchFamily="18" charset="0"/>
                      </a:endParaRPr>
                    </a:p>
                  </a:txBody>
                  <a:tcPr marL="61687" marR="61687" marT="41124" marB="41124" anchor="ctr"/>
                </a:tc>
                <a:tc>
                  <a:txBody>
                    <a:bodyPr/>
                    <a:lstStyle/>
                    <a:p>
                      <a:pPr marL="0" marR="0" algn="ctr">
                        <a:buNone/>
                      </a:pPr>
                      <a:r>
                        <a:rPr lang="en-IN" sz="1400" dirty="0">
                          <a:effectLst/>
                        </a:rPr>
                        <a:t>Yellow/Red/or mix</a:t>
                      </a:r>
                      <a:endParaRPr lang="en-IN" sz="1400" dirty="0">
                        <a:effectLst/>
                        <a:latin typeface="Times New Roman" panose="02020603050405020304" pitchFamily="18" charset="0"/>
                      </a:endParaRPr>
                    </a:p>
                  </a:txBody>
                  <a:tcPr marL="61687" marR="61687" marT="41124" marB="41124" anchor="ctr"/>
                </a:tc>
                <a:tc>
                  <a:txBody>
                    <a:bodyPr/>
                    <a:lstStyle/>
                    <a:p>
                      <a:pPr marL="0" marR="0" algn="ctr">
                        <a:buNone/>
                      </a:pPr>
                      <a:r>
                        <a:rPr lang="en-IN" sz="1400" dirty="0">
                          <a:effectLst/>
                        </a:rPr>
                        <a:t>Slightly Soft</a:t>
                      </a:r>
                      <a:endParaRPr lang="en-IN" sz="1400" dirty="0">
                        <a:effectLst/>
                        <a:latin typeface="Times New Roman" panose="02020603050405020304" pitchFamily="18" charset="0"/>
                      </a:endParaRPr>
                    </a:p>
                  </a:txBody>
                  <a:tcPr marL="61687" marR="61687" marT="41124" marB="41124" anchor="ct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1087026236"/>
                  </a:ext>
                </a:extLst>
              </a:tr>
              <a:tr h="277161">
                <a:tc vMerge="1">
                  <a:txBody>
                    <a:bodyPr/>
                    <a:lstStyle/>
                    <a:p>
                      <a:endParaRPr lang="en-IN"/>
                    </a:p>
                  </a:txBody>
                  <a:tcPr/>
                </a:tc>
                <a:tc>
                  <a:txBody>
                    <a:bodyPr/>
                    <a:lstStyle/>
                    <a:p>
                      <a:pPr marL="0" marR="0" algn="ctr">
                        <a:buNone/>
                      </a:pPr>
                      <a:r>
                        <a:rPr lang="en-IN" sz="1400" dirty="0">
                          <a:effectLst/>
                        </a:rPr>
                        <a:t>Rotten</a:t>
                      </a:r>
                      <a:endParaRPr lang="en-IN" sz="1400" dirty="0">
                        <a:effectLst/>
                        <a:latin typeface="Times New Roman" panose="02020603050405020304" pitchFamily="18" charset="0"/>
                      </a:endParaRPr>
                    </a:p>
                  </a:txBody>
                  <a:tcPr marL="61687" marR="61687" marT="41124" marB="41124" anchor="ctr"/>
                </a:tc>
                <a:tc>
                  <a:txBody>
                    <a:bodyPr/>
                    <a:lstStyle/>
                    <a:p>
                      <a:pPr marL="0" marR="0" algn="ctr">
                        <a:buNone/>
                      </a:pPr>
                      <a:r>
                        <a:rPr lang="en-IN" sz="1400" dirty="0">
                          <a:effectLst/>
                        </a:rPr>
                        <a:t>Black/Brown</a:t>
                      </a:r>
                      <a:endParaRPr lang="en-IN" sz="1400" dirty="0">
                        <a:effectLst/>
                        <a:latin typeface="Times New Roman" panose="02020603050405020304" pitchFamily="18" charset="0"/>
                      </a:endParaRPr>
                    </a:p>
                  </a:txBody>
                  <a:tcPr marL="61687" marR="61687" marT="41124" marB="41124" anchor="ctr"/>
                </a:tc>
                <a:tc>
                  <a:txBody>
                    <a:bodyPr/>
                    <a:lstStyle/>
                    <a:p>
                      <a:pPr marL="0" marR="0" algn="ctr">
                        <a:buNone/>
                      </a:pPr>
                      <a:r>
                        <a:rPr lang="en-IN" sz="1400" dirty="0">
                          <a:effectLst/>
                        </a:rPr>
                        <a:t>Soft/</a:t>
                      </a:r>
                      <a:r>
                        <a:rPr lang="en-IN" sz="1400" dirty="0" err="1">
                          <a:effectLst/>
                        </a:rPr>
                        <a:t>Moldy</a:t>
                      </a:r>
                      <a:endParaRPr lang="en-IN" sz="1400" dirty="0">
                        <a:effectLst/>
                        <a:latin typeface="Times New Roman" panose="02020603050405020304" pitchFamily="18" charset="0"/>
                      </a:endParaRPr>
                    </a:p>
                  </a:txBody>
                  <a:tcPr marL="61687" marR="61687" marT="41124" marB="41124" anchor="ctr"/>
                </a:tc>
                <a:tc vMerge="1">
                  <a:txBody>
                    <a:bodyPr/>
                    <a:lstStyle/>
                    <a:p>
                      <a:endParaRPr lang="en-IN"/>
                    </a:p>
                  </a:txBody>
                  <a:tcPr/>
                </a:tc>
                <a:tc>
                  <a:txBody>
                    <a:bodyPr/>
                    <a:lstStyle/>
                    <a:p>
                      <a:pPr marL="0" marR="0" algn="ctr">
                        <a:buNone/>
                      </a:pPr>
                      <a:r>
                        <a:rPr lang="en-IN" sz="1400" dirty="0">
                          <a:effectLst/>
                        </a:rPr>
                        <a:t>Irregular</a:t>
                      </a:r>
                      <a:endParaRPr lang="en-IN" sz="1400" dirty="0">
                        <a:effectLst/>
                        <a:latin typeface="Times New Roman" panose="02020603050405020304" pitchFamily="18" charset="0"/>
                      </a:endParaRPr>
                    </a:p>
                  </a:txBody>
                  <a:tcPr marL="61687" marR="61687" marT="41124" marB="41124" anchor="ctr"/>
                </a:tc>
                <a:extLst>
                  <a:ext uri="{0D108BD9-81ED-4DB2-BD59-A6C34878D82A}">
                    <a16:rowId xmlns:a16="http://schemas.microsoft.com/office/drawing/2014/main" val="3320380221"/>
                  </a:ext>
                </a:extLst>
              </a:tr>
              <a:tr h="277161">
                <a:tc rowSpan="3">
                  <a:txBody>
                    <a:bodyPr/>
                    <a:lstStyle/>
                    <a:p>
                      <a:pPr marL="0" marR="0" algn="ctr">
                        <a:buNone/>
                      </a:pPr>
                      <a:r>
                        <a:rPr lang="en-IN" sz="700" dirty="0">
                          <a:effectLst/>
                        </a:rPr>
                        <a:t> </a:t>
                      </a:r>
                      <a:endParaRPr lang="en-IN" sz="900" dirty="0">
                        <a:effectLst/>
                      </a:endParaRPr>
                    </a:p>
                    <a:p>
                      <a:pPr marL="0" marR="0" algn="ctr">
                        <a:buNone/>
                      </a:pPr>
                      <a:r>
                        <a:rPr lang="en-IN" sz="1600" dirty="0">
                          <a:effectLst/>
                        </a:rPr>
                        <a:t>Orange</a:t>
                      </a:r>
                      <a:endParaRPr lang="en-IN" sz="1600" dirty="0">
                        <a:effectLst/>
                        <a:latin typeface="Times New Roman" panose="02020603050405020304" pitchFamily="18" charset="0"/>
                      </a:endParaRPr>
                    </a:p>
                  </a:txBody>
                  <a:tcPr marL="61687" marR="61687" marT="41124" marB="41124" anchor="ctr"/>
                </a:tc>
                <a:tc>
                  <a:txBody>
                    <a:bodyPr/>
                    <a:lstStyle/>
                    <a:p>
                      <a:pPr marL="0" marR="0" algn="ctr">
                        <a:buNone/>
                      </a:pPr>
                      <a:r>
                        <a:rPr lang="en-IN" sz="1400" dirty="0">
                          <a:effectLst/>
                        </a:rPr>
                        <a:t>Unripe</a:t>
                      </a:r>
                      <a:endParaRPr lang="en-IN" sz="1400" dirty="0">
                        <a:effectLst/>
                        <a:latin typeface="Times New Roman" panose="02020603050405020304" pitchFamily="18" charset="0"/>
                      </a:endParaRPr>
                    </a:p>
                  </a:txBody>
                  <a:tcPr marL="61687" marR="61687" marT="41124" marB="41124" anchor="ctr"/>
                </a:tc>
                <a:tc>
                  <a:txBody>
                    <a:bodyPr/>
                    <a:lstStyle/>
                    <a:p>
                      <a:pPr marL="0" marR="0" algn="ctr">
                        <a:buNone/>
                      </a:pPr>
                      <a:r>
                        <a:rPr lang="en-IN" sz="1400" dirty="0">
                          <a:effectLst/>
                        </a:rPr>
                        <a:t>Greenish/ Yellow</a:t>
                      </a:r>
                      <a:endParaRPr lang="en-IN" sz="1400" dirty="0">
                        <a:effectLst/>
                        <a:latin typeface="Times New Roman" panose="02020603050405020304" pitchFamily="18" charset="0"/>
                      </a:endParaRPr>
                    </a:p>
                  </a:txBody>
                  <a:tcPr marL="61687" marR="61687" marT="41124" marB="41124" anchor="ctr"/>
                </a:tc>
                <a:tc>
                  <a:txBody>
                    <a:bodyPr/>
                    <a:lstStyle/>
                    <a:p>
                      <a:pPr marL="0" marR="0" algn="ctr">
                        <a:buNone/>
                      </a:pPr>
                      <a:r>
                        <a:rPr lang="en-IN" sz="1400" dirty="0">
                          <a:effectLst/>
                        </a:rPr>
                        <a:t>Firm/ Bumpy</a:t>
                      </a:r>
                      <a:endParaRPr lang="en-IN" sz="1400" dirty="0">
                        <a:effectLst/>
                        <a:latin typeface="Times New Roman" panose="02020603050405020304" pitchFamily="18" charset="0"/>
                      </a:endParaRPr>
                    </a:p>
                  </a:txBody>
                  <a:tcPr marL="61687" marR="61687" marT="41124" marB="41124" anchor="ctr"/>
                </a:tc>
                <a:tc rowSpan="3">
                  <a:txBody>
                    <a:bodyPr/>
                    <a:lstStyle/>
                    <a:p>
                      <a:pPr marL="0" marR="0" algn="ctr">
                        <a:buNone/>
                      </a:pPr>
                      <a:r>
                        <a:rPr lang="en-IN" sz="700" dirty="0">
                          <a:effectLst/>
                        </a:rPr>
                        <a:t> </a:t>
                      </a:r>
                      <a:endParaRPr lang="en-IN" sz="900" dirty="0">
                        <a:effectLst/>
                      </a:endParaRPr>
                    </a:p>
                    <a:p>
                      <a:pPr marL="0" marR="0" algn="ctr">
                        <a:buNone/>
                      </a:pPr>
                      <a:r>
                        <a:rPr lang="en-IN" sz="1400" dirty="0">
                          <a:effectLst/>
                        </a:rPr>
                        <a:t>Medium</a:t>
                      </a:r>
                      <a:endParaRPr lang="en-IN" sz="1400" dirty="0">
                        <a:effectLst/>
                        <a:latin typeface="Times New Roman" panose="02020603050405020304" pitchFamily="18" charset="0"/>
                      </a:endParaRPr>
                    </a:p>
                  </a:txBody>
                  <a:tcPr marL="61687" marR="61687" marT="41124" marB="41124" anchor="ctr"/>
                </a:tc>
                <a:tc rowSpan="2">
                  <a:txBody>
                    <a:bodyPr/>
                    <a:lstStyle/>
                    <a:p>
                      <a:pPr marL="0" marR="0" algn="ctr">
                        <a:buNone/>
                      </a:pPr>
                      <a:r>
                        <a:rPr lang="en-IN" sz="700" dirty="0">
                          <a:effectLst/>
                        </a:rPr>
                        <a:t> </a:t>
                      </a:r>
                      <a:endParaRPr lang="en-IN" sz="900" dirty="0">
                        <a:effectLst/>
                      </a:endParaRPr>
                    </a:p>
                    <a:p>
                      <a:pPr marL="0" marR="0" algn="ctr">
                        <a:buNone/>
                      </a:pPr>
                      <a:r>
                        <a:rPr lang="en-IN" sz="1400" dirty="0">
                          <a:effectLst/>
                        </a:rPr>
                        <a:t>Round</a:t>
                      </a:r>
                      <a:endParaRPr lang="en-IN" sz="1400" dirty="0">
                        <a:effectLst/>
                        <a:latin typeface="Times New Roman" panose="02020603050405020304" pitchFamily="18" charset="0"/>
                      </a:endParaRPr>
                    </a:p>
                  </a:txBody>
                  <a:tcPr marL="61687" marR="61687" marT="41124" marB="41124" anchor="ctr"/>
                </a:tc>
                <a:extLst>
                  <a:ext uri="{0D108BD9-81ED-4DB2-BD59-A6C34878D82A}">
                    <a16:rowId xmlns:a16="http://schemas.microsoft.com/office/drawing/2014/main" val="1345045411"/>
                  </a:ext>
                </a:extLst>
              </a:tr>
              <a:tr h="277161">
                <a:tc vMerge="1">
                  <a:txBody>
                    <a:bodyPr/>
                    <a:lstStyle/>
                    <a:p>
                      <a:endParaRPr lang="en-IN"/>
                    </a:p>
                  </a:txBody>
                  <a:tcPr/>
                </a:tc>
                <a:tc>
                  <a:txBody>
                    <a:bodyPr/>
                    <a:lstStyle/>
                    <a:p>
                      <a:pPr marL="0" marR="0" algn="ctr">
                        <a:buNone/>
                      </a:pPr>
                      <a:r>
                        <a:rPr lang="en-IN" sz="1400" dirty="0">
                          <a:effectLst/>
                        </a:rPr>
                        <a:t>Ripe</a:t>
                      </a:r>
                      <a:endParaRPr lang="en-IN" sz="1400" dirty="0">
                        <a:effectLst/>
                        <a:latin typeface="Times New Roman" panose="02020603050405020304" pitchFamily="18" charset="0"/>
                      </a:endParaRPr>
                    </a:p>
                  </a:txBody>
                  <a:tcPr marL="61687" marR="61687" marT="41124" marB="41124" anchor="ctr"/>
                </a:tc>
                <a:tc>
                  <a:txBody>
                    <a:bodyPr/>
                    <a:lstStyle/>
                    <a:p>
                      <a:pPr marL="0" marR="0" algn="ctr">
                        <a:buNone/>
                      </a:pPr>
                      <a:r>
                        <a:rPr lang="en-IN" sz="1400" dirty="0">
                          <a:effectLst/>
                        </a:rPr>
                        <a:t>Bright Orange</a:t>
                      </a:r>
                      <a:endParaRPr lang="en-IN" sz="1400" dirty="0">
                        <a:effectLst/>
                        <a:latin typeface="Times New Roman" panose="02020603050405020304" pitchFamily="18" charset="0"/>
                      </a:endParaRPr>
                    </a:p>
                  </a:txBody>
                  <a:tcPr marL="61687" marR="61687" marT="41124" marB="41124" anchor="ctr"/>
                </a:tc>
                <a:tc>
                  <a:txBody>
                    <a:bodyPr/>
                    <a:lstStyle/>
                    <a:p>
                      <a:pPr marL="0" marR="0" algn="ctr">
                        <a:buNone/>
                      </a:pPr>
                      <a:r>
                        <a:rPr lang="en-IN" sz="1400" dirty="0">
                          <a:effectLst/>
                        </a:rPr>
                        <a:t>Slightly textured</a:t>
                      </a:r>
                      <a:endParaRPr lang="en-IN" sz="1400" dirty="0">
                        <a:effectLst/>
                        <a:latin typeface="Times New Roman" panose="02020603050405020304" pitchFamily="18" charset="0"/>
                      </a:endParaRPr>
                    </a:p>
                  </a:txBody>
                  <a:tcPr marL="61687" marR="61687" marT="41124" marB="41124" anchor="ct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1412242392"/>
                  </a:ext>
                </a:extLst>
              </a:tr>
              <a:tr h="0">
                <a:tc vMerge="1">
                  <a:txBody>
                    <a:bodyPr/>
                    <a:lstStyle/>
                    <a:p>
                      <a:endParaRPr lang="en-IN"/>
                    </a:p>
                  </a:txBody>
                  <a:tcPr/>
                </a:tc>
                <a:tc>
                  <a:txBody>
                    <a:bodyPr/>
                    <a:lstStyle/>
                    <a:p>
                      <a:pPr marL="0" marR="0" algn="ctr">
                        <a:buNone/>
                      </a:pPr>
                      <a:r>
                        <a:rPr lang="en-IN" sz="1400" dirty="0">
                          <a:effectLst/>
                        </a:rPr>
                        <a:t>Rotten</a:t>
                      </a:r>
                      <a:endParaRPr lang="en-IN" sz="1400" dirty="0">
                        <a:effectLst/>
                        <a:latin typeface="Times New Roman" panose="02020603050405020304" pitchFamily="18" charset="0"/>
                      </a:endParaRPr>
                    </a:p>
                  </a:txBody>
                  <a:tcPr marL="61687" marR="61687" marT="41124" marB="41124" anchor="ctr"/>
                </a:tc>
                <a:tc>
                  <a:txBody>
                    <a:bodyPr/>
                    <a:lstStyle/>
                    <a:p>
                      <a:pPr marL="0" marR="0" algn="ctr">
                        <a:buNone/>
                      </a:pPr>
                      <a:r>
                        <a:rPr lang="en-IN" sz="1400" dirty="0">
                          <a:effectLst/>
                        </a:rPr>
                        <a:t>Dull/</a:t>
                      </a:r>
                      <a:r>
                        <a:rPr lang="en-IN" sz="1400" dirty="0" err="1">
                          <a:effectLst/>
                        </a:rPr>
                        <a:t>Moldy</a:t>
                      </a:r>
                      <a:endParaRPr lang="en-IN" sz="1400" dirty="0">
                        <a:effectLst/>
                        <a:latin typeface="Times New Roman" panose="02020603050405020304" pitchFamily="18" charset="0"/>
                      </a:endParaRPr>
                    </a:p>
                  </a:txBody>
                  <a:tcPr marL="61687" marR="61687" marT="41124" marB="41124" anchor="ctr"/>
                </a:tc>
                <a:tc>
                  <a:txBody>
                    <a:bodyPr/>
                    <a:lstStyle/>
                    <a:p>
                      <a:pPr marL="0" marR="0" algn="ctr">
                        <a:buNone/>
                      </a:pPr>
                      <a:r>
                        <a:rPr lang="en-IN" sz="1400" dirty="0">
                          <a:effectLst/>
                        </a:rPr>
                        <a:t>Soft/</a:t>
                      </a:r>
                      <a:r>
                        <a:rPr lang="en-IN" sz="1400" dirty="0" err="1">
                          <a:effectLst/>
                        </a:rPr>
                        <a:t>Moldy</a:t>
                      </a:r>
                      <a:endParaRPr lang="en-IN" sz="1400" dirty="0">
                        <a:effectLst/>
                        <a:latin typeface="Times New Roman" panose="02020603050405020304" pitchFamily="18" charset="0"/>
                      </a:endParaRPr>
                    </a:p>
                  </a:txBody>
                  <a:tcPr marL="61687" marR="61687" marT="41124" marB="41124" anchor="ctr"/>
                </a:tc>
                <a:tc vMerge="1">
                  <a:txBody>
                    <a:bodyPr/>
                    <a:lstStyle/>
                    <a:p>
                      <a:endParaRPr lang="en-IN"/>
                    </a:p>
                  </a:txBody>
                  <a:tcPr/>
                </a:tc>
                <a:tc>
                  <a:txBody>
                    <a:bodyPr/>
                    <a:lstStyle/>
                    <a:p>
                      <a:pPr marL="0" marR="0" algn="ctr">
                        <a:buNone/>
                      </a:pPr>
                      <a:r>
                        <a:rPr lang="en-IN" sz="1400" dirty="0">
                          <a:effectLst/>
                        </a:rPr>
                        <a:t>Misshapen</a:t>
                      </a:r>
                      <a:endParaRPr lang="en-IN" sz="1400" dirty="0">
                        <a:effectLst/>
                        <a:latin typeface="Times New Roman" panose="02020603050405020304" pitchFamily="18" charset="0"/>
                      </a:endParaRPr>
                    </a:p>
                  </a:txBody>
                  <a:tcPr marL="61687" marR="61687" marT="41124" marB="41124" anchor="ctr"/>
                </a:tc>
                <a:extLst>
                  <a:ext uri="{0D108BD9-81ED-4DB2-BD59-A6C34878D82A}">
                    <a16:rowId xmlns:a16="http://schemas.microsoft.com/office/drawing/2014/main" val="1644217986"/>
                  </a:ext>
                </a:extLst>
              </a:tr>
            </a:tbl>
          </a:graphicData>
        </a:graphic>
      </p:graphicFrame>
    </p:spTree>
    <p:extLst>
      <p:ext uri="{BB962C8B-B14F-4D97-AF65-F5344CB8AC3E}">
        <p14:creationId xmlns:p14="http://schemas.microsoft.com/office/powerpoint/2010/main" val="6667484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229"/>
        <p:cNvGrpSpPr/>
        <p:nvPr/>
      </p:nvGrpSpPr>
      <p:grpSpPr>
        <a:xfrm>
          <a:off x="0" y="0"/>
          <a:ext cx="0" cy="0"/>
          <a:chOff x="0" y="0"/>
          <a:chExt cx="0" cy="0"/>
        </a:xfrm>
      </p:grpSpPr>
      <p:pic>
        <p:nvPicPr>
          <p:cNvPr id="230" name="Google Shape;230;p22" descr="image.png"/>
          <p:cNvPicPr preferRelativeResize="0"/>
          <p:nvPr/>
        </p:nvPicPr>
        <p:blipFill rotWithShape="1">
          <a:blip r:embed="rId3"/>
          <a:srcRect/>
          <a:stretch>
            <a:fillRect/>
          </a:stretch>
        </p:blipFill>
        <p:spPr>
          <a:xfrm>
            <a:off x="0" y="0"/>
            <a:ext cx="12192000" cy="6858000"/>
          </a:xfrm>
          <a:prstGeom prst="rect">
            <a:avLst/>
          </a:prstGeom>
          <a:noFill/>
          <a:ln>
            <a:noFill/>
          </a:ln>
        </p:spPr>
      </p:pic>
      <p:sp>
        <p:nvSpPr>
          <p:cNvPr id="231" name="Google Shape;231;p22"/>
          <p:cNvSpPr txBox="1"/>
          <p:nvPr/>
        </p:nvSpPr>
        <p:spPr>
          <a:xfrm>
            <a:off x="571500" y="2771775"/>
            <a:ext cx="5286375" cy="142875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1250" b="1" i="0" u="none" strike="noStrike" cap="none">
                <a:solidFill>
                  <a:srgbClr val="DEFF9A"/>
                </a:solidFill>
                <a:latin typeface="Montserrat" panose="00000500000000000000"/>
                <a:ea typeface="Montserrat" panose="00000500000000000000"/>
                <a:cs typeface="Montserrat" panose="00000500000000000000"/>
                <a:sym typeface="Montserrat" panose="00000500000000000000"/>
              </a:rPr>
              <a:t>99.4%</a:t>
            </a:r>
          </a:p>
        </p:txBody>
      </p:sp>
      <p:sp>
        <p:nvSpPr>
          <p:cNvPr id="232" name="Google Shape;232;p22"/>
          <p:cNvSpPr txBox="1"/>
          <p:nvPr/>
        </p:nvSpPr>
        <p:spPr>
          <a:xfrm>
            <a:off x="571500" y="4391025"/>
            <a:ext cx="5286375" cy="46164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000" b="0" i="0" u="none" strike="noStrike" cap="none">
                <a:solidFill>
                  <a:srgbClr val="00FFCC"/>
                </a:solidFill>
                <a:latin typeface="Times New Roman" panose="02020603050405020304" charset="0"/>
                <a:ea typeface="Open Sans SemiBold"/>
                <a:cs typeface="Times New Roman" panose="02020603050405020304" charset="0"/>
                <a:sym typeface="Open Sans SemiBold"/>
              </a:rPr>
              <a:t>OVERALL ACCURACY</a:t>
            </a:r>
          </a:p>
        </p:txBody>
      </p:sp>
      <p:sp>
        <p:nvSpPr>
          <p:cNvPr id="233" name="Google Shape;233;p22"/>
          <p:cNvSpPr txBox="1"/>
          <p:nvPr/>
        </p:nvSpPr>
        <p:spPr>
          <a:xfrm>
            <a:off x="6334125" y="2771775"/>
            <a:ext cx="5550693"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DEFF9A"/>
                </a:solidFill>
                <a:latin typeface="Montserrat" panose="00000500000000000000"/>
                <a:ea typeface="Montserrat" panose="00000500000000000000"/>
                <a:cs typeface="Montserrat" panose="00000500000000000000"/>
                <a:sym typeface="Montserrat" panose="00000500000000000000"/>
              </a:rPr>
              <a:t>Model Metrics</a:t>
            </a:r>
          </a:p>
        </p:txBody>
      </p:sp>
      <p:sp>
        <p:nvSpPr>
          <p:cNvPr id="235" name="Google Shape;235;p22"/>
          <p:cNvSpPr txBox="1"/>
          <p:nvPr/>
        </p:nvSpPr>
        <p:spPr>
          <a:xfrm>
            <a:off x="6715125" y="3248025"/>
            <a:ext cx="4905375" cy="1661795"/>
          </a:xfrm>
          <a:prstGeom prst="rect">
            <a:avLst/>
          </a:prstGeom>
          <a:noFill/>
          <a:ln>
            <a:noFill/>
          </a:ln>
        </p:spPr>
        <p:txBody>
          <a:bodyPr spcFirstLastPara="1" wrap="square" lIns="76200" tIns="0" rIns="0" bIns="0" anchor="t" anchorCtr="0">
            <a:spAutoFit/>
          </a:bodyPr>
          <a:lstStyle/>
          <a:p>
            <a:pPr marL="285750" marR="0" lvl="0" indent="-285750" algn="l" rtl="0">
              <a:lnSpc>
                <a:spcPct val="150000"/>
              </a:lnSpc>
              <a:spcBef>
                <a:spcPts val="0"/>
              </a:spcBef>
              <a:spcAft>
                <a:spcPts val="0"/>
              </a:spcAft>
              <a:buClr>
                <a:srgbClr val="FFFFFF"/>
              </a:buClr>
              <a:buFont typeface="Arial" panose="020B0604020202020204" pitchFamily="34" charset="0"/>
              <a:buChar char="•"/>
            </a:pPr>
            <a:r>
              <a:rPr lang="en-US" sz="1800" b="1" i="0" u="none" strike="noStrike" cap="none">
                <a:solidFill>
                  <a:schemeClr val="bg1"/>
                </a:solidFill>
                <a:latin typeface="Times New Roman" panose="02020603050405020304" charset="0"/>
                <a:ea typeface="Open Sans"/>
                <a:cs typeface="Times New Roman" panose="02020603050405020304" charset="0"/>
                <a:sym typeface="Open Sans"/>
              </a:rPr>
              <a:t>Precision:</a:t>
            </a:r>
            <a:r>
              <a:rPr lang="en-US" sz="1800" b="0" i="0" u="none" strike="noStrike" cap="none">
                <a:solidFill>
                  <a:schemeClr val="bg1"/>
                </a:solidFill>
                <a:latin typeface="Times New Roman" panose="02020603050405020304" charset="0"/>
                <a:ea typeface="Open Sans"/>
                <a:cs typeface="Times New Roman" panose="02020603050405020304" charset="0"/>
                <a:sym typeface="Open Sans"/>
              </a:rPr>
              <a:t> 99.5% (High reliability)</a:t>
            </a:r>
          </a:p>
          <a:p>
            <a:pPr marL="285750" marR="0" lvl="0" indent="-285750" algn="l" rtl="0">
              <a:lnSpc>
                <a:spcPct val="150000"/>
              </a:lnSpc>
              <a:spcBef>
                <a:spcPts val="0"/>
              </a:spcBef>
              <a:spcAft>
                <a:spcPts val="0"/>
              </a:spcAft>
              <a:buClr>
                <a:srgbClr val="FFFFFF"/>
              </a:buClr>
              <a:buFont typeface="Arial" panose="020B0604020202020204" pitchFamily="34" charset="0"/>
              <a:buChar char="•"/>
            </a:pPr>
            <a:r>
              <a:rPr lang="en-US" sz="1800" b="1">
                <a:solidFill>
                  <a:schemeClr val="bg1"/>
                </a:solidFill>
                <a:latin typeface="Times New Roman" panose="02020603050405020304" charset="0"/>
                <a:ea typeface="Open Sans"/>
                <a:cs typeface="Times New Roman" panose="02020603050405020304" charset="0"/>
                <a:sym typeface="Open Sans"/>
              </a:rPr>
              <a:t>Recall:</a:t>
            </a:r>
            <a:r>
              <a:rPr lang="en-US" sz="1800">
                <a:solidFill>
                  <a:schemeClr val="bg1"/>
                </a:solidFill>
                <a:latin typeface="Times New Roman" panose="02020603050405020304" charset="0"/>
                <a:ea typeface="Open Sans"/>
                <a:cs typeface="Times New Roman" panose="02020603050405020304" charset="0"/>
                <a:sym typeface="Open Sans"/>
              </a:rPr>
              <a:t> 99.4% (Broad coverage)</a:t>
            </a:r>
          </a:p>
          <a:p>
            <a:pPr marL="285750" marR="0" lvl="0" indent="-285750" algn="l" rtl="0">
              <a:lnSpc>
                <a:spcPct val="150000"/>
              </a:lnSpc>
              <a:spcBef>
                <a:spcPts val="0"/>
              </a:spcBef>
              <a:spcAft>
                <a:spcPts val="0"/>
              </a:spcAft>
              <a:buClr>
                <a:srgbClr val="FFFFFF"/>
              </a:buClr>
              <a:buFont typeface="Arial" panose="020B0604020202020204" pitchFamily="34" charset="0"/>
              <a:buChar char="•"/>
            </a:pPr>
            <a:r>
              <a:rPr lang="en-US" sz="1800" b="1">
                <a:solidFill>
                  <a:schemeClr val="bg1"/>
                </a:solidFill>
                <a:latin typeface="Times New Roman" panose="02020603050405020304" charset="0"/>
                <a:ea typeface="Open Sans"/>
                <a:cs typeface="Times New Roman" panose="02020603050405020304" charset="0"/>
                <a:sym typeface="Open Sans"/>
              </a:rPr>
              <a:t>Inference:</a:t>
            </a:r>
            <a:r>
              <a:rPr lang="en-US" sz="1800">
                <a:solidFill>
                  <a:schemeClr val="bg1"/>
                </a:solidFill>
                <a:latin typeface="Times New Roman" panose="02020603050405020304" charset="0"/>
                <a:ea typeface="Open Sans"/>
                <a:cs typeface="Times New Roman" panose="02020603050405020304" charset="0"/>
                <a:sym typeface="Open Sans"/>
              </a:rPr>
              <a:t> Suitable for edge devices and mobile deployment.</a:t>
            </a:r>
            <a:endParaRPr lang="en-US" sz="1800" b="0" i="0" u="none" strike="noStrike" cap="none">
              <a:solidFill>
                <a:schemeClr val="bg1"/>
              </a:solidFill>
              <a:latin typeface="Times New Roman" panose="02020603050405020304" charset="0"/>
              <a:ea typeface="Open Sans"/>
              <a:cs typeface="Times New Roman" panose="02020603050405020304" charset="0"/>
              <a:sym typeface="Open Sans"/>
            </a:endParaRPr>
          </a:p>
        </p:txBody>
      </p:sp>
      <p:sp>
        <p:nvSpPr>
          <p:cNvPr id="240" name="Google Shape;240;p22"/>
          <p:cNvSpPr txBox="1"/>
          <p:nvPr/>
        </p:nvSpPr>
        <p:spPr>
          <a:xfrm>
            <a:off x="762000" y="571500"/>
            <a:ext cx="7710963" cy="495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FFCC"/>
                </a:solidFill>
                <a:latin typeface="Montserrat" panose="00000500000000000000"/>
                <a:ea typeface="Montserrat" panose="00000500000000000000"/>
                <a:cs typeface="Montserrat" panose="00000500000000000000"/>
                <a:sym typeface="Montserrat" panose="00000500000000000000"/>
              </a:rPr>
              <a:t>SYSTEM PERFORMANCE RESULTS</a:t>
            </a:r>
          </a:p>
        </p:txBody>
      </p:sp>
      <p:sp>
        <p:nvSpPr>
          <p:cNvPr id="241" name="Google Shape;241;p22"/>
          <p:cNvSpPr/>
          <p:nvPr/>
        </p:nvSpPr>
        <p:spPr>
          <a:xfrm>
            <a:off x="571500" y="571500"/>
            <a:ext cx="57150" cy="4953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229"/>
        <p:cNvGrpSpPr/>
        <p:nvPr/>
      </p:nvGrpSpPr>
      <p:grpSpPr>
        <a:xfrm>
          <a:off x="0" y="0"/>
          <a:ext cx="0" cy="0"/>
          <a:chOff x="0" y="0"/>
          <a:chExt cx="0" cy="0"/>
        </a:xfrm>
      </p:grpSpPr>
      <p:pic>
        <p:nvPicPr>
          <p:cNvPr id="230" name="Google Shape;230;p22" descr="image.png"/>
          <p:cNvPicPr preferRelativeResize="0"/>
          <p:nvPr/>
        </p:nvPicPr>
        <p:blipFill rotWithShape="1">
          <a:blip r:embed="rId5"/>
          <a:srcRect/>
          <a:stretch>
            <a:fillRect/>
          </a:stretch>
        </p:blipFill>
        <p:spPr>
          <a:xfrm>
            <a:off x="0" y="0"/>
            <a:ext cx="12192000" cy="6858000"/>
          </a:xfrm>
          <a:prstGeom prst="rect">
            <a:avLst/>
          </a:prstGeom>
          <a:noFill/>
          <a:ln>
            <a:noFill/>
          </a:ln>
        </p:spPr>
      </p:pic>
      <p:sp>
        <p:nvSpPr>
          <p:cNvPr id="240" name="Google Shape;240;p22"/>
          <p:cNvSpPr txBox="1"/>
          <p:nvPr/>
        </p:nvSpPr>
        <p:spPr>
          <a:xfrm>
            <a:off x="762000" y="571500"/>
            <a:ext cx="7710963" cy="4845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FFCC"/>
                </a:solidFill>
                <a:latin typeface="Montserrat" panose="00000500000000000000"/>
                <a:ea typeface="Montserrat" panose="00000500000000000000"/>
                <a:cs typeface="Montserrat" panose="00000500000000000000"/>
                <a:sym typeface="Montserrat" panose="00000500000000000000"/>
              </a:rPr>
              <a:t>RESULTS</a:t>
            </a:r>
          </a:p>
        </p:txBody>
      </p:sp>
      <p:sp>
        <p:nvSpPr>
          <p:cNvPr id="241" name="Google Shape;241;p22"/>
          <p:cNvSpPr/>
          <p:nvPr/>
        </p:nvSpPr>
        <p:spPr>
          <a:xfrm>
            <a:off x="571500" y="571500"/>
            <a:ext cx="57150" cy="4953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 name="Text Box 1"/>
          <p:cNvSpPr txBox="1"/>
          <p:nvPr/>
        </p:nvSpPr>
        <p:spPr>
          <a:xfrm>
            <a:off x="600075" y="542290"/>
            <a:ext cx="10825480" cy="5457825"/>
          </a:xfrm>
          <a:prstGeom prst="rect">
            <a:avLst/>
          </a:prstGeom>
          <a:noFill/>
        </p:spPr>
        <p:txBody>
          <a:bodyPr wrap="square" rtlCol="0">
            <a:noAutofit/>
          </a:bodyPr>
          <a:lstStyle/>
          <a:p>
            <a:endParaRPr lang="en-IN" altLang="en-US" sz="2500" b="1"/>
          </a:p>
        </p:txBody>
      </p:sp>
      <p:sp>
        <p:nvSpPr>
          <p:cNvPr id="5" name="Text Box 4"/>
          <p:cNvSpPr txBox="1"/>
          <p:nvPr>
            <p:custDataLst>
              <p:tags r:id="rId1"/>
            </p:custDataLst>
          </p:nvPr>
        </p:nvSpPr>
        <p:spPr>
          <a:xfrm>
            <a:off x="502285" y="5630670"/>
            <a:ext cx="5337058" cy="583565"/>
          </a:xfrm>
          <a:prstGeom prst="rect">
            <a:avLst/>
          </a:prstGeom>
          <a:noFill/>
        </p:spPr>
        <p:txBody>
          <a:bodyPr wrap="square" rtlCol="0">
            <a:spAutoFit/>
          </a:bodyPr>
          <a:lstStyle/>
          <a:p>
            <a:pPr algn="ctr"/>
            <a:r>
              <a:rPr lang="en-IN" altLang="en-US" sz="1600" b="1">
                <a:solidFill>
                  <a:schemeClr val="bg1"/>
                </a:solidFill>
                <a:latin typeface="Times New Roman" panose="02020603050405020304" charset="0"/>
                <a:cs typeface="Times New Roman" panose="02020603050405020304" charset="0"/>
              </a:rPr>
              <a:t>Figure </a:t>
            </a:r>
            <a:r>
              <a:rPr lang="en-US" altLang="en-IN" sz="1600" b="1">
                <a:solidFill>
                  <a:schemeClr val="bg1"/>
                </a:solidFill>
                <a:latin typeface="Times New Roman" panose="02020603050405020304" charset="0"/>
                <a:cs typeface="Times New Roman" panose="02020603050405020304" charset="0"/>
              </a:rPr>
              <a:t>3</a:t>
            </a:r>
            <a:r>
              <a:rPr lang="en-IN" altLang="en-US" sz="1600" b="1">
                <a:solidFill>
                  <a:schemeClr val="bg1"/>
                </a:solidFill>
                <a:latin typeface="Times New Roman" panose="02020603050405020304" charset="0"/>
                <a:cs typeface="Times New Roman" panose="02020603050405020304" charset="0"/>
              </a:rPr>
              <a:t>:</a:t>
            </a:r>
            <a:r>
              <a:rPr lang="en-IN" altLang="en-US" sz="1600">
                <a:solidFill>
                  <a:schemeClr val="bg1"/>
                </a:solidFill>
                <a:latin typeface="Times New Roman" panose="02020603050405020304" charset="0"/>
                <a:cs typeface="Times New Roman" panose="02020603050405020304" charset="0"/>
              </a:rPr>
              <a:t> </a:t>
            </a:r>
            <a:r>
              <a:rPr lang="en-US" altLang="en-US" sz="1600">
                <a:solidFill>
                  <a:schemeClr val="bg1"/>
                </a:solidFill>
                <a:latin typeface="Times New Roman" panose="02020603050405020304" charset="0"/>
                <a:cs typeface="Times New Roman" panose="02020603050405020304" charset="0"/>
              </a:rPr>
              <a:t>Confusion Matrix and Class-wise Precision-Recall Curve for Proposed EfficientNetB0 Ripeness Classification.</a:t>
            </a:r>
          </a:p>
        </p:txBody>
      </p:sp>
      <p:sp>
        <p:nvSpPr>
          <p:cNvPr id="6" name="Text Box 5"/>
          <p:cNvSpPr txBox="1"/>
          <p:nvPr>
            <p:custDataLst>
              <p:tags r:id="rId2"/>
            </p:custDataLst>
          </p:nvPr>
        </p:nvSpPr>
        <p:spPr>
          <a:xfrm>
            <a:off x="6323819" y="5630670"/>
            <a:ext cx="5424316" cy="583565"/>
          </a:xfrm>
          <a:prstGeom prst="rect">
            <a:avLst/>
          </a:prstGeom>
          <a:noFill/>
        </p:spPr>
        <p:txBody>
          <a:bodyPr wrap="square" rtlCol="0">
            <a:spAutoFit/>
          </a:bodyPr>
          <a:lstStyle/>
          <a:p>
            <a:pPr algn="ctr"/>
            <a:r>
              <a:rPr lang="en-IN" altLang="en-US" b="1">
                <a:solidFill>
                  <a:schemeClr val="bg1"/>
                </a:solidFill>
                <a:latin typeface="Times New Roman" panose="02020603050405020304" charset="0"/>
                <a:cs typeface="Times New Roman" panose="02020603050405020304" charset="0"/>
              </a:rPr>
              <a:t>F</a:t>
            </a:r>
            <a:r>
              <a:rPr lang="en-IN" altLang="en-US" sz="1600" b="1">
                <a:solidFill>
                  <a:schemeClr val="bg1"/>
                </a:solidFill>
                <a:latin typeface="Times New Roman" panose="02020603050405020304" charset="0"/>
                <a:cs typeface="Times New Roman" panose="02020603050405020304" charset="0"/>
              </a:rPr>
              <a:t>igure </a:t>
            </a:r>
            <a:r>
              <a:rPr lang="en-US" altLang="en-IN" sz="1600" b="1">
                <a:solidFill>
                  <a:schemeClr val="bg1"/>
                </a:solidFill>
                <a:latin typeface="Times New Roman" panose="02020603050405020304" charset="0"/>
                <a:cs typeface="Times New Roman" panose="02020603050405020304" charset="0"/>
              </a:rPr>
              <a:t>4</a:t>
            </a:r>
            <a:r>
              <a:rPr lang="en-IN" altLang="en-US" sz="1600" b="1">
                <a:solidFill>
                  <a:schemeClr val="bg1"/>
                </a:solidFill>
                <a:latin typeface="Times New Roman" panose="02020603050405020304" charset="0"/>
                <a:cs typeface="Times New Roman" panose="02020603050405020304" charset="0"/>
              </a:rPr>
              <a:t>:</a:t>
            </a:r>
            <a:r>
              <a:rPr lang="en-IN" altLang="en-US" sz="1600">
                <a:solidFill>
                  <a:schemeClr val="bg1"/>
                </a:solidFill>
                <a:latin typeface="Times New Roman" panose="02020603050405020304" charset="0"/>
                <a:cs typeface="Times New Roman" panose="02020603050405020304" charset="0"/>
              </a:rPr>
              <a:t> </a:t>
            </a:r>
            <a:r>
              <a:rPr lang="en-US" altLang="en-US" sz="1600">
                <a:solidFill>
                  <a:schemeClr val="bg1"/>
                </a:solidFill>
                <a:latin typeface="Times New Roman" panose="02020603050405020304" charset="0"/>
                <a:cs typeface="Times New Roman" panose="02020603050405020304" charset="0"/>
              </a:rPr>
              <a:t>Class distribution of the dataset which is classified based on no.of images for different class</a:t>
            </a:r>
            <a:r>
              <a:rPr lang="en-IN" altLang="en-US" sz="1600">
                <a:solidFill>
                  <a:schemeClr val="bg1"/>
                </a:solidFill>
                <a:latin typeface="Times New Roman" panose="02020603050405020304" charset="0"/>
                <a:cs typeface="Times New Roman" panose="02020603050405020304" charset="0"/>
              </a:rPr>
              <a:t>.</a:t>
            </a:r>
          </a:p>
        </p:txBody>
      </p:sp>
      <p:pic>
        <p:nvPicPr>
          <p:cNvPr id="8" name="Picture 7">
            <a:extLst>
              <a:ext uri="{FF2B5EF4-FFF2-40B4-BE49-F238E27FC236}">
                <a16:creationId xmlns:a16="http://schemas.microsoft.com/office/drawing/2014/main" id="{38FB3F90-2E1F-1844-95B2-F018ABEC3CAE}"/>
              </a:ext>
            </a:extLst>
          </p:cNvPr>
          <p:cNvPicPr>
            <a:picLocks noChangeAspect="1"/>
          </p:cNvPicPr>
          <p:nvPr/>
        </p:nvPicPr>
        <p:blipFill>
          <a:blip r:embed="rId6"/>
          <a:srcRect r="5426"/>
          <a:stretch>
            <a:fillRect/>
          </a:stretch>
        </p:blipFill>
        <p:spPr>
          <a:xfrm>
            <a:off x="600076" y="1219835"/>
            <a:ext cx="5083751" cy="4270375"/>
          </a:xfrm>
          <a:prstGeom prst="rect">
            <a:avLst/>
          </a:prstGeom>
        </p:spPr>
      </p:pic>
      <p:pic>
        <p:nvPicPr>
          <p:cNvPr id="10" name="Picture 9">
            <a:extLst>
              <a:ext uri="{FF2B5EF4-FFF2-40B4-BE49-F238E27FC236}">
                <a16:creationId xmlns:a16="http://schemas.microsoft.com/office/drawing/2014/main" id="{607A6C7F-5711-22BF-7FEA-0204E4116310}"/>
              </a:ext>
            </a:extLst>
          </p:cNvPr>
          <p:cNvPicPr>
            <a:picLocks noChangeAspect="1"/>
          </p:cNvPicPr>
          <p:nvPr/>
        </p:nvPicPr>
        <p:blipFill>
          <a:blip r:embed="rId7"/>
          <a:stretch>
            <a:fillRect/>
          </a:stretch>
        </p:blipFill>
        <p:spPr>
          <a:xfrm>
            <a:off x="6352659" y="1219835"/>
            <a:ext cx="5174888" cy="427037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229"/>
        <p:cNvGrpSpPr/>
        <p:nvPr/>
      </p:nvGrpSpPr>
      <p:grpSpPr>
        <a:xfrm>
          <a:off x="0" y="0"/>
          <a:ext cx="0" cy="0"/>
          <a:chOff x="0" y="0"/>
          <a:chExt cx="0" cy="0"/>
        </a:xfrm>
      </p:grpSpPr>
      <p:pic>
        <p:nvPicPr>
          <p:cNvPr id="230" name="Google Shape;230;p22" descr="image.png"/>
          <p:cNvPicPr preferRelativeResize="0"/>
          <p:nvPr/>
        </p:nvPicPr>
        <p:blipFill rotWithShape="1">
          <a:blip r:embed="rId4"/>
          <a:srcRect/>
          <a:stretch>
            <a:fillRect/>
          </a:stretch>
        </p:blipFill>
        <p:spPr>
          <a:xfrm>
            <a:off x="0" y="0"/>
            <a:ext cx="12192000" cy="6858000"/>
          </a:xfrm>
          <a:prstGeom prst="rect">
            <a:avLst/>
          </a:prstGeom>
          <a:noFill/>
          <a:ln>
            <a:noFill/>
          </a:ln>
        </p:spPr>
      </p:pic>
      <p:sp>
        <p:nvSpPr>
          <p:cNvPr id="240" name="Google Shape;240;p22"/>
          <p:cNvSpPr txBox="1"/>
          <p:nvPr/>
        </p:nvSpPr>
        <p:spPr>
          <a:xfrm>
            <a:off x="762000" y="571500"/>
            <a:ext cx="7710963" cy="4845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FFCC"/>
                </a:solidFill>
                <a:latin typeface="Montserrat" panose="00000500000000000000"/>
                <a:ea typeface="Montserrat" panose="00000500000000000000"/>
                <a:cs typeface="Montserrat" panose="00000500000000000000"/>
                <a:sym typeface="Montserrat" panose="00000500000000000000"/>
              </a:rPr>
              <a:t>RESULTS</a:t>
            </a:r>
          </a:p>
        </p:txBody>
      </p:sp>
      <p:sp>
        <p:nvSpPr>
          <p:cNvPr id="241" name="Google Shape;241;p22"/>
          <p:cNvSpPr/>
          <p:nvPr/>
        </p:nvSpPr>
        <p:spPr>
          <a:xfrm>
            <a:off x="571500" y="571500"/>
            <a:ext cx="57150" cy="4953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 name="Text Box 1"/>
          <p:cNvSpPr txBox="1"/>
          <p:nvPr/>
        </p:nvSpPr>
        <p:spPr>
          <a:xfrm>
            <a:off x="600075" y="542290"/>
            <a:ext cx="10825480" cy="5457825"/>
          </a:xfrm>
          <a:prstGeom prst="rect">
            <a:avLst/>
          </a:prstGeom>
          <a:noFill/>
        </p:spPr>
        <p:txBody>
          <a:bodyPr wrap="square" rtlCol="0">
            <a:noAutofit/>
          </a:bodyPr>
          <a:lstStyle/>
          <a:p>
            <a:endParaRPr lang="en-IN" altLang="en-US" sz="2500" b="1"/>
          </a:p>
        </p:txBody>
      </p:sp>
      <p:sp>
        <p:nvSpPr>
          <p:cNvPr id="5" name="Text Box 4"/>
          <p:cNvSpPr txBox="1"/>
          <p:nvPr>
            <p:custDataLst>
              <p:tags r:id="rId1"/>
            </p:custDataLst>
          </p:nvPr>
        </p:nvSpPr>
        <p:spPr>
          <a:xfrm>
            <a:off x="502285" y="5630545"/>
            <a:ext cx="10923905" cy="583565"/>
          </a:xfrm>
          <a:prstGeom prst="rect">
            <a:avLst/>
          </a:prstGeom>
          <a:noFill/>
        </p:spPr>
        <p:txBody>
          <a:bodyPr wrap="square" rtlCol="0">
            <a:spAutoFit/>
          </a:bodyPr>
          <a:lstStyle/>
          <a:p>
            <a:pPr algn="ctr"/>
            <a:r>
              <a:rPr lang="en-US" altLang="en-US" sz="1600">
                <a:solidFill>
                  <a:schemeClr val="bg1"/>
                </a:solidFill>
                <a:latin typeface="Times New Roman" panose="02020603050405020304" charset="0"/>
                <a:cs typeface="Times New Roman" panose="02020603050405020304" charset="0"/>
              </a:rPr>
              <a:t>Figure 5: Accuracy and loss curves of the EfficientNetB0: Train and Validation sets.</a:t>
            </a:r>
          </a:p>
          <a:p>
            <a:pPr algn="ctr"/>
            <a:endParaRPr lang="en-US" altLang="en-US" sz="1600">
              <a:solidFill>
                <a:schemeClr val="bg1"/>
              </a:solidFill>
              <a:latin typeface="Times New Roman" panose="02020603050405020304" charset="0"/>
              <a:cs typeface="Times New Roman" panose="02020603050405020304" charset="0"/>
            </a:endParaRPr>
          </a:p>
        </p:txBody>
      </p:sp>
      <p:pic>
        <p:nvPicPr>
          <p:cNvPr id="4" name="Picture 3">
            <a:extLst>
              <a:ext uri="{FF2B5EF4-FFF2-40B4-BE49-F238E27FC236}">
                <a16:creationId xmlns:a16="http://schemas.microsoft.com/office/drawing/2014/main" id="{E1B8223A-638C-3ECE-6E07-AE1B8C8BF879}"/>
              </a:ext>
            </a:extLst>
          </p:cNvPr>
          <p:cNvPicPr>
            <a:picLocks noChangeAspect="1"/>
          </p:cNvPicPr>
          <p:nvPr/>
        </p:nvPicPr>
        <p:blipFill>
          <a:blip r:embed="rId5"/>
          <a:stretch>
            <a:fillRect/>
          </a:stretch>
        </p:blipFill>
        <p:spPr>
          <a:xfrm>
            <a:off x="609589" y="1600196"/>
            <a:ext cx="10972822" cy="365760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229"/>
        <p:cNvGrpSpPr/>
        <p:nvPr/>
      </p:nvGrpSpPr>
      <p:grpSpPr>
        <a:xfrm>
          <a:off x="0" y="0"/>
          <a:ext cx="0" cy="0"/>
          <a:chOff x="0" y="0"/>
          <a:chExt cx="0" cy="0"/>
        </a:xfrm>
      </p:grpSpPr>
      <p:pic>
        <p:nvPicPr>
          <p:cNvPr id="230" name="Google Shape;230;p22" descr="image.png"/>
          <p:cNvPicPr preferRelativeResize="0"/>
          <p:nvPr/>
        </p:nvPicPr>
        <p:blipFill rotWithShape="1">
          <a:blip r:embed="rId4"/>
          <a:srcRect/>
          <a:stretch>
            <a:fillRect/>
          </a:stretch>
        </p:blipFill>
        <p:spPr>
          <a:xfrm>
            <a:off x="0" y="0"/>
            <a:ext cx="12192000" cy="6858000"/>
          </a:xfrm>
          <a:prstGeom prst="rect">
            <a:avLst/>
          </a:prstGeom>
          <a:noFill/>
          <a:ln>
            <a:noFill/>
          </a:ln>
        </p:spPr>
      </p:pic>
      <p:sp>
        <p:nvSpPr>
          <p:cNvPr id="240" name="Google Shape;240;p22"/>
          <p:cNvSpPr txBox="1"/>
          <p:nvPr/>
        </p:nvSpPr>
        <p:spPr>
          <a:xfrm>
            <a:off x="762000" y="571500"/>
            <a:ext cx="7710963" cy="4845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FFCC"/>
                </a:solidFill>
                <a:latin typeface="Montserrat" panose="00000500000000000000"/>
                <a:ea typeface="Montserrat" panose="00000500000000000000"/>
                <a:cs typeface="Montserrat" panose="00000500000000000000"/>
                <a:sym typeface="Montserrat" panose="00000500000000000000"/>
              </a:rPr>
              <a:t>RESULTS</a:t>
            </a:r>
          </a:p>
        </p:txBody>
      </p:sp>
      <p:sp>
        <p:nvSpPr>
          <p:cNvPr id="241" name="Google Shape;241;p22"/>
          <p:cNvSpPr/>
          <p:nvPr/>
        </p:nvSpPr>
        <p:spPr>
          <a:xfrm>
            <a:off x="571500" y="571500"/>
            <a:ext cx="57150" cy="4953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 name="Text Box 1"/>
          <p:cNvSpPr txBox="1"/>
          <p:nvPr/>
        </p:nvSpPr>
        <p:spPr>
          <a:xfrm>
            <a:off x="600075" y="542290"/>
            <a:ext cx="10825480" cy="5457825"/>
          </a:xfrm>
          <a:prstGeom prst="rect">
            <a:avLst/>
          </a:prstGeom>
          <a:noFill/>
        </p:spPr>
        <p:txBody>
          <a:bodyPr wrap="square" rtlCol="0">
            <a:noAutofit/>
          </a:bodyPr>
          <a:lstStyle/>
          <a:p>
            <a:endParaRPr lang="en-IN" altLang="en-US" sz="2500" b="1"/>
          </a:p>
        </p:txBody>
      </p:sp>
      <p:sp>
        <p:nvSpPr>
          <p:cNvPr id="5" name="Text Box 4"/>
          <p:cNvSpPr txBox="1"/>
          <p:nvPr>
            <p:custDataLst>
              <p:tags r:id="rId1"/>
            </p:custDataLst>
          </p:nvPr>
        </p:nvSpPr>
        <p:spPr>
          <a:xfrm>
            <a:off x="502285" y="5630545"/>
            <a:ext cx="10923905" cy="583565"/>
          </a:xfrm>
          <a:prstGeom prst="rect">
            <a:avLst/>
          </a:prstGeom>
          <a:noFill/>
        </p:spPr>
        <p:txBody>
          <a:bodyPr wrap="square" rtlCol="0">
            <a:spAutoFit/>
          </a:bodyPr>
          <a:lstStyle/>
          <a:p>
            <a:pPr algn="ctr"/>
            <a:r>
              <a:rPr lang="en-US" altLang="en-US" sz="1600">
                <a:solidFill>
                  <a:schemeClr val="bg1"/>
                </a:solidFill>
                <a:latin typeface="Times New Roman" panose="02020603050405020304" charset="0"/>
                <a:cs typeface="Times New Roman" panose="02020603050405020304" charset="0"/>
              </a:rPr>
              <a:t>Figure 6:  Sample Images while training the images.</a:t>
            </a:r>
          </a:p>
          <a:p>
            <a:endParaRPr lang="en-US" altLang="en-US" sz="1600">
              <a:solidFill>
                <a:schemeClr val="bg1"/>
              </a:solidFill>
              <a:latin typeface="Times New Roman" panose="02020603050405020304" charset="0"/>
              <a:cs typeface="Times New Roman" panose="02020603050405020304" charset="0"/>
            </a:endParaRPr>
          </a:p>
        </p:txBody>
      </p:sp>
      <p:pic>
        <p:nvPicPr>
          <p:cNvPr id="6" name="Picture 5">
            <a:extLst>
              <a:ext uri="{FF2B5EF4-FFF2-40B4-BE49-F238E27FC236}">
                <a16:creationId xmlns:a16="http://schemas.microsoft.com/office/drawing/2014/main" id="{E9A645A0-F9F7-E734-2090-EA4C0EC74851}"/>
              </a:ext>
            </a:extLst>
          </p:cNvPr>
          <p:cNvPicPr>
            <a:picLocks noChangeAspect="1"/>
          </p:cNvPicPr>
          <p:nvPr/>
        </p:nvPicPr>
        <p:blipFill>
          <a:blip r:embed="rId5"/>
          <a:stretch>
            <a:fillRect/>
          </a:stretch>
        </p:blipFill>
        <p:spPr>
          <a:xfrm>
            <a:off x="628650" y="1397000"/>
            <a:ext cx="10963275" cy="40640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229"/>
        <p:cNvGrpSpPr/>
        <p:nvPr/>
      </p:nvGrpSpPr>
      <p:grpSpPr>
        <a:xfrm>
          <a:off x="0" y="0"/>
          <a:ext cx="0" cy="0"/>
          <a:chOff x="0" y="0"/>
          <a:chExt cx="0" cy="0"/>
        </a:xfrm>
      </p:grpSpPr>
      <p:pic>
        <p:nvPicPr>
          <p:cNvPr id="230" name="Google Shape;230;p22" descr="image.png"/>
          <p:cNvPicPr preferRelativeResize="0"/>
          <p:nvPr/>
        </p:nvPicPr>
        <p:blipFill rotWithShape="1">
          <a:blip r:embed="rId5"/>
          <a:srcRect/>
          <a:stretch>
            <a:fillRect/>
          </a:stretch>
        </p:blipFill>
        <p:spPr>
          <a:xfrm>
            <a:off x="0" y="0"/>
            <a:ext cx="12192000" cy="6858000"/>
          </a:xfrm>
          <a:prstGeom prst="rect">
            <a:avLst/>
          </a:prstGeom>
          <a:noFill/>
          <a:ln>
            <a:noFill/>
          </a:ln>
        </p:spPr>
      </p:pic>
      <p:sp>
        <p:nvSpPr>
          <p:cNvPr id="240" name="Google Shape;240;p22"/>
          <p:cNvSpPr txBox="1"/>
          <p:nvPr/>
        </p:nvSpPr>
        <p:spPr>
          <a:xfrm>
            <a:off x="762000" y="571500"/>
            <a:ext cx="7710963" cy="4845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FFCC"/>
                </a:solidFill>
                <a:latin typeface="Montserrat" panose="00000500000000000000"/>
                <a:ea typeface="Montserrat" panose="00000500000000000000"/>
                <a:cs typeface="Montserrat" panose="00000500000000000000"/>
                <a:sym typeface="Montserrat" panose="00000500000000000000"/>
              </a:rPr>
              <a:t>RESULTS</a:t>
            </a:r>
          </a:p>
        </p:txBody>
      </p:sp>
      <p:sp>
        <p:nvSpPr>
          <p:cNvPr id="241" name="Google Shape;241;p22"/>
          <p:cNvSpPr/>
          <p:nvPr/>
        </p:nvSpPr>
        <p:spPr>
          <a:xfrm>
            <a:off x="571500" y="571500"/>
            <a:ext cx="57150" cy="4953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 name="Text Box 1"/>
          <p:cNvSpPr txBox="1"/>
          <p:nvPr/>
        </p:nvSpPr>
        <p:spPr>
          <a:xfrm>
            <a:off x="600075" y="542290"/>
            <a:ext cx="10825480" cy="5457825"/>
          </a:xfrm>
          <a:prstGeom prst="rect">
            <a:avLst/>
          </a:prstGeom>
          <a:noFill/>
        </p:spPr>
        <p:txBody>
          <a:bodyPr wrap="square" rtlCol="0">
            <a:noAutofit/>
          </a:bodyPr>
          <a:lstStyle/>
          <a:p>
            <a:endParaRPr lang="en-IN" altLang="en-US" sz="2500" b="1"/>
          </a:p>
        </p:txBody>
      </p:sp>
      <p:sp>
        <p:nvSpPr>
          <p:cNvPr id="5" name="Text Box 4"/>
          <p:cNvSpPr txBox="1"/>
          <p:nvPr>
            <p:custDataLst>
              <p:tags r:id="rId1"/>
            </p:custDataLst>
          </p:nvPr>
        </p:nvSpPr>
        <p:spPr>
          <a:xfrm>
            <a:off x="502285" y="5630670"/>
            <a:ext cx="5337058" cy="583565"/>
          </a:xfrm>
          <a:prstGeom prst="rect">
            <a:avLst/>
          </a:prstGeom>
          <a:noFill/>
        </p:spPr>
        <p:txBody>
          <a:bodyPr wrap="square" rtlCol="0">
            <a:spAutoFit/>
          </a:bodyPr>
          <a:lstStyle/>
          <a:p>
            <a:pPr algn="ctr"/>
            <a:r>
              <a:rPr lang="en-US" altLang="en-US" sz="1600">
                <a:solidFill>
                  <a:schemeClr val="bg1"/>
                </a:solidFill>
                <a:latin typeface="Times New Roman" panose="02020603050405020304" charset="0"/>
                <a:cs typeface="Times New Roman" panose="02020603050405020304" charset="0"/>
              </a:rPr>
              <a:t>Figure 7: The interface first look of Fruit Ripeness Detector.</a:t>
            </a:r>
          </a:p>
          <a:p>
            <a:pPr algn="ctr"/>
            <a:endParaRPr lang="en-US" altLang="en-US" sz="1600">
              <a:solidFill>
                <a:schemeClr val="bg1"/>
              </a:solidFill>
              <a:latin typeface="Times New Roman" panose="02020603050405020304" charset="0"/>
              <a:cs typeface="Times New Roman" panose="02020603050405020304" charset="0"/>
            </a:endParaRPr>
          </a:p>
        </p:txBody>
      </p:sp>
      <p:sp>
        <p:nvSpPr>
          <p:cNvPr id="6" name="Text Box 5"/>
          <p:cNvSpPr txBox="1"/>
          <p:nvPr>
            <p:custDataLst>
              <p:tags r:id="rId2"/>
            </p:custDataLst>
          </p:nvPr>
        </p:nvSpPr>
        <p:spPr>
          <a:xfrm>
            <a:off x="6323819" y="5630670"/>
            <a:ext cx="5424316" cy="829945"/>
          </a:xfrm>
          <a:prstGeom prst="rect">
            <a:avLst/>
          </a:prstGeom>
          <a:noFill/>
        </p:spPr>
        <p:txBody>
          <a:bodyPr wrap="square" rtlCol="0">
            <a:spAutoFit/>
          </a:bodyPr>
          <a:lstStyle/>
          <a:p>
            <a:pPr algn="ctr"/>
            <a:r>
              <a:rPr lang="en-US" altLang="en-US" sz="1600">
                <a:solidFill>
                  <a:schemeClr val="bg1"/>
                </a:solidFill>
                <a:latin typeface="Times New Roman" panose="02020603050405020304" charset="0"/>
                <a:cs typeface="Times New Roman" panose="02020603050405020304" charset="0"/>
              </a:rPr>
              <a:t>Figure 8:  After analyzing the fruit it shows the Ripeness class, Confidence, Storage tips.</a:t>
            </a:r>
          </a:p>
          <a:p>
            <a:pPr algn="ctr"/>
            <a:endParaRPr lang="en-US" altLang="en-US" sz="1600">
              <a:solidFill>
                <a:schemeClr val="bg1"/>
              </a:solidFill>
              <a:latin typeface="Times New Roman" panose="02020603050405020304" charset="0"/>
              <a:cs typeface="Times New Roman" panose="02020603050405020304" charset="0"/>
            </a:endParaRPr>
          </a:p>
        </p:txBody>
      </p:sp>
      <p:pic>
        <p:nvPicPr>
          <p:cNvPr id="3" name="Picture 19" descr="Screenshot 2026-01-19 183800"/>
          <p:cNvPicPr>
            <a:picLocks noChangeAspect="1"/>
          </p:cNvPicPr>
          <p:nvPr/>
        </p:nvPicPr>
        <p:blipFill>
          <a:blip r:embed="rId6"/>
          <a:stretch>
            <a:fillRect/>
          </a:stretch>
        </p:blipFill>
        <p:spPr>
          <a:xfrm>
            <a:off x="502920" y="1385570"/>
            <a:ext cx="5380990" cy="4094480"/>
          </a:xfrm>
          <a:prstGeom prst="rect">
            <a:avLst/>
          </a:prstGeom>
          <a:noFill/>
          <a:ln w="9525">
            <a:noFill/>
          </a:ln>
        </p:spPr>
      </p:pic>
      <p:pic>
        <p:nvPicPr>
          <p:cNvPr id="7" name="Picture 17" descr="Screenshot 2026-01-19 183949"/>
          <p:cNvPicPr>
            <a:picLocks noChangeAspect="1"/>
          </p:cNvPicPr>
          <p:nvPr/>
        </p:nvPicPr>
        <p:blipFill>
          <a:blip r:embed="rId7"/>
          <a:stretch>
            <a:fillRect/>
          </a:stretch>
        </p:blipFill>
        <p:spPr>
          <a:xfrm>
            <a:off x="6235700" y="1385570"/>
            <a:ext cx="5374640" cy="4094480"/>
          </a:xfrm>
          <a:prstGeom prst="rect">
            <a:avLst/>
          </a:prstGeom>
          <a:noFill/>
          <a:ln w="9525">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229"/>
        <p:cNvGrpSpPr/>
        <p:nvPr/>
      </p:nvGrpSpPr>
      <p:grpSpPr>
        <a:xfrm>
          <a:off x="0" y="0"/>
          <a:ext cx="0" cy="0"/>
          <a:chOff x="0" y="0"/>
          <a:chExt cx="0" cy="0"/>
        </a:xfrm>
      </p:grpSpPr>
      <p:pic>
        <p:nvPicPr>
          <p:cNvPr id="230" name="Google Shape;230;p22" descr="image.png"/>
          <p:cNvPicPr preferRelativeResize="0"/>
          <p:nvPr/>
        </p:nvPicPr>
        <p:blipFill rotWithShape="1">
          <a:blip r:embed="rId7"/>
          <a:srcRect/>
          <a:stretch>
            <a:fillRect/>
          </a:stretch>
        </p:blipFill>
        <p:spPr>
          <a:xfrm>
            <a:off x="0" y="0"/>
            <a:ext cx="12192000" cy="6858000"/>
          </a:xfrm>
          <a:prstGeom prst="rect">
            <a:avLst/>
          </a:prstGeom>
          <a:noFill/>
          <a:ln>
            <a:noFill/>
          </a:ln>
        </p:spPr>
      </p:pic>
      <p:sp>
        <p:nvSpPr>
          <p:cNvPr id="240" name="Google Shape;240;p22"/>
          <p:cNvSpPr txBox="1"/>
          <p:nvPr/>
        </p:nvSpPr>
        <p:spPr>
          <a:xfrm>
            <a:off x="762000" y="571500"/>
            <a:ext cx="7710963" cy="4845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FFCC"/>
                </a:solidFill>
                <a:latin typeface="Montserrat" panose="00000500000000000000"/>
                <a:ea typeface="Montserrat" panose="00000500000000000000"/>
                <a:cs typeface="Montserrat" panose="00000500000000000000"/>
                <a:sym typeface="Montserrat" panose="00000500000000000000"/>
              </a:rPr>
              <a:t>RESULTS</a:t>
            </a:r>
          </a:p>
        </p:txBody>
      </p:sp>
      <p:sp>
        <p:nvSpPr>
          <p:cNvPr id="241" name="Google Shape;241;p22"/>
          <p:cNvSpPr/>
          <p:nvPr/>
        </p:nvSpPr>
        <p:spPr>
          <a:xfrm>
            <a:off x="571500" y="571500"/>
            <a:ext cx="57150" cy="4953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 name="Text Box 1"/>
          <p:cNvSpPr txBox="1"/>
          <p:nvPr/>
        </p:nvSpPr>
        <p:spPr>
          <a:xfrm>
            <a:off x="600075" y="542290"/>
            <a:ext cx="10825480" cy="5457825"/>
          </a:xfrm>
          <a:prstGeom prst="rect">
            <a:avLst/>
          </a:prstGeom>
          <a:noFill/>
        </p:spPr>
        <p:txBody>
          <a:bodyPr wrap="square" rtlCol="0">
            <a:noAutofit/>
          </a:bodyPr>
          <a:lstStyle/>
          <a:p>
            <a:endParaRPr lang="en-IN" altLang="en-US" sz="2500" b="1"/>
          </a:p>
        </p:txBody>
      </p:sp>
      <p:sp>
        <p:nvSpPr>
          <p:cNvPr id="5" name="Text Box 4"/>
          <p:cNvSpPr txBox="1"/>
          <p:nvPr>
            <p:custDataLst>
              <p:tags r:id="rId1"/>
            </p:custDataLst>
          </p:nvPr>
        </p:nvSpPr>
        <p:spPr>
          <a:xfrm>
            <a:off x="502285" y="5630670"/>
            <a:ext cx="5337058" cy="583565"/>
          </a:xfrm>
          <a:prstGeom prst="rect">
            <a:avLst/>
          </a:prstGeom>
          <a:noFill/>
        </p:spPr>
        <p:txBody>
          <a:bodyPr wrap="square" rtlCol="0">
            <a:spAutoFit/>
          </a:bodyPr>
          <a:lstStyle/>
          <a:p>
            <a:pPr algn="ctr"/>
            <a:r>
              <a:rPr lang="en-US" altLang="en-US" sz="1600">
                <a:solidFill>
                  <a:schemeClr val="bg1"/>
                </a:solidFill>
                <a:latin typeface="Times New Roman" panose="02020603050405020304" charset="0"/>
                <a:cs typeface="Times New Roman" panose="02020603050405020304" charset="0"/>
              </a:rPr>
              <a:t>Figure 9: Class distribution for the fruit detection in a graph.</a:t>
            </a:r>
          </a:p>
          <a:p>
            <a:pPr algn="ctr"/>
            <a:endParaRPr lang="en-US" altLang="en-US" sz="1600">
              <a:solidFill>
                <a:schemeClr val="bg1"/>
              </a:solidFill>
              <a:latin typeface="Times New Roman" panose="02020603050405020304" charset="0"/>
              <a:cs typeface="Times New Roman" panose="02020603050405020304" charset="0"/>
            </a:endParaRPr>
          </a:p>
        </p:txBody>
      </p:sp>
      <p:sp>
        <p:nvSpPr>
          <p:cNvPr id="6" name="Text Box 5"/>
          <p:cNvSpPr txBox="1"/>
          <p:nvPr>
            <p:custDataLst>
              <p:tags r:id="rId2"/>
            </p:custDataLst>
          </p:nvPr>
        </p:nvSpPr>
        <p:spPr>
          <a:xfrm>
            <a:off x="6323819" y="5630670"/>
            <a:ext cx="5424316" cy="583565"/>
          </a:xfrm>
          <a:prstGeom prst="rect">
            <a:avLst/>
          </a:prstGeom>
          <a:noFill/>
        </p:spPr>
        <p:txBody>
          <a:bodyPr wrap="square" rtlCol="0">
            <a:spAutoFit/>
          </a:bodyPr>
          <a:lstStyle/>
          <a:p>
            <a:pPr algn="ctr"/>
            <a:r>
              <a:rPr lang="en-US" altLang="en-US" sz="1600">
                <a:solidFill>
                  <a:schemeClr val="bg1"/>
                </a:solidFill>
                <a:latin typeface="Times New Roman" panose="02020603050405020304" charset="0"/>
                <a:cs typeface="Times New Roman" panose="02020603050405020304" charset="0"/>
              </a:rPr>
              <a:t>Figure 10:  Performance metrics percentage of the fruit.</a:t>
            </a:r>
          </a:p>
          <a:p>
            <a:pPr algn="ctr"/>
            <a:endParaRPr lang="en-US" altLang="en-US" sz="1600">
              <a:solidFill>
                <a:schemeClr val="bg1"/>
              </a:solidFill>
              <a:latin typeface="Times New Roman" panose="02020603050405020304" charset="0"/>
              <a:cs typeface="Times New Roman" panose="02020603050405020304" charset="0"/>
            </a:endParaRPr>
          </a:p>
        </p:txBody>
      </p:sp>
      <p:pic>
        <p:nvPicPr>
          <p:cNvPr id="3" name="Picture 15" descr="Screenshot 2026-01-19 184022"/>
          <p:cNvPicPr>
            <a:picLocks noChangeAspect="1"/>
          </p:cNvPicPr>
          <p:nvPr>
            <p:custDataLst>
              <p:tags r:id="rId3"/>
            </p:custDataLst>
          </p:nvPr>
        </p:nvPicPr>
        <p:blipFill>
          <a:blip r:embed="rId8"/>
          <a:stretch>
            <a:fillRect/>
          </a:stretch>
        </p:blipFill>
        <p:spPr>
          <a:xfrm>
            <a:off x="409575" y="1384935"/>
            <a:ext cx="5424805" cy="4094480"/>
          </a:xfrm>
          <a:prstGeom prst="rect">
            <a:avLst/>
          </a:prstGeom>
          <a:noFill/>
          <a:ln w="9525">
            <a:noFill/>
          </a:ln>
        </p:spPr>
      </p:pic>
      <p:pic>
        <p:nvPicPr>
          <p:cNvPr id="4" name="Picture 20" descr="Screenshot 2026-01-19 184040"/>
          <p:cNvPicPr>
            <a:picLocks noChangeAspect="1"/>
          </p:cNvPicPr>
          <p:nvPr>
            <p:custDataLst>
              <p:tags r:id="rId4"/>
            </p:custDataLst>
          </p:nvPr>
        </p:nvPicPr>
        <p:blipFill>
          <a:blip r:embed="rId9"/>
          <a:srcRect l="1215" t="3613" r="966" b="6885"/>
          <a:stretch>
            <a:fillRect/>
          </a:stretch>
        </p:blipFill>
        <p:spPr>
          <a:xfrm>
            <a:off x="6096000" y="1384935"/>
            <a:ext cx="5652135" cy="4095115"/>
          </a:xfrm>
          <a:prstGeom prst="rect">
            <a:avLst/>
          </a:prstGeom>
          <a:noFill/>
          <a:ln w="9525">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229"/>
        <p:cNvGrpSpPr/>
        <p:nvPr/>
      </p:nvGrpSpPr>
      <p:grpSpPr>
        <a:xfrm>
          <a:off x="0" y="0"/>
          <a:ext cx="0" cy="0"/>
          <a:chOff x="0" y="0"/>
          <a:chExt cx="0" cy="0"/>
        </a:xfrm>
      </p:grpSpPr>
      <p:pic>
        <p:nvPicPr>
          <p:cNvPr id="230" name="Google Shape;230;p22" descr="image.png"/>
          <p:cNvPicPr preferRelativeResize="0"/>
          <p:nvPr/>
        </p:nvPicPr>
        <p:blipFill rotWithShape="1">
          <a:blip r:embed="rId4"/>
          <a:srcRect/>
          <a:stretch>
            <a:fillRect/>
          </a:stretch>
        </p:blipFill>
        <p:spPr>
          <a:xfrm>
            <a:off x="0" y="0"/>
            <a:ext cx="12192000" cy="6858000"/>
          </a:xfrm>
          <a:prstGeom prst="rect">
            <a:avLst/>
          </a:prstGeom>
          <a:noFill/>
          <a:ln>
            <a:noFill/>
          </a:ln>
        </p:spPr>
      </p:pic>
      <p:sp>
        <p:nvSpPr>
          <p:cNvPr id="240" name="Google Shape;240;p22"/>
          <p:cNvSpPr txBox="1"/>
          <p:nvPr/>
        </p:nvSpPr>
        <p:spPr>
          <a:xfrm>
            <a:off x="762000" y="571500"/>
            <a:ext cx="7710963" cy="4845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00FFCC"/>
                </a:solidFill>
                <a:latin typeface="Montserrat" panose="00000500000000000000"/>
                <a:ea typeface="Montserrat" panose="00000500000000000000"/>
                <a:cs typeface="Montserrat" panose="00000500000000000000"/>
                <a:sym typeface="Montserrat" panose="00000500000000000000"/>
              </a:rPr>
              <a:t>RESULTS</a:t>
            </a:r>
          </a:p>
        </p:txBody>
      </p:sp>
      <p:sp>
        <p:nvSpPr>
          <p:cNvPr id="241" name="Google Shape;241;p22"/>
          <p:cNvSpPr/>
          <p:nvPr/>
        </p:nvSpPr>
        <p:spPr>
          <a:xfrm>
            <a:off x="571500" y="571500"/>
            <a:ext cx="57150" cy="4953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 name="Text Box 1"/>
          <p:cNvSpPr txBox="1"/>
          <p:nvPr/>
        </p:nvSpPr>
        <p:spPr>
          <a:xfrm>
            <a:off x="600075" y="542290"/>
            <a:ext cx="10825480" cy="5457825"/>
          </a:xfrm>
          <a:prstGeom prst="rect">
            <a:avLst/>
          </a:prstGeom>
          <a:noFill/>
        </p:spPr>
        <p:txBody>
          <a:bodyPr wrap="square" rtlCol="0">
            <a:noAutofit/>
          </a:bodyPr>
          <a:lstStyle/>
          <a:p>
            <a:endParaRPr lang="en-IN" altLang="en-US" sz="2500" b="1"/>
          </a:p>
        </p:txBody>
      </p:sp>
      <p:sp>
        <p:nvSpPr>
          <p:cNvPr id="5" name="Text Box 4"/>
          <p:cNvSpPr txBox="1"/>
          <p:nvPr>
            <p:custDataLst>
              <p:tags r:id="rId1"/>
            </p:custDataLst>
          </p:nvPr>
        </p:nvSpPr>
        <p:spPr>
          <a:xfrm>
            <a:off x="571500" y="5630545"/>
            <a:ext cx="10923905" cy="583565"/>
          </a:xfrm>
          <a:prstGeom prst="rect">
            <a:avLst/>
          </a:prstGeom>
          <a:noFill/>
        </p:spPr>
        <p:txBody>
          <a:bodyPr wrap="square" rtlCol="0">
            <a:spAutoFit/>
          </a:bodyPr>
          <a:lstStyle/>
          <a:p>
            <a:pPr algn="ctr"/>
            <a:r>
              <a:rPr lang="en-US" altLang="en-US" sz="1600">
                <a:solidFill>
                  <a:schemeClr val="bg1"/>
                </a:solidFill>
                <a:latin typeface="Times New Roman" panose="02020603050405020304" charset="0"/>
                <a:cs typeface="Times New Roman" panose="02020603050405020304" charset="0"/>
              </a:rPr>
              <a:t>Figure 11: Multiple Languages can be used interact with user friendly.</a:t>
            </a:r>
          </a:p>
          <a:p>
            <a:endParaRPr lang="en-US" altLang="en-US" sz="1600">
              <a:solidFill>
                <a:schemeClr val="bg1"/>
              </a:solidFill>
              <a:latin typeface="Times New Roman" panose="02020603050405020304" charset="0"/>
              <a:cs typeface="Times New Roman" panose="02020603050405020304" charset="0"/>
            </a:endParaRPr>
          </a:p>
        </p:txBody>
      </p:sp>
      <p:pic>
        <p:nvPicPr>
          <p:cNvPr id="7" name="Picture 1" descr="Screenshot 2026-02-05 124230"/>
          <p:cNvPicPr>
            <a:picLocks noChangeAspect="1"/>
          </p:cNvPicPr>
          <p:nvPr/>
        </p:nvPicPr>
        <p:blipFill>
          <a:blip r:embed="rId5"/>
          <a:srcRect t="10825" r="7823"/>
          <a:stretch>
            <a:fillRect/>
          </a:stretch>
        </p:blipFill>
        <p:spPr>
          <a:xfrm>
            <a:off x="410845" y="1164590"/>
            <a:ext cx="11384915" cy="411353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245"/>
        <p:cNvGrpSpPr/>
        <p:nvPr/>
      </p:nvGrpSpPr>
      <p:grpSpPr>
        <a:xfrm>
          <a:off x="0" y="0"/>
          <a:ext cx="0" cy="0"/>
          <a:chOff x="0" y="0"/>
          <a:chExt cx="0" cy="0"/>
        </a:xfrm>
      </p:grpSpPr>
      <p:pic>
        <p:nvPicPr>
          <p:cNvPr id="246" name="Google Shape;246;p23" descr="image.png"/>
          <p:cNvPicPr preferRelativeResize="0"/>
          <p:nvPr/>
        </p:nvPicPr>
        <p:blipFill rotWithShape="1">
          <a:blip r:embed="rId3"/>
          <a:srcRect/>
          <a:stretch>
            <a:fillRect/>
          </a:stretch>
        </p:blipFill>
        <p:spPr>
          <a:xfrm>
            <a:off x="0" y="0"/>
            <a:ext cx="12192000" cy="6858000"/>
          </a:xfrm>
          <a:prstGeom prst="rect">
            <a:avLst/>
          </a:prstGeom>
          <a:noFill/>
          <a:ln>
            <a:noFill/>
          </a:ln>
        </p:spPr>
      </p:pic>
      <p:sp>
        <p:nvSpPr>
          <p:cNvPr id="247" name="Google Shape;247;p23"/>
          <p:cNvSpPr/>
          <p:nvPr/>
        </p:nvSpPr>
        <p:spPr>
          <a:xfrm>
            <a:off x="5619750" y="1971040"/>
            <a:ext cx="952500" cy="381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48" name="Google Shape;248;p23"/>
          <p:cNvSpPr txBox="1"/>
          <p:nvPr/>
        </p:nvSpPr>
        <p:spPr>
          <a:xfrm>
            <a:off x="3065621" y="2335530"/>
            <a:ext cx="6060757" cy="7429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800" b="1" i="0" u="none" strike="noStrike" cap="none">
                <a:solidFill>
                  <a:schemeClr val="bg1"/>
                </a:solidFill>
                <a:latin typeface="Montserrat" panose="00000500000000000000"/>
                <a:ea typeface="Montserrat" panose="00000500000000000000"/>
                <a:cs typeface="Montserrat" panose="00000500000000000000"/>
                <a:sym typeface="Montserrat" panose="00000500000000000000"/>
              </a:rPr>
              <a:t>Project Outcomes</a:t>
            </a:r>
          </a:p>
        </p:txBody>
      </p:sp>
      <p:sp>
        <p:nvSpPr>
          <p:cNvPr id="249" name="Google Shape;249;p23"/>
          <p:cNvSpPr txBox="1"/>
          <p:nvPr/>
        </p:nvSpPr>
        <p:spPr>
          <a:xfrm>
            <a:off x="838835" y="3404870"/>
            <a:ext cx="10464165" cy="173101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altLang="en-US" sz="2500" b="0" i="0" u="none" strike="noStrike" cap="none">
                <a:solidFill>
                  <a:schemeClr val="bg1"/>
                </a:solidFill>
                <a:latin typeface="Times New Roman" panose="02020603050405020304" charset="0"/>
                <a:ea typeface="Open Sans"/>
                <a:cs typeface="Times New Roman" panose="02020603050405020304" charset="0"/>
                <a:sym typeface="Open Sans"/>
              </a:rPr>
              <a:t>The technology demonstrates a non-destructive means of quality evaluation capable of decreasing agricultural losses by up to 15-20%. This autonomous approach offers more efficiency and objectivity than traditional manual inspection.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245"/>
        <p:cNvGrpSpPr/>
        <p:nvPr/>
      </p:nvGrpSpPr>
      <p:grpSpPr>
        <a:xfrm>
          <a:off x="0" y="0"/>
          <a:ext cx="0" cy="0"/>
          <a:chOff x="0" y="0"/>
          <a:chExt cx="0" cy="0"/>
        </a:xfrm>
      </p:grpSpPr>
      <p:pic>
        <p:nvPicPr>
          <p:cNvPr id="246" name="Google Shape;246;p23" descr="image.png"/>
          <p:cNvPicPr preferRelativeResize="0"/>
          <p:nvPr/>
        </p:nvPicPr>
        <p:blipFill rotWithShape="1">
          <a:blip r:embed="rId3"/>
          <a:srcRect/>
          <a:stretch>
            <a:fillRect/>
          </a:stretch>
        </p:blipFill>
        <p:spPr>
          <a:xfrm>
            <a:off x="0" y="0"/>
            <a:ext cx="12192000" cy="6858000"/>
          </a:xfrm>
          <a:prstGeom prst="rect">
            <a:avLst/>
          </a:prstGeom>
          <a:noFill/>
          <a:ln>
            <a:noFill/>
          </a:ln>
        </p:spPr>
      </p:pic>
      <p:sp>
        <p:nvSpPr>
          <p:cNvPr id="247" name="Google Shape;247;p23"/>
          <p:cNvSpPr/>
          <p:nvPr/>
        </p:nvSpPr>
        <p:spPr>
          <a:xfrm>
            <a:off x="5619750" y="730250"/>
            <a:ext cx="952500" cy="381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48" name="Google Shape;248;p23"/>
          <p:cNvSpPr txBox="1"/>
          <p:nvPr/>
        </p:nvSpPr>
        <p:spPr>
          <a:xfrm>
            <a:off x="3065780" y="1073150"/>
            <a:ext cx="6060440" cy="80391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altLang="en-US" sz="4800" b="1" i="0" u="none" strike="noStrike" cap="none">
                <a:solidFill>
                  <a:schemeClr val="bg1"/>
                </a:solidFill>
                <a:latin typeface="Montserrat" panose="00000500000000000000"/>
                <a:ea typeface="Montserrat" panose="00000500000000000000"/>
                <a:cs typeface="Montserrat" panose="00000500000000000000"/>
                <a:sym typeface="Montserrat" panose="00000500000000000000"/>
              </a:rPr>
              <a:t>Conclusion</a:t>
            </a:r>
          </a:p>
          <a:p>
            <a:pPr marL="0" marR="0" lvl="0" indent="0" algn="ctr" rtl="0">
              <a:spcBef>
                <a:spcPts val="0"/>
              </a:spcBef>
              <a:spcAft>
                <a:spcPts val="0"/>
              </a:spcAft>
              <a:buNone/>
            </a:pPr>
            <a:endParaRPr lang="en-US" altLang="en-US" sz="4800" b="1" i="0" u="none" strike="noStrike" cap="none">
              <a:solidFill>
                <a:schemeClr val="bg1"/>
              </a:solidFill>
              <a:latin typeface="Montserrat" panose="00000500000000000000"/>
              <a:ea typeface="Montserrat" panose="00000500000000000000"/>
              <a:cs typeface="Montserrat" panose="00000500000000000000"/>
              <a:sym typeface="Montserrat" panose="00000500000000000000"/>
            </a:endParaRPr>
          </a:p>
        </p:txBody>
      </p:sp>
      <p:sp>
        <p:nvSpPr>
          <p:cNvPr id="249" name="Google Shape;249;p23"/>
          <p:cNvSpPr txBox="1"/>
          <p:nvPr/>
        </p:nvSpPr>
        <p:spPr>
          <a:xfrm>
            <a:off x="818515" y="2181860"/>
            <a:ext cx="10534015" cy="4052570"/>
          </a:xfrm>
          <a:prstGeom prst="rect">
            <a:avLst/>
          </a:prstGeom>
          <a:noFill/>
          <a:ln>
            <a:noFill/>
          </a:ln>
        </p:spPr>
        <p:txBody>
          <a:bodyPr spcFirstLastPara="1" wrap="square" lIns="0" tIns="0" rIns="0" bIns="0" anchor="t" anchorCtr="0">
            <a:noAutofit/>
          </a:bodyPr>
          <a:lstStyle/>
          <a:p>
            <a:pPr marL="0" marR="0" lvl="0" indent="0" algn="just" rtl="0">
              <a:lnSpc>
                <a:spcPct val="150000"/>
              </a:lnSpc>
              <a:spcBef>
                <a:spcPts val="0"/>
              </a:spcBef>
              <a:spcAft>
                <a:spcPts val="0"/>
              </a:spcAft>
              <a:buNone/>
            </a:pPr>
            <a:r>
              <a:rPr lang="en-US" altLang="en-US" sz="2500" b="0" i="0" u="none" strike="noStrike" cap="none">
                <a:solidFill>
                  <a:schemeClr val="bg1"/>
                </a:solidFill>
                <a:latin typeface="Times New Roman" panose="02020603050405020304" charset="0"/>
                <a:ea typeface="Open Sans"/>
                <a:cs typeface="Times New Roman" panose="02020603050405020304" charset="0"/>
                <a:sym typeface="Open Sans"/>
              </a:rPr>
              <a:t>The AI-powered system accurately identifies fruit ripeness using deep learning and image analysis techniques. Ripeness classification combined with proper storage guidance helps reduce fruit wastage and maintain quality after harvest. Automated analysis improves consistency and reduces human error in decision-making. The system can be easily applied across farms, markets, and storage facilities. Overall, the approach supports efficient and practical use of AI in real-world agricultural applications.</a:t>
            </a:r>
          </a:p>
          <a:p>
            <a:pPr marL="0" marR="0" lvl="0" indent="0" algn="just" rtl="0">
              <a:lnSpc>
                <a:spcPct val="150000"/>
              </a:lnSpc>
              <a:spcBef>
                <a:spcPts val="0"/>
              </a:spcBef>
              <a:spcAft>
                <a:spcPts val="0"/>
              </a:spcAft>
              <a:buNone/>
            </a:pPr>
            <a:endParaRPr lang="en-US" altLang="en-US" sz="2500" b="0" i="0" u="none" strike="noStrike" cap="none">
              <a:solidFill>
                <a:schemeClr val="bg1"/>
              </a:solidFill>
              <a:latin typeface="Times New Roman" panose="02020603050405020304" charset="0"/>
              <a:ea typeface="Open Sans"/>
              <a:cs typeface="Times New Roman" panose="02020603050405020304" charset="0"/>
              <a:sym typeface="Open Sans"/>
            </a:endParaRPr>
          </a:p>
          <a:p>
            <a:pPr marL="0" marR="0" lvl="0" indent="0" algn="just" rtl="0">
              <a:lnSpc>
                <a:spcPct val="150000"/>
              </a:lnSpc>
              <a:spcBef>
                <a:spcPts val="0"/>
              </a:spcBef>
              <a:spcAft>
                <a:spcPts val="0"/>
              </a:spcAft>
              <a:buNone/>
            </a:pPr>
            <a:endParaRPr lang="en-US" altLang="en-US" sz="2500" b="0" i="0" u="none" strike="noStrike" cap="none">
              <a:solidFill>
                <a:schemeClr val="bg1"/>
              </a:solidFill>
              <a:latin typeface="Times New Roman" panose="02020603050405020304" charset="0"/>
              <a:ea typeface="Open Sans"/>
              <a:cs typeface="Times New Roman" panose="02020603050405020304" charset="0"/>
              <a:sym typeface="Open Sans"/>
            </a:endParaRPr>
          </a:p>
        </p:txBody>
      </p:sp>
      <p:pic>
        <p:nvPicPr>
          <p:cNvPr id="107" name="Google Shape;107;p15" descr="image.png"/>
          <p:cNvPicPr preferRelativeResize="0"/>
          <p:nvPr/>
        </p:nvPicPr>
        <p:blipFill rotWithShape="1">
          <a:blip r:embed="rId4"/>
          <a:srcRect/>
          <a:stretch>
            <a:fillRect/>
          </a:stretch>
        </p:blipFill>
        <p:spPr>
          <a:xfrm>
            <a:off x="3286760" y="1044575"/>
            <a:ext cx="1005205" cy="737870"/>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50505"/>
        </a:solidFill>
        <a:effectLst/>
      </p:bgPr>
    </p:bg>
    <p:spTree>
      <p:nvGrpSpPr>
        <p:cNvPr id="1" name="Shape 245"/>
        <p:cNvGrpSpPr/>
        <p:nvPr/>
      </p:nvGrpSpPr>
      <p:grpSpPr>
        <a:xfrm>
          <a:off x="0" y="0"/>
          <a:ext cx="0" cy="0"/>
          <a:chOff x="0" y="0"/>
          <a:chExt cx="0" cy="0"/>
        </a:xfrm>
      </p:grpSpPr>
      <p:pic>
        <p:nvPicPr>
          <p:cNvPr id="246" name="Google Shape;246;p23" descr="image.png"/>
          <p:cNvPicPr preferRelativeResize="0"/>
          <p:nvPr/>
        </p:nvPicPr>
        <p:blipFill rotWithShape="1">
          <a:blip r:embed="rId3"/>
          <a:srcRect/>
          <a:stretch>
            <a:fillRect/>
          </a:stretch>
        </p:blipFill>
        <p:spPr>
          <a:xfrm>
            <a:off x="0" y="0"/>
            <a:ext cx="12192000" cy="6858000"/>
          </a:xfrm>
          <a:prstGeom prst="rect">
            <a:avLst/>
          </a:prstGeom>
          <a:noFill/>
          <a:ln>
            <a:noFill/>
          </a:ln>
        </p:spPr>
      </p:pic>
      <p:sp>
        <p:nvSpPr>
          <p:cNvPr id="247" name="Google Shape;247;p23"/>
          <p:cNvSpPr/>
          <p:nvPr/>
        </p:nvSpPr>
        <p:spPr>
          <a:xfrm>
            <a:off x="5619750" y="730250"/>
            <a:ext cx="952500" cy="381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48" name="Google Shape;248;p23"/>
          <p:cNvSpPr txBox="1"/>
          <p:nvPr/>
        </p:nvSpPr>
        <p:spPr>
          <a:xfrm>
            <a:off x="3065780" y="1073150"/>
            <a:ext cx="6060440" cy="80391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altLang="en-US" sz="4800" b="1" i="0" u="none" strike="noStrike" cap="none">
                <a:solidFill>
                  <a:schemeClr val="bg1"/>
                </a:solidFill>
                <a:latin typeface="Montserrat" panose="00000500000000000000"/>
                <a:ea typeface="Montserrat" panose="00000500000000000000"/>
                <a:cs typeface="Montserrat" panose="00000500000000000000"/>
                <a:sym typeface="Montserrat" panose="00000500000000000000"/>
              </a:rPr>
              <a:t>References</a:t>
            </a:r>
          </a:p>
        </p:txBody>
      </p:sp>
      <p:sp>
        <p:nvSpPr>
          <p:cNvPr id="249" name="Google Shape;249;p23"/>
          <p:cNvSpPr txBox="1"/>
          <p:nvPr/>
        </p:nvSpPr>
        <p:spPr>
          <a:xfrm>
            <a:off x="818515" y="2181860"/>
            <a:ext cx="10534015" cy="4052570"/>
          </a:xfrm>
          <a:prstGeom prst="rect">
            <a:avLst/>
          </a:prstGeom>
          <a:noFill/>
          <a:ln>
            <a:noFill/>
          </a:ln>
        </p:spPr>
        <p:txBody>
          <a:bodyPr spcFirstLastPara="1" wrap="square" lIns="0" tIns="0" rIns="0" bIns="0" anchor="t" anchorCtr="0">
            <a:noAutofit/>
          </a:bodyPr>
          <a:lstStyle/>
          <a:p>
            <a:pPr marL="285750" marR="0" lvl="0" indent="-285750" algn="just" rtl="0">
              <a:lnSpc>
                <a:spcPct val="150000"/>
              </a:lnSpc>
              <a:spcBef>
                <a:spcPts val="0"/>
              </a:spcBef>
              <a:spcAft>
                <a:spcPts val="0"/>
              </a:spcAft>
              <a:buClr>
                <a:srgbClr val="FFFFFF"/>
              </a:buClr>
              <a:buFont typeface="Arial" panose="020B0604020202020204" pitchFamily="34" charset="0"/>
              <a:buChar char="•"/>
            </a:pPr>
            <a:r>
              <a:rPr lang="en-US" altLang="en-US" sz="1800" b="0" i="0" u="none" strike="noStrike" cap="none">
                <a:solidFill>
                  <a:schemeClr val="bg1"/>
                </a:solidFill>
                <a:latin typeface="Times New Roman" panose="02020603050405020304" charset="0"/>
                <a:ea typeface="Open Sans"/>
                <a:cs typeface="Times New Roman" panose="02020603050405020304" charset="0"/>
                <a:sym typeface="Open Sans"/>
              </a:rPr>
              <a:t>P. Kamat, S. Gite, H. Chandekar, L. Dlima, and B. Pradhan, “Multi-class fruit ripeness detection using YOLO and SSD object detection models,” Discover Applied Sciences, vol. 7, 2025.</a:t>
            </a:r>
          </a:p>
          <a:p>
            <a:pPr marL="285750" marR="0" lvl="0" indent="-285750" algn="just" rtl="0">
              <a:lnSpc>
                <a:spcPct val="150000"/>
              </a:lnSpc>
              <a:spcBef>
                <a:spcPts val="0"/>
              </a:spcBef>
              <a:spcAft>
                <a:spcPts val="0"/>
              </a:spcAft>
              <a:buClr>
                <a:srgbClr val="FFFFFF"/>
              </a:buClr>
              <a:buFont typeface="Arial" panose="020B0604020202020204" pitchFamily="34" charset="0"/>
              <a:buChar char="•"/>
            </a:pPr>
            <a:r>
              <a:rPr lang="en-US" altLang="en-US" sz="1800" b="0" i="0" u="none" strike="noStrike" cap="none">
                <a:solidFill>
                  <a:schemeClr val="bg1"/>
                </a:solidFill>
                <a:latin typeface="Times New Roman" panose="02020603050405020304" charset="0"/>
                <a:ea typeface="Open Sans"/>
                <a:cs typeface="Times New Roman" panose="02020603050405020304" charset="0"/>
                <a:sym typeface="Open Sans"/>
              </a:rPr>
              <a:t>A. Authors et al., “Deployment of an IoT and ML-driven platform for fruit ripeness evaluation and spoilage detection: A case study on bananas,” Journal of Food Quality, 2024. </a:t>
            </a:r>
          </a:p>
          <a:p>
            <a:pPr marL="285750" marR="0" lvl="0" indent="-285750" algn="just" rtl="0">
              <a:lnSpc>
                <a:spcPct val="150000"/>
              </a:lnSpc>
              <a:spcBef>
                <a:spcPts val="0"/>
              </a:spcBef>
              <a:spcAft>
                <a:spcPts val="0"/>
              </a:spcAft>
              <a:buClr>
                <a:srgbClr val="FFFFFF"/>
              </a:buClr>
              <a:buFont typeface="Arial" panose="020B0604020202020204" pitchFamily="34" charset="0"/>
              <a:buChar char="•"/>
            </a:pPr>
            <a:r>
              <a:rPr lang="en-US" altLang="en-US" sz="1800" b="0" i="0" u="none" strike="noStrike" cap="none">
                <a:solidFill>
                  <a:schemeClr val="bg1"/>
                </a:solidFill>
                <a:latin typeface="Times New Roman" panose="02020603050405020304" charset="0"/>
                <a:ea typeface="Open Sans"/>
                <a:cs typeface="Times New Roman" panose="02020603050405020304" charset="0"/>
                <a:sym typeface="Open Sans"/>
              </a:rPr>
              <a:t>H. Yu et al., “Ripe-detection: AI-lightweight method for strawberry ripeness detection,” Agronomy, vol. 15, no. 7, p. 1645, 2025.</a:t>
            </a:r>
          </a:p>
          <a:p>
            <a:pPr marL="285750" marR="0" lvl="0" indent="-285750" algn="just" rtl="0">
              <a:lnSpc>
                <a:spcPct val="150000"/>
              </a:lnSpc>
              <a:spcBef>
                <a:spcPts val="0"/>
              </a:spcBef>
              <a:spcAft>
                <a:spcPts val="0"/>
              </a:spcAft>
              <a:buClr>
                <a:srgbClr val="FFFFFF"/>
              </a:buClr>
              <a:buFont typeface="Arial" panose="020B0604020202020204" pitchFamily="34" charset="0"/>
              <a:buChar char="•"/>
            </a:pPr>
            <a:r>
              <a:rPr lang="en-US" altLang="en-US" sz="1800" b="0" i="0" u="none" strike="noStrike" cap="none">
                <a:solidFill>
                  <a:schemeClr val="bg1"/>
                </a:solidFill>
                <a:latin typeface="Times New Roman" panose="02020603050405020304" charset="0"/>
                <a:ea typeface="Open Sans"/>
                <a:cs typeface="Times New Roman" panose="02020603050405020304" charset="0"/>
                <a:sym typeface="Open Sans"/>
              </a:rPr>
              <a:t>A. Authors et al., “Deployment of CES-YOLO: An optimized YOLO-based model for blueberry ripeness detection on edge devices,” Scientific Reports, vol. 15, 2025.</a:t>
            </a:r>
          </a:p>
          <a:p>
            <a:pPr marL="285750" marR="0" lvl="0" indent="-285750" algn="just" rtl="0">
              <a:lnSpc>
                <a:spcPct val="150000"/>
              </a:lnSpc>
              <a:spcBef>
                <a:spcPts val="0"/>
              </a:spcBef>
              <a:spcAft>
                <a:spcPts val="0"/>
              </a:spcAft>
              <a:buClr>
                <a:srgbClr val="FFFFFF"/>
              </a:buClr>
              <a:buFont typeface="Arial" panose="020B0604020202020204" pitchFamily="34" charset="0"/>
              <a:buChar char="•"/>
            </a:pPr>
            <a:r>
              <a:rPr lang="en-US" altLang="en-US" sz="1800" b="0" i="0" u="none" strike="noStrike" cap="none">
                <a:solidFill>
                  <a:schemeClr val="bg1"/>
                </a:solidFill>
                <a:latin typeface="Times New Roman" panose="02020603050405020304" charset="0"/>
                <a:ea typeface="Open Sans"/>
                <a:cs typeface="Times New Roman" panose="02020603050405020304" charset="0"/>
                <a:sym typeface="Open Sans"/>
              </a:rPr>
              <a:t>A. Authors et al., “Hybrid attention transformer integrated YOLOv8 for fruit ripeness detection,” ScienceDirect, 2025.</a:t>
            </a:r>
          </a:p>
          <a:p>
            <a:pPr marL="285750" marR="0" lvl="0" indent="-285750" algn="just" rtl="0">
              <a:lnSpc>
                <a:spcPct val="150000"/>
              </a:lnSpc>
              <a:spcBef>
                <a:spcPts val="0"/>
              </a:spcBef>
              <a:spcAft>
                <a:spcPts val="0"/>
              </a:spcAft>
              <a:buClr>
                <a:srgbClr val="FFFFFF"/>
              </a:buClr>
              <a:buFont typeface="Arial" panose="020B0604020202020204" pitchFamily="34" charset="0"/>
              <a:buChar char="•"/>
            </a:pPr>
            <a:endParaRPr lang="en-US" altLang="en-US" sz="1800" b="0" i="0" u="none" strike="noStrike" cap="none">
              <a:solidFill>
                <a:schemeClr val="bg1"/>
              </a:solidFill>
              <a:latin typeface="Times New Roman" panose="02020603050405020304" charset="0"/>
              <a:ea typeface="Open Sans"/>
              <a:cs typeface="Times New Roman" panose="02020603050405020304" charset="0"/>
              <a:sym typeface="Open San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pic>
        <p:nvPicPr>
          <p:cNvPr id="254" name="Google Shape;254;p24" descr="image.png"/>
          <p:cNvPicPr preferRelativeResize="0"/>
          <p:nvPr/>
        </p:nvPicPr>
        <p:blipFill rotWithShape="1">
          <a:blip r:embed="rId3"/>
          <a:srcRect/>
          <a:stretch>
            <a:fillRect/>
          </a:stretch>
        </p:blipFill>
        <p:spPr>
          <a:xfrm>
            <a:off x="0" y="0"/>
            <a:ext cx="12192000" cy="6858000"/>
          </a:xfrm>
          <a:prstGeom prst="rect">
            <a:avLst/>
          </a:prstGeom>
          <a:noFill/>
          <a:ln>
            <a:noFill/>
          </a:ln>
        </p:spPr>
      </p:pic>
      <p:sp>
        <p:nvSpPr>
          <p:cNvPr id="256" name="Google Shape;256;p24"/>
          <p:cNvSpPr txBox="1"/>
          <p:nvPr/>
        </p:nvSpPr>
        <p:spPr>
          <a:xfrm>
            <a:off x="4250769" y="2138362"/>
            <a:ext cx="3690461" cy="9239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00FFCC"/>
                </a:solidFill>
                <a:latin typeface="Montserrat" panose="00000500000000000000"/>
                <a:ea typeface="Montserrat" panose="00000500000000000000"/>
                <a:cs typeface="Montserrat" panose="00000500000000000000"/>
                <a:sym typeface="Montserrat" panose="00000500000000000000"/>
              </a:rPr>
              <a:t>Queries?</a:t>
            </a:r>
          </a:p>
        </p:txBody>
      </p:sp>
      <p:sp>
        <p:nvSpPr>
          <p:cNvPr id="257" name="Google Shape;257;p24"/>
          <p:cNvSpPr txBox="1"/>
          <p:nvPr/>
        </p:nvSpPr>
        <p:spPr>
          <a:xfrm>
            <a:off x="4250690" y="3290570"/>
            <a:ext cx="3961130" cy="57658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500" b="0" i="0" u="none" strike="noStrike" cap="none">
                <a:solidFill>
                  <a:schemeClr val="bg1"/>
                </a:solidFill>
                <a:latin typeface="Times New Roman" panose="02020603050405020304" charset="0"/>
                <a:ea typeface="Open Sans"/>
                <a:cs typeface="Times New Roman" panose="02020603050405020304" charset="0"/>
                <a:sym typeface="Open Sans"/>
              </a:rPr>
              <a:t>Thank you for your attention.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06.054333970682,&quot;left&quot;:41.3,&quot;top&quot;:181.79566602931803,&quot;width&quot;:419.95}"/>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870*308"/>
  <p:tag name="TABLE_ENDDRAG_RECT" val="44*132*870*308"/>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68.95,&quot;left&quot;:45,&quot;top&quot;:167.62496062992125,&quot;width&quot;:869.988188976378}"/>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68.95,&quot;left&quot;:45,&quot;top&quot;:167.62496062992125,&quot;width&quot;:869.988188976378}"/>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68.95,&quot;left&quot;:45,&quot;top&quot;:167.62496062992125,&quot;width&quot;:869.988188976378}"/>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68.95,&quot;left&quot;:45,&quot;top&quot;:167.62496062992125,&quot;width&quot;:869.988188976378}"/>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68.95,&quot;left&quot;:45,&quot;top&quot;:167.62496062992125,&quot;width&quot;:869.988188976378}"/>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68.95,&quot;left&quot;:45,&quot;top&quot;:167.62496062992125,&quot;width&quot;:869.988188976378}"/>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68.95,&quot;left&quot;:45,&quot;top&quot;:167.62496062992125,&quot;width&quot;:869.988188976378}"/>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68.95,&quot;left&quot;:45,&quot;top&quot;:167.62496062992125,&quot;width&quot;:869.988188976378}"/>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68.95,&quot;left&quot;:45,&quot;top&quot;:167.62496062992125,&quot;width&quot;:869.988188976378}"/>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418.3,&quot;left&quot;:39.55,&quot;top&quot;:74.75,&quot;width&quot;:885.5000000000002}"/>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418.3,&quot;left&quot;:39.55,&quot;top&quot;:74.75,&quot;width&quot;:885.5000000000002}"/>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418.3,&quot;left&quot;:39.55,&quot;top&quot;:74.75,&quot;width&quot;:885.5000000000002}"/>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418.3,&quot;left&quot;:39.55,&quot;top&quot;:74.75,&quot;width&quot;:885.5000000000002}"/>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418.3,&quot;left&quot;:39.55,&quot;top&quot;:74.75,&quot;width&quot;:885.5000000000002}"/>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418.3,&quot;left&quot;:39.55,&quot;top&quot;:74.75,&quot;width&quot;:885.5000000000002}"/>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84,&quot;left&quot;:32.25,&quot;top&quot;:109.05,&quot;width&quot;:892.8}"/>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84,&quot;left&quot;:32.25,&quot;top&quot;:109.05,&quot;width&quot;:892.8}"/>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84,&quot;left&quot;:32.25,&quot;top&quot;:109.05,&quot;width&quot;:892.8}"/>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84,&quot;left&quot;:32.25,&quot;top&quot;:109.05,&quot;width&quot;:892.8}"/>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418.3,&quot;left&quot;:39.55,&quot;top&quot;:74.75,&quot;width&quot;:885.5000000000002}"/>
</p:tagLst>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TotalTime>
  <Words>1238</Words>
  <Application>Microsoft Office PowerPoint</Application>
  <PresentationFormat>Widescreen</PresentationFormat>
  <Paragraphs>201</Paragraphs>
  <Slides>26</Slides>
  <Notes>26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Open Sans</vt:lpstr>
      <vt:lpstr>Times New Roman</vt:lpstr>
      <vt:lpstr>Arial</vt:lpstr>
      <vt:lpstr>Calibri</vt:lpstr>
      <vt:lpstr>Montserrat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Suchitra Kamala Kodali</dc:creator>
  <cp:lastModifiedBy>Suchitra Kamala Kodali</cp:lastModifiedBy>
  <cp:revision>9</cp:revision>
  <dcterms:created xsi:type="dcterms:W3CDTF">2026-02-12T07:45:00Z</dcterms:created>
  <dcterms:modified xsi:type="dcterms:W3CDTF">2026-03-18T00:58:32Z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AC7FD3B5D7C84CFDBF4064447CB56F47_13</vt:lpwstr>
  </property>
  <property fmtid="{D5CDD505-2E9C-101B-9397-08002B2CF9AE}" pid="3" name="KSOProductBuildVer">
    <vt:lpwstr>1033-12.2.0.23155</vt:lpwstr>
  </property>
</Properties>
</file>